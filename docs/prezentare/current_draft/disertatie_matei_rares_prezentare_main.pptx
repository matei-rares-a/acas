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23"/>
  </p:notesMasterIdLst>
  <p:handoutMasterIdLst>
    <p:handoutMasterId r:id="rId24"/>
  </p:handoutMasterIdLst>
  <p:sldIdLst>
    <p:sldId id="496" r:id="rId5"/>
    <p:sldId id="497" r:id="rId6"/>
    <p:sldId id="511" r:id="rId7"/>
    <p:sldId id="512" r:id="rId8"/>
    <p:sldId id="510" r:id="rId9"/>
    <p:sldId id="523" r:id="rId10"/>
    <p:sldId id="516" r:id="rId11"/>
    <p:sldId id="525" r:id="rId12"/>
    <p:sldId id="524" r:id="rId13"/>
    <p:sldId id="526" r:id="rId14"/>
    <p:sldId id="501" r:id="rId15"/>
    <p:sldId id="507" r:id="rId16"/>
    <p:sldId id="514" r:id="rId17"/>
    <p:sldId id="508" r:id="rId18"/>
    <p:sldId id="519" r:id="rId19"/>
    <p:sldId id="505" r:id="rId20"/>
    <p:sldId id="518" r:id="rId21"/>
    <p:sldId id="50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791" autoAdjust="0"/>
  </p:normalViewPr>
  <p:slideViewPr>
    <p:cSldViewPr snapToGrid="0" showGuides="1">
      <p:cViewPr varScale="1">
        <p:scale>
          <a:sx n="159" d="100"/>
          <a:sy n="159" d="100"/>
        </p:scale>
        <p:origin x="552" y="138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BB8D6-27BC-4CD0-978C-8090523D0705}" type="doc">
      <dgm:prSet loTypeId="urn:microsoft.com/office/officeart/2008/layout/LinedLis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DCB301B6-A1CC-4E04-931E-2CAECBDF93BF}">
      <dgm:prSet custT="1"/>
      <dgm:spPr/>
      <dgm:t>
        <a:bodyPr/>
        <a:lstStyle/>
        <a:p>
          <a:r>
            <a:rPr lang="en-US" sz="3400" b="0" dirty="0" err="1">
              <a:latin typeface="Segoe UI" panose="020B0502040204020203" pitchFamily="34" charset="0"/>
              <a:cs typeface="Segoe UI" panose="020B0502040204020203" pitchFamily="34" charset="0"/>
            </a:rPr>
            <a:t>Introducere</a:t>
          </a:r>
          <a:endParaRPr lang="en-US" sz="34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179F3CE-E489-4C1C-86D0-B0218C2C182C}" type="parTrans" cxnId="{F048A637-4897-4920-9F41-D58B6B60C7CF}">
      <dgm:prSet/>
      <dgm:spPr/>
      <dgm:t>
        <a:bodyPr/>
        <a:lstStyle/>
        <a:p>
          <a:endParaRPr lang="en-US"/>
        </a:p>
      </dgm:t>
    </dgm:pt>
    <dgm:pt modelId="{22379FF5-8661-4E61-B250-DF4A76537C51}" type="sibTrans" cxnId="{F048A637-4897-4920-9F41-D58B6B60C7CF}">
      <dgm:prSet/>
      <dgm:spPr/>
      <dgm:t>
        <a:bodyPr/>
        <a:lstStyle/>
        <a:p>
          <a:endParaRPr lang="en-US"/>
        </a:p>
      </dgm:t>
    </dgm:pt>
    <dgm:pt modelId="{FFB776E6-23F7-4E85-9B3F-BAD987A2B497}">
      <dgm:prSet custT="1"/>
      <dgm:spPr/>
      <dgm:t>
        <a:bodyPr/>
        <a:lstStyle/>
        <a:p>
          <a:r>
            <a:rPr lang="ro-RO" sz="3400" b="0" dirty="0">
              <a:latin typeface="Segoe UI" panose="020B0502040204020203" pitchFamily="34" charset="0"/>
              <a:cs typeface="Segoe UI" panose="020B0502040204020203" pitchFamily="34" charset="0"/>
            </a:rPr>
            <a:t>Tehnologii</a:t>
          </a:r>
          <a:endParaRPr lang="en-US" sz="34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082F0D9-2BB2-46E7-A418-458C1C3EAAEB}" type="parTrans" cxnId="{2039271B-4B8A-4875-8465-A633823A4E6E}">
      <dgm:prSet/>
      <dgm:spPr/>
      <dgm:t>
        <a:bodyPr/>
        <a:lstStyle/>
        <a:p>
          <a:endParaRPr lang="en-US"/>
        </a:p>
      </dgm:t>
    </dgm:pt>
    <dgm:pt modelId="{409834EE-169C-4C59-B1A9-A63DFF462395}" type="sibTrans" cxnId="{2039271B-4B8A-4875-8465-A633823A4E6E}">
      <dgm:prSet/>
      <dgm:spPr/>
      <dgm:t>
        <a:bodyPr/>
        <a:lstStyle/>
        <a:p>
          <a:endParaRPr lang="en-US"/>
        </a:p>
      </dgm:t>
    </dgm:pt>
    <dgm:pt modelId="{E899FDE9-8023-4C52-8C9F-5F0317A1A3C0}">
      <dgm:prSet custT="1"/>
      <dgm:spPr/>
      <dgm:t>
        <a:bodyPr/>
        <a:lstStyle/>
        <a:p>
          <a:r>
            <a:rPr lang="en-US" sz="3400" b="0" dirty="0">
              <a:latin typeface="Segoe UI" panose="020B0502040204020203" pitchFamily="34" charset="0"/>
              <a:cs typeface="Segoe UI" panose="020B0502040204020203" pitchFamily="34" charset="0"/>
            </a:rPr>
            <a:t>A</a:t>
          </a:r>
          <a:r>
            <a:rPr lang="ro-RO" sz="3400" b="0" dirty="0">
              <a:latin typeface="Segoe UI" panose="020B0502040204020203" pitchFamily="34" charset="0"/>
              <a:cs typeface="Segoe UI" panose="020B0502040204020203" pitchFamily="34" charset="0"/>
            </a:rPr>
            <a:t>r</a:t>
          </a:r>
          <a:r>
            <a:rPr lang="en-US" sz="3400" b="0" dirty="0" err="1">
              <a:latin typeface="Segoe UI" panose="020B0502040204020203" pitchFamily="34" charset="0"/>
              <a:cs typeface="Segoe UI" panose="020B0502040204020203" pitchFamily="34" charset="0"/>
            </a:rPr>
            <a:t>hitectur</a:t>
          </a:r>
          <a:r>
            <a:rPr lang="ro-RO" sz="3400" b="0" dirty="0">
              <a:latin typeface="Segoe UI" panose="020B0502040204020203" pitchFamily="34" charset="0"/>
              <a:cs typeface="Segoe UI" panose="020B0502040204020203" pitchFamily="34" charset="0"/>
            </a:rPr>
            <a:t>ă</a:t>
          </a:r>
          <a:endParaRPr lang="en-US" sz="34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946872C-DE66-47EF-98B7-31F770ABDAD5}" type="parTrans" cxnId="{2D720D27-4DEA-437C-8EB5-49FB3E25A81C}">
      <dgm:prSet/>
      <dgm:spPr/>
      <dgm:t>
        <a:bodyPr/>
        <a:lstStyle/>
        <a:p>
          <a:endParaRPr lang="en-US"/>
        </a:p>
      </dgm:t>
    </dgm:pt>
    <dgm:pt modelId="{0C2B48A1-EFF8-4EF2-B762-5D6368039629}" type="sibTrans" cxnId="{2D720D27-4DEA-437C-8EB5-49FB3E25A81C}">
      <dgm:prSet/>
      <dgm:spPr/>
      <dgm:t>
        <a:bodyPr/>
        <a:lstStyle/>
        <a:p>
          <a:endParaRPr lang="en-US"/>
        </a:p>
      </dgm:t>
    </dgm:pt>
    <dgm:pt modelId="{3047A93B-1B86-4D68-8011-B3DC50BD44D3}">
      <dgm:prSet custT="1"/>
      <dgm:spPr/>
      <dgm:t>
        <a:bodyPr/>
        <a:lstStyle/>
        <a:p>
          <a:pPr rtl="0"/>
          <a:r>
            <a:rPr lang="en-US" sz="34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Inregistrarea</a:t>
          </a:r>
          <a:r>
            <a:rPr lang="en-US" sz="34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&amp; </a:t>
          </a:r>
          <a:r>
            <a:rPr lang="en-US" sz="34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Autentificare</a:t>
          </a:r>
          <a:r>
            <a:rPr lang="en-US" sz="34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	</a:t>
          </a:r>
        </a:p>
      </dgm:t>
    </dgm:pt>
    <dgm:pt modelId="{D2512F0C-91D8-40BF-A285-05C398EF3CF3}" type="parTrans" cxnId="{B494A953-EE28-41C8-A01F-0735B6622ED1}">
      <dgm:prSet/>
      <dgm:spPr/>
      <dgm:t>
        <a:bodyPr/>
        <a:lstStyle/>
        <a:p>
          <a:endParaRPr lang="en-US"/>
        </a:p>
      </dgm:t>
    </dgm:pt>
    <dgm:pt modelId="{BE6B2831-1CF5-4741-A01D-92BF807DB945}" type="sibTrans" cxnId="{B494A953-EE28-41C8-A01F-0735B6622ED1}">
      <dgm:prSet/>
      <dgm:spPr/>
      <dgm:t>
        <a:bodyPr/>
        <a:lstStyle/>
        <a:p>
          <a:endParaRPr lang="en-US"/>
        </a:p>
      </dgm:t>
    </dgm:pt>
    <dgm:pt modelId="{4D04C002-FD7C-42C7-A1C4-449E53FA6304}">
      <dgm:prSet phldr="0" custT="1"/>
      <dgm:spPr/>
      <dgm:t>
        <a:bodyPr/>
        <a:lstStyle/>
        <a:p>
          <a:r>
            <a:rPr lang="en-US" sz="3400" b="0" dirty="0" err="1">
              <a:latin typeface="Segoe UI" panose="020B0502040204020203" pitchFamily="34" charset="0"/>
              <a:cs typeface="Segoe UI" panose="020B0502040204020203" pitchFamily="34" charset="0"/>
            </a:rPr>
            <a:t>Concluzii</a:t>
          </a:r>
          <a:endParaRPr lang="en-US" sz="34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1B1D53F-D5AC-4EB2-87E1-E8FF0C8FD195}" type="parTrans" cxnId="{12E21CA6-BBBB-4A82-A078-176289E2B8B7}">
      <dgm:prSet/>
      <dgm:spPr/>
      <dgm:t>
        <a:bodyPr/>
        <a:lstStyle/>
        <a:p>
          <a:endParaRPr lang="ro-RO"/>
        </a:p>
      </dgm:t>
    </dgm:pt>
    <dgm:pt modelId="{C5B67004-81C7-4159-9B67-4A339C5DFFCF}" type="sibTrans" cxnId="{12E21CA6-BBBB-4A82-A078-176289E2B8B7}">
      <dgm:prSet/>
      <dgm:spPr/>
      <dgm:t>
        <a:bodyPr/>
        <a:lstStyle/>
        <a:p>
          <a:endParaRPr lang="ro-RO"/>
        </a:p>
      </dgm:t>
    </dgm:pt>
    <dgm:pt modelId="{57164BAC-3121-4D82-AC4D-99AF2CE6FCF8}">
      <dgm:prSet phldr="0" custT="1"/>
      <dgm:spPr/>
      <dgm:t>
        <a:bodyPr/>
        <a:lstStyle/>
        <a:p>
          <a:r>
            <a:rPr lang="ro-RO" sz="3400" b="0" dirty="0">
              <a:latin typeface="Segoe UI" panose="020B0502040204020203" pitchFamily="34" charset="0"/>
              <a:cs typeface="Segoe UI" panose="020B0502040204020203" pitchFamily="34" charset="0"/>
            </a:rPr>
            <a:t>Bibliografie</a:t>
          </a:r>
          <a:endParaRPr lang="en-US" sz="34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0A8B2BC-AB16-4249-BFAC-50651AA9048A}" type="parTrans" cxnId="{935024E5-72D8-4381-AED6-F19D318DD4A3}">
      <dgm:prSet/>
      <dgm:spPr/>
      <dgm:t>
        <a:bodyPr/>
        <a:lstStyle/>
        <a:p>
          <a:endParaRPr lang="ro-RO"/>
        </a:p>
      </dgm:t>
    </dgm:pt>
    <dgm:pt modelId="{0A57040C-F435-4F43-BE94-CFF09E98B20F}" type="sibTrans" cxnId="{935024E5-72D8-4381-AED6-F19D318DD4A3}">
      <dgm:prSet/>
      <dgm:spPr/>
      <dgm:t>
        <a:bodyPr/>
        <a:lstStyle/>
        <a:p>
          <a:endParaRPr lang="ro-RO"/>
        </a:p>
      </dgm:t>
    </dgm:pt>
    <dgm:pt modelId="{A497C743-4700-4D44-9FF1-1BBBF2C4C1D5}">
      <dgm:prSet custT="1"/>
      <dgm:spPr/>
      <dgm:t>
        <a:bodyPr/>
        <a:lstStyle/>
        <a:p>
          <a:pPr rtl="0"/>
          <a:r>
            <a:rPr lang="en-US" sz="34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Validare</a:t>
          </a:r>
          <a:r>
            <a:rPr lang="en-US" sz="34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4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si</a:t>
          </a:r>
          <a:r>
            <a:rPr lang="en-US" sz="34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4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rezultate</a:t>
          </a:r>
          <a:endParaRPr lang="en-US" sz="3400" b="0" dirty="0">
            <a:latin typeface="Segoe UI" panose="020B0502040204020203" pitchFamily="34" charset="0"/>
            <a:ea typeface="Germano" panose="020B0306030504020204" pitchFamily="34" charset="0"/>
            <a:cs typeface="Segoe UI" panose="020B0502040204020203" pitchFamily="34" charset="0"/>
          </a:endParaRPr>
        </a:p>
      </dgm:t>
    </dgm:pt>
    <dgm:pt modelId="{A0BEFE36-EBED-488D-8416-23BFDE9CD192}" type="parTrans" cxnId="{4AAD3387-DC3A-4739-A303-88E5F08F58BA}">
      <dgm:prSet/>
      <dgm:spPr/>
      <dgm:t>
        <a:bodyPr/>
        <a:lstStyle/>
        <a:p>
          <a:endParaRPr lang="ro-RO"/>
        </a:p>
      </dgm:t>
    </dgm:pt>
    <dgm:pt modelId="{0E8E7E2E-A1CC-43F4-8FD1-5C8E1F2AC6BA}" type="sibTrans" cxnId="{4AAD3387-DC3A-4739-A303-88E5F08F58BA}">
      <dgm:prSet/>
      <dgm:spPr/>
      <dgm:t>
        <a:bodyPr/>
        <a:lstStyle/>
        <a:p>
          <a:endParaRPr lang="ro-RO"/>
        </a:p>
      </dgm:t>
    </dgm:pt>
    <dgm:pt modelId="{B53A9CF1-E24E-4B25-827F-C1251C2CFC3D}">
      <dgm:prSet custT="1"/>
      <dgm:spPr/>
      <dgm:t>
        <a:bodyPr/>
        <a:lstStyle/>
        <a:p>
          <a:r>
            <a:rPr lang="ro-RO" sz="3400" b="0" dirty="0">
              <a:latin typeface="Segoe UI" panose="020B0502040204020203" pitchFamily="34" charset="0"/>
              <a:cs typeface="Segoe UI" panose="020B0502040204020203" pitchFamily="34" charset="0"/>
            </a:rPr>
            <a:t>Schema </a:t>
          </a:r>
          <a:r>
            <a:rPr lang="en-US" sz="3400" b="0" dirty="0">
              <a:latin typeface="Segoe UI" panose="020B0502040204020203" pitchFamily="34" charset="0"/>
              <a:cs typeface="Segoe UI" panose="020B0502040204020203" pitchFamily="34" charset="0"/>
            </a:rPr>
            <a:t>Schnorr</a:t>
          </a:r>
          <a:r>
            <a:rPr lang="ro-RO" sz="3400" b="0" dirty="0">
              <a:latin typeface="Segoe UI" panose="020B0502040204020203" pitchFamily="34" charset="0"/>
              <a:cs typeface="Segoe UI" panose="020B0502040204020203" pitchFamily="34" charset="0"/>
            </a:rPr>
            <a:t> interactiva</a:t>
          </a:r>
          <a:endParaRPr lang="en-US" sz="34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DE5889E-882D-45BE-AE0D-DFCCBF6ECA8F}" type="parTrans" cxnId="{EE868888-CD02-443A-9A03-CC3CAEB62695}">
      <dgm:prSet/>
      <dgm:spPr/>
      <dgm:t>
        <a:bodyPr/>
        <a:lstStyle/>
        <a:p>
          <a:endParaRPr lang="ro-RO"/>
        </a:p>
      </dgm:t>
    </dgm:pt>
    <dgm:pt modelId="{6517CEB6-67A5-4337-A7AE-6D7B1424C1B9}" type="sibTrans" cxnId="{EE868888-CD02-443A-9A03-CC3CAEB62695}">
      <dgm:prSet/>
      <dgm:spPr/>
      <dgm:t>
        <a:bodyPr/>
        <a:lstStyle/>
        <a:p>
          <a:endParaRPr lang="ro-RO"/>
        </a:p>
      </dgm:t>
    </dgm:pt>
    <dgm:pt modelId="{C71BD923-6004-41EA-99F0-96E34D189658}" type="pres">
      <dgm:prSet presAssocID="{E63BB8D6-27BC-4CD0-978C-8090523D0705}" presName="vert0" presStyleCnt="0">
        <dgm:presLayoutVars>
          <dgm:dir/>
          <dgm:animOne val="branch"/>
          <dgm:animLvl val="lvl"/>
        </dgm:presLayoutVars>
      </dgm:prSet>
      <dgm:spPr/>
    </dgm:pt>
    <dgm:pt modelId="{A7A7D111-7312-4FF1-90D0-A5A302055B02}" type="pres">
      <dgm:prSet presAssocID="{DCB301B6-A1CC-4E04-931E-2CAECBDF93BF}" presName="thickLine" presStyleLbl="alignNode1" presStyleIdx="0" presStyleCnt="8"/>
      <dgm:spPr/>
    </dgm:pt>
    <dgm:pt modelId="{095401FA-B62A-4221-81C4-A775C041D3E5}" type="pres">
      <dgm:prSet presAssocID="{DCB301B6-A1CC-4E04-931E-2CAECBDF93BF}" presName="horz1" presStyleCnt="0"/>
      <dgm:spPr/>
    </dgm:pt>
    <dgm:pt modelId="{23FF3258-61C4-4868-8061-476911F0F613}" type="pres">
      <dgm:prSet presAssocID="{DCB301B6-A1CC-4E04-931E-2CAECBDF93BF}" presName="tx1" presStyleLbl="revTx" presStyleIdx="0" presStyleCnt="8"/>
      <dgm:spPr/>
    </dgm:pt>
    <dgm:pt modelId="{71E8AA07-5E9E-4E0E-B3A1-24CCAA6F26BF}" type="pres">
      <dgm:prSet presAssocID="{DCB301B6-A1CC-4E04-931E-2CAECBDF93BF}" presName="vert1" presStyleCnt="0"/>
      <dgm:spPr/>
    </dgm:pt>
    <dgm:pt modelId="{D6F322F4-78C7-4AC1-BD06-2240BE727109}" type="pres">
      <dgm:prSet presAssocID="{FFB776E6-23F7-4E85-9B3F-BAD987A2B497}" presName="thickLine" presStyleLbl="alignNode1" presStyleIdx="1" presStyleCnt="8"/>
      <dgm:spPr/>
    </dgm:pt>
    <dgm:pt modelId="{8466E06B-DDB5-4ED7-8A4D-9BA994AAF30D}" type="pres">
      <dgm:prSet presAssocID="{FFB776E6-23F7-4E85-9B3F-BAD987A2B497}" presName="horz1" presStyleCnt="0"/>
      <dgm:spPr/>
    </dgm:pt>
    <dgm:pt modelId="{BF05A64E-5684-4BCC-9BB3-559046A67930}" type="pres">
      <dgm:prSet presAssocID="{FFB776E6-23F7-4E85-9B3F-BAD987A2B497}" presName="tx1" presStyleLbl="revTx" presStyleIdx="1" presStyleCnt="8"/>
      <dgm:spPr/>
    </dgm:pt>
    <dgm:pt modelId="{2212CC0B-24DE-4349-874E-7D4009641B56}" type="pres">
      <dgm:prSet presAssocID="{FFB776E6-23F7-4E85-9B3F-BAD987A2B497}" presName="vert1" presStyleCnt="0"/>
      <dgm:spPr/>
    </dgm:pt>
    <dgm:pt modelId="{29966794-10E0-4AA1-80B2-81E9C8B802AA}" type="pres">
      <dgm:prSet presAssocID="{E899FDE9-8023-4C52-8C9F-5F0317A1A3C0}" presName="thickLine" presStyleLbl="alignNode1" presStyleIdx="2" presStyleCnt="8"/>
      <dgm:spPr/>
    </dgm:pt>
    <dgm:pt modelId="{8FEB853A-B3B6-45C7-A4F1-3B3DCA381117}" type="pres">
      <dgm:prSet presAssocID="{E899FDE9-8023-4C52-8C9F-5F0317A1A3C0}" presName="horz1" presStyleCnt="0"/>
      <dgm:spPr/>
    </dgm:pt>
    <dgm:pt modelId="{F97AA83C-E7E0-416C-973A-C9B90077CEC1}" type="pres">
      <dgm:prSet presAssocID="{E899FDE9-8023-4C52-8C9F-5F0317A1A3C0}" presName="tx1" presStyleLbl="revTx" presStyleIdx="2" presStyleCnt="8"/>
      <dgm:spPr/>
    </dgm:pt>
    <dgm:pt modelId="{293E329F-A54A-4403-A4E8-35E472C6B156}" type="pres">
      <dgm:prSet presAssocID="{E899FDE9-8023-4C52-8C9F-5F0317A1A3C0}" presName="vert1" presStyleCnt="0"/>
      <dgm:spPr/>
    </dgm:pt>
    <dgm:pt modelId="{80D8D5A4-B595-4A87-BFC5-B13A15CF4E83}" type="pres">
      <dgm:prSet presAssocID="{B53A9CF1-E24E-4B25-827F-C1251C2CFC3D}" presName="thickLine" presStyleLbl="alignNode1" presStyleIdx="3" presStyleCnt="8"/>
      <dgm:spPr/>
    </dgm:pt>
    <dgm:pt modelId="{6ED62D2D-7F11-4A2E-B5E0-20E215891721}" type="pres">
      <dgm:prSet presAssocID="{B53A9CF1-E24E-4B25-827F-C1251C2CFC3D}" presName="horz1" presStyleCnt="0"/>
      <dgm:spPr/>
    </dgm:pt>
    <dgm:pt modelId="{213E0E29-8346-490A-AA7C-3E960918E73B}" type="pres">
      <dgm:prSet presAssocID="{B53A9CF1-E24E-4B25-827F-C1251C2CFC3D}" presName="tx1" presStyleLbl="revTx" presStyleIdx="3" presStyleCnt="8"/>
      <dgm:spPr/>
    </dgm:pt>
    <dgm:pt modelId="{0AFE87F3-B6E6-492C-9055-5EEFA050732D}" type="pres">
      <dgm:prSet presAssocID="{B53A9CF1-E24E-4B25-827F-C1251C2CFC3D}" presName="vert1" presStyleCnt="0"/>
      <dgm:spPr/>
    </dgm:pt>
    <dgm:pt modelId="{2D278BD5-264D-44A7-9058-97C2848A1A4E}" type="pres">
      <dgm:prSet presAssocID="{3047A93B-1B86-4D68-8011-B3DC50BD44D3}" presName="thickLine" presStyleLbl="alignNode1" presStyleIdx="4" presStyleCnt="8"/>
      <dgm:spPr/>
    </dgm:pt>
    <dgm:pt modelId="{6C8212A7-3EDC-4748-85A3-AE07F2D36678}" type="pres">
      <dgm:prSet presAssocID="{3047A93B-1B86-4D68-8011-B3DC50BD44D3}" presName="horz1" presStyleCnt="0"/>
      <dgm:spPr/>
    </dgm:pt>
    <dgm:pt modelId="{7CD43AEC-AE41-45C3-9DCD-7D23CFFA63EC}" type="pres">
      <dgm:prSet presAssocID="{3047A93B-1B86-4D68-8011-B3DC50BD44D3}" presName="tx1" presStyleLbl="revTx" presStyleIdx="4" presStyleCnt="8"/>
      <dgm:spPr/>
    </dgm:pt>
    <dgm:pt modelId="{58B2B29E-F313-4C4C-83FC-BC3E7D7FBBD5}" type="pres">
      <dgm:prSet presAssocID="{3047A93B-1B86-4D68-8011-B3DC50BD44D3}" presName="vert1" presStyleCnt="0"/>
      <dgm:spPr/>
    </dgm:pt>
    <dgm:pt modelId="{312C5543-FB1D-4BA3-BFDC-D97216303EB2}" type="pres">
      <dgm:prSet presAssocID="{A497C743-4700-4D44-9FF1-1BBBF2C4C1D5}" presName="thickLine" presStyleLbl="alignNode1" presStyleIdx="5" presStyleCnt="8"/>
      <dgm:spPr/>
    </dgm:pt>
    <dgm:pt modelId="{EB06F142-7977-4CC5-AC2E-2FA83E628AFC}" type="pres">
      <dgm:prSet presAssocID="{A497C743-4700-4D44-9FF1-1BBBF2C4C1D5}" presName="horz1" presStyleCnt="0"/>
      <dgm:spPr/>
    </dgm:pt>
    <dgm:pt modelId="{93660068-CD76-4C56-9900-C56998D89469}" type="pres">
      <dgm:prSet presAssocID="{A497C743-4700-4D44-9FF1-1BBBF2C4C1D5}" presName="tx1" presStyleLbl="revTx" presStyleIdx="5" presStyleCnt="8"/>
      <dgm:spPr/>
    </dgm:pt>
    <dgm:pt modelId="{FE216362-F2D1-4BD1-AAB8-A789F73F4FD0}" type="pres">
      <dgm:prSet presAssocID="{A497C743-4700-4D44-9FF1-1BBBF2C4C1D5}" presName="vert1" presStyleCnt="0"/>
      <dgm:spPr/>
    </dgm:pt>
    <dgm:pt modelId="{7AB99CC0-51C0-4483-85AC-3059D5EF841C}" type="pres">
      <dgm:prSet presAssocID="{4D04C002-FD7C-42C7-A1C4-449E53FA6304}" presName="thickLine" presStyleLbl="alignNode1" presStyleIdx="6" presStyleCnt="8"/>
      <dgm:spPr/>
    </dgm:pt>
    <dgm:pt modelId="{62B7C738-E260-440A-8002-A32418E1EC5B}" type="pres">
      <dgm:prSet presAssocID="{4D04C002-FD7C-42C7-A1C4-449E53FA6304}" presName="horz1" presStyleCnt="0"/>
      <dgm:spPr/>
    </dgm:pt>
    <dgm:pt modelId="{B0306898-844E-41ED-A58A-D2AA898F0110}" type="pres">
      <dgm:prSet presAssocID="{4D04C002-FD7C-42C7-A1C4-449E53FA6304}" presName="tx1" presStyleLbl="revTx" presStyleIdx="6" presStyleCnt="8"/>
      <dgm:spPr/>
    </dgm:pt>
    <dgm:pt modelId="{3FBA7C3C-E07F-4406-9003-739561A49FB3}" type="pres">
      <dgm:prSet presAssocID="{4D04C002-FD7C-42C7-A1C4-449E53FA6304}" presName="vert1" presStyleCnt="0"/>
      <dgm:spPr/>
    </dgm:pt>
    <dgm:pt modelId="{9DAEC4B7-B31B-4213-A64B-E8D32906A0A1}" type="pres">
      <dgm:prSet presAssocID="{57164BAC-3121-4D82-AC4D-99AF2CE6FCF8}" presName="thickLine" presStyleLbl="alignNode1" presStyleIdx="7" presStyleCnt="8"/>
      <dgm:spPr/>
    </dgm:pt>
    <dgm:pt modelId="{A041E22C-AE10-46C3-8671-353C5B8893F0}" type="pres">
      <dgm:prSet presAssocID="{57164BAC-3121-4D82-AC4D-99AF2CE6FCF8}" presName="horz1" presStyleCnt="0"/>
      <dgm:spPr/>
    </dgm:pt>
    <dgm:pt modelId="{5DD4EEAF-965B-43EB-9AB6-10A7DD397D93}" type="pres">
      <dgm:prSet presAssocID="{57164BAC-3121-4D82-AC4D-99AF2CE6FCF8}" presName="tx1" presStyleLbl="revTx" presStyleIdx="7" presStyleCnt="8"/>
      <dgm:spPr/>
    </dgm:pt>
    <dgm:pt modelId="{D6871868-2DDD-4F44-A2D4-A00DADC4B44C}" type="pres">
      <dgm:prSet presAssocID="{57164BAC-3121-4D82-AC4D-99AF2CE6FCF8}" presName="vert1" presStyleCnt="0"/>
      <dgm:spPr/>
    </dgm:pt>
  </dgm:ptLst>
  <dgm:cxnLst>
    <dgm:cxn modelId="{2039271B-4B8A-4875-8465-A633823A4E6E}" srcId="{E63BB8D6-27BC-4CD0-978C-8090523D0705}" destId="{FFB776E6-23F7-4E85-9B3F-BAD987A2B497}" srcOrd="1" destOrd="0" parTransId="{3082F0D9-2BB2-46E7-A418-458C1C3EAAEB}" sibTransId="{409834EE-169C-4C59-B1A9-A63DFF462395}"/>
    <dgm:cxn modelId="{DAFB951C-260B-4225-85A8-F3A7829ECF62}" type="presOf" srcId="{A497C743-4700-4D44-9FF1-1BBBF2C4C1D5}" destId="{93660068-CD76-4C56-9900-C56998D89469}" srcOrd="0" destOrd="0" presId="urn:microsoft.com/office/officeart/2008/layout/LinedList"/>
    <dgm:cxn modelId="{0DA4F71E-959A-424D-B27B-92784029048A}" type="presOf" srcId="{FFB776E6-23F7-4E85-9B3F-BAD987A2B497}" destId="{BF05A64E-5684-4BCC-9BB3-559046A67930}" srcOrd="0" destOrd="0" presId="urn:microsoft.com/office/officeart/2008/layout/LinedList"/>
    <dgm:cxn modelId="{2D720D27-4DEA-437C-8EB5-49FB3E25A81C}" srcId="{E63BB8D6-27BC-4CD0-978C-8090523D0705}" destId="{E899FDE9-8023-4C52-8C9F-5F0317A1A3C0}" srcOrd="2" destOrd="0" parTransId="{0946872C-DE66-47EF-98B7-31F770ABDAD5}" sibTransId="{0C2B48A1-EFF8-4EF2-B762-5D6368039629}"/>
    <dgm:cxn modelId="{F048A637-4897-4920-9F41-D58B6B60C7CF}" srcId="{E63BB8D6-27BC-4CD0-978C-8090523D0705}" destId="{DCB301B6-A1CC-4E04-931E-2CAECBDF93BF}" srcOrd="0" destOrd="0" parTransId="{C179F3CE-E489-4C1C-86D0-B0218C2C182C}" sibTransId="{22379FF5-8661-4E61-B250-DF4A76537C51}"/>
    <dgm:cxn modelId="{9C121D67-496A-491B-B169-5890510E0D3B}" type="presOf" srcId="{E899FDE9-8023-4C52-8C9F-5F0317A1A3C0}" destId="{F97AA83C-E7E0-416C-973A-C9B90077CEC1}" srcOrd="0" destOrd="0" presId="urn:microsoft.com/office/officeart/2008/layout/LinedList"/>
    <dgm:cxn modelId="{B494A953-EE28-41C8-A01F-0735B6622ED1}" srcId="{E63BB8D6-27BC-4CD0-978C-8090523D0705}" destId="{3047A93B-1B86-4D68-8011-B3DC50BD44D3}" srcOrd="4" destOrd="0" parTransId="{D2512F0C-91D8-40BF-A285-05C398EF3CF3}" sibTransId="{BE6B2831-1CF5-4741-A01D-92BF807DB945}"/>
    <dgm:cxn modelId="{2F35BB54-3D98-458F-B9B0-5CA2C4D648C4}" type="presOf" srcId="{3047A93B-1B86-4D68-8011-B3DC50BD44D3}" destId="{7CD43AEC-AE41-45C3-9DCD-7D23CFFA63EC}" srcOrd="0" destOrd="0" presId="urn:microsoft.com/office/officeart/2008/layout/LinedList"/>
    <dgm:cxn modelId="{4AAD3387-DC3A-4739-A303-88E5F08F58BA}" srcId="{E63BB8D6-27BC-4CD0-978C-8090523D0705}" destId="{A497C743-4700-4D44-9FF1-1BBBF2C4C1D5}" srcOrd="5" destOrd="0" parTransId="{A0BEFE36-EBED-488D-8416-23BFDE9CD192}" sibTransId="{0E8E7E2E-A1CC-43F4-8FD1-5C8E1F2AC6BA}"/>
    <dgm:cxn modelId="{EE868888-CD02-443A-9A03-CC3CAEB62695}" srcId="{E63BB8D6-27BC-4CD0-978C-8090523D0705}" destId="{B53A9CF1-E24E-4B25-827F-C1251C2CFC3D}" srcOrd="3" destOrd="0" parTransId="{7DE5889E-882D-45BE-AE0D-DFCCBF6ECA8F}" sibTransId="{6517CEB6-67A5-4337-A7AE-6D7B1424C1B9}"/>
    <dgm:cxn modelId="{3AFC218D-9B47-407C-A7F4-866BEB639E2A}" type="presOf" srcId="{57164BAC-3121-4D82-AC4D-99AF2CE6FCF8}" destId="{5DD4EEAF-965B-43EB-9AB6-10A7DD397D93}" srcOrd="0" destOrd="0" presId="urn:microsoft.com/office/officeart/2008/layout/LinedList"/>
    <dgm:cxn modelId="{E06FD092-BB9E-459F-82D3-A2918268633E}" type="presOf" srcId="{4D04C002-FD7C-42C7-A1C4-449E53FA6304}" destId="{B0306898-844E-41ED-A58A-D2AA898F0110}" srcOrd="0" destOrd="0" presId="urn:microsoft.com/office/officeart/2008/layout/LinedList"/>
    <dgm:cxn modelId="{12E21CA6-BBBB-4A82-A078-176289E2B8B7}" srcId="{E63BB8D6-27BC-4CD0-978C-8090523D0705}" destId="{4D04C002-FD7C-42C7-A1C4-449E53FA6304}" srcOrd="6" destOrd="0" parTransId="{81B1D53F-D5AC-4EB2-87E1-E8FF0C8FD195}" sibTransId="{C5B67004-81C7-4159-9B67-4A339C5DFFCF}"/>
    <dgm:cxn modelId="{C32912C2-3C46-4F22-8174-08DBA902E60D}" type="presOf" srcId="{DCB301B6-A1CC-4E04-931E-2CAECBDF93BF}" destId="{23FF3258-61C4-4868-8061-476911F0F613}" srcOrd="0" destOrd="0" presId="urn:microsoft.com/office/officeart/2008/layout/LinedList"/>
    <dgm:cxn modelId="{C577A5C8-646E-4A9E-A054-E9F8A0342FE4}" type="presOf" srcId="{B53A9CF1-E24E-4B25-827F-C1251C2CFC3D}" destId="{213E0E29-8346-490A-AA7C-3E960918E73B}" srcOrd="0" destOrd="0" presId="urn:microsoft.com/office/officeart/2008/layout/LinedList"/>
    <dgm:cxn modelId="{935024E5-72D8-4381-AED6-F19D318DD4A3}" srcId="{E63BB8D6-27BC-4CD0-978C-8090523D0705}" destId="{57164BAC-3121-4D82-AC4D-99AF2CE6FCF8}" srcOrd="7" destOrd="0" parTransId="{90A8B2BC-AB16-4249-BFAC-50651AA9048A}" sibTransId="{0A57040C-F435-4F43-BE94-CFF09E98B20F}"/>
    <dgm:cxn modelId="{7CA714F9-144E-4C33-BAA4-83092E2352C2}" type="presOf" srcId="{E63BB8D6-27BC-4CD0-978C-8090523D0705}" destId="{C71BD923-6004-41EA-99F0-96E34D189658}" srcOrd="0" destOrd="0" presId="urn:microsoft.com/office/officeart/2008/layout/LinedList"/>
    <dgm:cxn modelId="{9375F6DB-0B1C-480E-B0AB-AFD28DC1C9E5}" type="presParOf" srcId="{C71BD923-6004-41EA-99F0-96E34D189658}" destId="{A7A7D111-7312-4FF1-90D0-A5A302055B02}" srcOrd="0" destOrd="0" presId="urn:microsoft.com/office/officeart/2008/layout/LinedList"/>
    <dgm:cxn modelId="{B31792FC-87C6-4C44-BC8B-C00F3E88F443}" type="presParOf" srcId="{C71BD923-6004-41EA-99F0-96E34D189658}" destId="{095401FA-B62A-4221-81C4-A775C041D3E5}" srcOrd="1" destOrd="0" presId="urn:microsoft.com/office/officeart/2008/layout/LinedList"/>
    <dgm:cxn modelId="{EE51D69B-A3B2-42DA-8D2D-EF3E36F63DFC}" type="presParOf" srcId="{095401FA-B62A-4221-81C4-A775C041D3E5}" destId="{23FF3258-61C4-4868-8061-476911F0F613}" srcOrd="0" destOrd="0" presId="urn:microsoft.com/office/officeart/2008/layout/LinedList"/>
    <dgm:cxn modelId="{3B343715-6473-4C79-886F-8E873B48016C}" type="presParOf" srcId="{095401FA-B62A-4221-81C4-A775C041D3E5}" destId="{71E8AA07-5E9E-4E0E-B3A1-24CCAA6F26BF}" srcOrd="1" destOrd="0" presId="urn:microsoft.com/office/officeart/2008/layout/LinedList"/>
    <dgm:cxn modelId="{15AA08D2-7E5C-4C9E-A2AC-21B5D1BC684F}" type="presParOf" srcId="{C71BD923-6004-41EA-99F0-96E34D189658}" destId="{D6F322F4-78C7-4AC1-BD06-2240BE727109}" srcOrd="2" destOrd="0" presId="urn:microsoft.com/office/officeart/2008/layout/LinedList"/>
    <dgm:cxn modelId="{87FF9796-5E86-4839-A959-5F7E5D1D658A}" type="presParOf" srcId="{C71BD923-6004-41EA-99F0-96E34D189658}" destId="{8466E06B-DDB5-4ED7-8A4D-9BA994AAF30D}" srcOrd="3" destOrd="0" presId="urn:microsoft.com/office/officeart/2008/layout/LinedList"/>
    <dgm:cxn modelId="{5F7A70C7-8052-42DE-BC12-96B6C90B4729}" type="presParOf" srcId="{8466E06B-DDB5-4ED7-8A4D-9BA994AAF30D}" destId="{BF05A64E-5684-4BCC-9BB3-559046A67930}" srcOrd="0" destOrd="0" presId="urn:microsoft.com/office/officeart/2008/layout/LinedList"/>
    <dgm:cxn modelId="{44C38AE6-72AC-4926-97B9-B6AF393DCD85}" type="presParOf" srcId="{8466E06B-DDB5-4ED7-8A4D-9BA994AAF30D}" destId="{2212CC0B-24DE-4349-874E-7D4009641B56}" srcOrd="1" destOrd="0" presId="urn:microsoft.com/office/officeart/2008/layout/LinedList"/>
    <dgm:cxn modelId="{4CB3DB51-98DC-4FE9-82FE-D5C0F673F861}" type="presParOf" srcId="{C71BD923-6004-41EA-99F0-96E34D189658}" destId="{29966794-10E0-4AA1-80B2-81E9C8B802AA}" srcOrd="4" destOrd="0" presId="urn:microsoft.com/office/officeart/2008/layout/LinedList"/>
    <dgm:cxn modelId="{FEFA90F9-6EE2-43F0-B5BC-CF8912ECF3BD}" type="presParOf" srcId="{C71BD923-6004-41EA-99F0-96E34D189658}" destId="{8FEB853A-B3B6-45C7-A4F1-3B3DCA381117}" srcOrd="5" destOrd="0" presId="urn:microsoft.com/office/officeart/2008/layout/LinedList"/>
    <dgm:cxn modelId="{ED9FAF7A-1654-47DF-AB60-4ACD3F2FFA4B}" type="presParOf" srcId="{8FEB853A-B3B6-45C7-A4F1-3B3DCA381117}" destId="{F97AA83C-E7E0-416C-973A-C9B90077CEC1}" srcOrd="0" destOrd="0" presId="urn:microsoft.com/office/officeart/2008/layout/LinedList"/>
    <dgm:cxn modelId="{60C782C2-9768-4B12-A44D-9CD9DEDC2FC3}" type="presParOf" srcId="{8FEB853A-B3B6-45C7-A4F1-3B3DCA381117}" destId="{293E329F-A54A-4403-A4E8-35E472C6B156}" srcOrd="1" destOrd="0" presId="urn:microsoft.com/office/officeart/2008/layout/LinedList"/>
    <dgm:cxn modelId="{BD1501B6-B5E1-43A4-AB25-B70483DBCF99}" type="presParOf" srcId="{C71BD923-6004-41EA-99F0-96E34D189658}" destId="{80D8D5A4-B595-4A87-BFC5-B13A15CF4E83}" srcOrd="6" destOrd="0" presId="urn:microsoft.com/office/officeart/2008/layout/LinedList"/>
    <dgm:cxn modelId="{26A77DE4-ACBA-416E-A797-ACE1E5A404A1}" type="presParOf" srcId="{C71BD923-6004-41EA-99F0-96E34D189658}" destId="{6ED62D2D-7F11-4A2E-B5E0-20E215891721}" srcOrd="7" destOrd="0" presId="urn:microsoft.com/office/officeart/2008/layout/LinedList"/>
    <dgm:cxn modelId="{77D69B80-3DA1-4CE0-9691-123DB265A9BF}" type="presParOf" srcId="{6ED62D2D-7F11-4A2E-B5E0-20E215891721}" destId="{213E0E29-8346-490A-AA7C-3E960918E73B}" srcOrd="0" destOrd="0" presId="urn:microsoft.com/office/officeart/2008/layout/LinedList"/>
    <dgm:cxn modelId="{C31F9E43-4B21-400F-8E77-ADC4B0432FAF}" type="presParOf" srcId="{6ED62D2D-7F11-4A2E-B5E0-20E215891721}" destId="{0AFE87F3-B6E6-492C-9055-5EEFA050732D}" srcOrd="1" destOrd="0" presId="urn:microsoft.com/office/officeart/2008/layout/LinedList"/>
    <dgm:cxn modelId="{59AE561E-2D65-4D6B-BC4D-390F057F0A00}" type="presParOf" srcId="{C71BD923-6004-41EA-99F0-96E34D189658}" destId="{2D278BD5-264D-44A7-9058-97C2848A1A4E}" srcOrd="8" destOrd="0" presId="urn:microsoft.com/office/officeart/2008/layout/LinedList"/>
    <dgm:cxn modelId="{32D4CABD-66BE-4602-A568-A6CC1F76D1C0}" type="presParOf" srcId="{C71BD923-6004-41EA-99F0-96E34D189658}" destId="{6C8212A7-3EDC-4748-85A3-AE07F2D36678}" srcOrd="9" destOrd="0" presId="urn:microsoft.com/office/officeart/2008/layout/LinedList"/>
    <dgm:cxn modelId="{829E3A6D-3A92-4993-A29B-4D34190BEB3A}" type="presParOf" srcId="{6C8212A7-3EDC-4748-85A3-AE07F2D36678}" destId="{7CD43AEC-AE41-45C3-9DCD-7D23CFFA63EC}" srcOrd="0" destOrd="0" presId="urn:microsoft.com/office/officeart/2008/layout/LinedList"/>
    <dgm:cxn modelId="{B66A8215-4F17-45F9-B1FD-9883084D27F1}" type="presParOf" srcId="{6C8212A7-3EDC-4748-85A3-AE07F2D36678}" destId="{58B2B29E-F313-4C4C-83FC-BC3E7D7FBBD5}" srcOrd="1" destOrd="0" presId="urn:microsoft.com/office/officeart/2008/layout/LinedList"/>
    <dgm:cxn modelId="{5F4072C0-3BD4-4423-967B-59B92134B54C}" type="presParOf" srcId="{C71BD923-6004-41EA-99F0-96E34D189658}" destId="{312C5543-FB1D-4BA3-BFDC-D97216303EB2}" srcOrd="10" destOrd="0" presId="urn:microsoft.com/office/officeart/2008/layout/LinedList"/>
    <dgm:cxn modelId="{ABEC3898-D4F6-4E78-A96E-BA5BB78700DF}" type="presParOf" srcId="{C71BD923-6004-41EA-99F0-96E34D189658}" destId="{EB06F142-7977-4CC5-AC2E-2FA83E628AFC}" srcOrd="11" destOrd="0" presId="urn:microsoft.com/office/officeart/2008/layout/LinedList"/>
    <dgm:cxn modelId="{8251648D-9C61-4A4A-A96B-7BD835AB353B}" type="presParOf" srcId="{EB06F142-7977-4CC5-AC2E-2FA83E628AFC}" destId="{93660068-CD76-4C56-9900-C56998D89469}" srcOrd="0" destOrd="0" presId="urn:microsoft.com/office/officeart/2008/layout/LinedList"/>
    <dgm:cxn modelId="{0AAC823E-35F1-48B0-9272-9C75FED9955C}" type="presParOf" srcId="{EB06F142-7977-4CC5-AC2E-2FA83E628AFC}" destId="{FE216362-F2D1-4BD1-AAB8-A789F73F4FD0}" srcOrd="1" destOrd="0" presId="urn:microsoft.com/office/officeart/2008/layout/LinedList"/>
    <dgm:cxn modelId="{06231A0C-6741-46BF-9C71-FBEECB7CC7D4}" type="presParOf" srcId="{C71BD923-6004-41EA-99F0-96E34D189658}" destId="{7AB99CC0-51C0-4483-85AC-3059D5EF841C}" srcOrd="12" destOrd="0" presId="urn:microsoft.com/office/officeart/2008/layout/LinedList"/>
    <dgm:cxn modelId="{850011FD-25F0-49CC-B52E-B88AE21B92AA}" type="presParOf" srcId="{C71BD923-6004-41EA-99F0-96E34D189658}" destId="{62B7C738-E260-440A-8002-A32418E1EC5B}" srcOrd="13" destOrd="0" presId="urn:microsoft.com/office/officeart/2008/layout/LinedList"/>
    <dgm:cxn modelId="{65DCE12C-BD71-4362-A218-E9B300A559FE}" type="presParOf" srcId="{62B7C738-E260-440A-8002-A32418E1EC5B}" destId="{B0306898-844E-41ED-A58A-D2AA898F0110}" srcOrd="0" destOrd="0" presId="urn:microsoft.com/office/officeart/2008/layout/LinedList"/>
    <dgm:cxn modelId="{E545CD3A-B396-4FEA-BDAF-94F8FAB4BB29}" type="presParOf" srcId="{62B7C738-E260-440A-8002-A32418E1EC5B}" destId="{3FBA7C3C-E07F-4406-9003-739561A49FB3}" srcOrd="1" destOrd="0" presId="urn:microsoft.com/office/officeart/2008/layout/LinedList"/>
    <dgm:cxn modelId="{BB5399DA-A1CC-48C2-9F3C-03085620B11D}" type="presParOf" srcId="{C71BD923-6004-41EA-99F0-96E34D189658}" destId="{9DAEC4B7-B31B-4213-A64B-E8D32906A0A1}" srcOrd="14" destOrd="0" presId="urn:microsoft.com/office/officeart/2008/layout/LinedList"/>
    <dgm:cxn modelId="{AEBF2684-7512-4D5B-A010-B888827FC053}" type="presParOf" srcId="{C71BD923-6004-41EA-99F0-96E34D189658}" destId="{A041E22C-AE10-46C3-8671-353C5B8893F0}" srcOrd="15" destOrd="0" presId="urn:microsoft.com/office/officeart/2008/layout/LinedList"/>
    <dgm:cxn modelId="{5EDC21C1-23CC-4600-9B04-E45FF20D545D}" type="presParOf" srcId="{A041E22C-AE10-46C3-8671-353C5B8893F0}" destId="{5DD4EEAF-965B-43EB-9AB6-10A7DD397D93}" srcOrd="0" destOrd="0" presId="urn:microsoft.com/office/officeart/2008/layout/LinedList"/>
    <dgm:cxn modelId="{69BDE853-8D9B-48BC-A551-6B5BFFA9643D}" type="presParOf" srcId="{A041E22C-AE10-46C3-8671-353C5B8893F0}" destId="{D6871868-2DDD-4F44-A2D4-A00DADC4B4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7D111-7312-4FF1-90D0-A5A302055B02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F3258-61C4-4868-8061-476911F0F613}">
      <dsp:nvSpPr>
        <dsp:cNvPr id="0" name=""/>
        <dsp:cNvSpPr/>
      </dsp:nvSpPr>
      <dsp:spPr>
        <a:xfrm>
          <a:off x="0" y="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 err="1">
              <a:latin typeface="Segoe UI" panose="020B0502040204020203" pitchFamily="34" charset="0"/>
              <a:cs typeface="Segoe UI" panose="020B0502040204020203" pitchFamily="34" charset="0"/>
            </a:rPr>
            <a:t>Introducere</a:t>
          </a:r>
          <a:endParaRPr lang="en-US" sz="34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0"/>
        <a:ext cx="6900512" cy="692017"/>
      </dsp:txXfrm>
    </dsp:sp>
    <dsp:sp modelId="{D6F322F4-78C7-4AC1-BD06-2240BE727109}">
      <dsp:nvSpPr>
        <dsp:cNvPr id="0" name=""/>
        <dsp:cNvSpPr/>
      </dsp:nvSpPr>
      <dsp:spPr>
        <a:xfrm>
          <a:off x="0" y="692017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5714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5A64E-5684-4BCC-9BB3-559046A67930}">
      <dsp:nvSpPr>
        <dsp:cNvPr id="0" name=""/>
        <dsp:cNvSpPr/>
      </dsp:nvSpPr>
      <dsp:spPr>
        <a:xfrm>
          <a:off x="0" y="692017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Tehnologii</a:t>
          </a:r>
          <a:endParaRPr lang="en-US" sz="34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692017"/>
        <a:ext cx="6900512" cy="692017"/>
      </dsp:txXfrm>
    </dsp:sp>
    <dsp:sp modelId="{29966794-10E0-4AA1-80B2-81E9C8B802AA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1429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AA83C-E7E0-416C-973A-C9B90077CEC1}">
      <dsp:nvSpPr>
        <dsp:cNvPr id="0" name=""/>
        <dsp:cNvSpPr/>
      </dsp:nvSpPr>
      <dsp:spPr>
        <a:xfrm>
          <a:off x="0" y="138403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A</a:t>
          </a:r>
          <a:r>
            <a:rPr lang="ro-RO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r</a:t>
          </a:r>
          <a:r>
            <a:rPr lang="en-US" sz="3400" b="0" kern="1200" dirty="0" err="1">
              <a:latin typeface="Segoe UI" panose="020B0502040204020203" pitchFamily="34" charset="0"/>
              <a:cs typeface="Segoe UI" panose="020B0502040204020203" pitchFamily="34" charset="0"/>
            </a:rPr>
            <a:t>hitectur</a:t>
          </a:r>
          <a:r>
            <a:rPr lang="ro-RO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ă</a:t>
          </a:r>
          <a:endParaRPr lang="en-US" sz="34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1384035"/>
        <a:ext cx="6900512" cy="692017"/>
      </dsp:txXfrm>
    </dsp:sp>
    <dsp:sp modelId="{80D8D5A4-B595-4A87-BFC5-B13A15CF4E83}">
      <dsp:nvSpPr>
        <dsp:cNvPr id="0" name=""/>
        <dsp:cNvSpPr/>
      </dsp:nvSpPr>
      <dsp:spPr>
        <a:xfrm>
          <a:off x="0" y="2076052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17143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714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E0E29-8346-490A-AA7C-3E960918E73B}">
      <dsp:nvSpPr>
        <dsp:cNvPr id="0" name=""/>
        <dsp:cNvSpPr/>
      </dsp:nvSpPr>
      <dsp:spPr>
        <a:xfrm>
          <a:off x="0" y="2076052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Schema </a:t>
          </a:r>
          <a:r>
            <a:rPr lang="en-US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Schnorr</a:t>
          </a:r>
          <a:r>
            <a:rPr lang="ro-RO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 interactiva</a:t>
          </a:r>
          <a:endParaRPr lang="en-US" sz="34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2076052"/>
        <a:ext cx="6900512" cy="692017"/>
      </dsp:txXfrm>
    </dsp:sp>
    <dsp:sp modelId="{2D278BD5-264D-44A7-9058-97C2848A1A4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285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43AEC-AE41-45C3-9DCD-7D23CFFA63EC}">
      <dsp:nvSpPr>
        <dsp:cNvPr id="0" name=""/>
        <dsp:cNvSpPr/>
      </dsp:nvSpPr>
      <dsp:spPr>
        <a:xfrm>
          <a:off x="0" y="276807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Inregistrarea</a:t>
          </a:r>
          <a:r>
            <a:rPr lang="en-US" sz="34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&amp; </a:t>
          </a:r>
          <a:r>
            <a:rPr lang="en-US" sz="34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Autentificare</a:t>
          </a:r>
          <a:r>
            <a:rPr lang="en-US" sz="34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	</a:t>
          </a:r>
        </a:p>
      </dsp:txBody>
      <dsp:txXfrm>
        <a:off x="0" y="2768070"/>
        <a:ext cx="6900512" cy="692017"/>
      </dsp:txXfrm>
    </dsp:sp>
    <dsp:sp modelId="{312C5543-FB1D-4BA3-BFDC-D97216303EB2}">
      <dsp:nvSpPr>
        <dsp:cNvPr id="0" name=""/>
        <dsp:cNvSpPr/>
      </dsp:nvSpPr>
      <dsp:spPr>
        <a:xfrm>
          <a:off x="0" y="3460088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8571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8571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60068-CD76-4C56-9900-C56998D89469}">
      <dsp:nvSpPr>
        <dsp:cNvPr id="0" name=""/>
        <dsp:cNvSpPr/>
      </dsp:nvSpPr>
      <dsp:spPr>
        <a:xfrm>
          <a:off x="0" y="3460088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Validare</a:t>
          </a:r>
          <a:r>
            <a:rPr lang="en-US" sz="34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4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si</a:t>
          </a:r>
          <a:r>
            <a:rPr lang="en-US" sz="34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4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rezultate</a:t>
          </a:r>
          <a:endParaRPr lang="en-US" sz="3400" b="0" kern="1200" dirty="0">
            <a:latin typeface="Segoe UI" panose="020B0502040204020203" pitchFamily="34" charset="0"/>
            <a:ea typeface="Germano" panose="020B0306030504020204" pitchFamily="34" charset="0"/>
            <a:cs typeface="Segoe UI" panose="020B0502040204020203" pitchFamily="34" charset="0"/>
          </a:endParaRPr>
        </a:p>
      </dsp:txBody>
      <dsp:txXfrm>
        <a:off x="0" y="3460088"/>
        <a:ext cx="6900512" cy="692017"/>
      </dsp:txXfrm>
    </dsp:sp>
    <dsp:sp modelId="{7AB99CC0-51C0-4483-85AC-3059D5EF841C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34286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4286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06898-844E-41ED-A58A-D2AA898F0110}">
      <dsp:nvSpPr>
        <dsp:cNvPr id="0" name=""/>
        <dsp:cNvSpPr/>
      </dsp:nvSpPr>
      <dsp:spPr>
        <a:xfrm>
          <a:off x="0" y="415210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 err="1">
              <a:latin typeface="Segoe UI" panose="020B0502040204020203" pitchFamily="34" charset="0"/>
              <a:cs typeface="Segoe UI" panose="020B0502040204020203" pitchFamily="34" charset="0"/>
            </a:rPr>
            <a:t>Concluzii</a:t>
          </a:r>
          <a:endParaRPr lang="en-US" sz="34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4152105"/>
        <a:ext cx="6900512" cy="692017"/>
      </dsp:txXfrm>
    </dsp:sp>
    <dsp:sp modelId="{9DAEC4B7-B31B-4213-A64B-E8D32906A0A1}">
      <dsp:nvSpPr>
        <dsp:cNvPr id="0" name=""/>
        <dsp:cNvSpPr/>
      </dsp:nvSpPr>
      <dsp:spPr>
        <a:xfrm>
          <a:off x="0" y="4844123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4EEAF-965B-43EB-9AB6-10A7DD397D93}">
      <dsp:nvSpPr>
        <dsp:cNvPr id="0" name=""/>
        <dsp:cNvSpPr/>
      </dsp:nvSpPr>
      <dsp:spPr>
        <a:xfrm>
          <a:off x="0" y="4844123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b="0" kern="1200" dirty="0">
              <a:latin typeface="Segoe UI" panose="020B0502040204020203" pitchFamily="34" charset="0"/>
              <a:cs typeface="Segoe UI" panose="020B0502040204020203" pitchFamily="34" charset="0"/>
            </a:rPr>
            <a:t>Bibliografie</a:t>
          </a:r>
          <a:endParaRPr lang="en-US" sz="34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4844123"/>
        <a:ext cx="6900512" cy="692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3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de </a:t>
            </a:r>
            <a:r>
              <a:rPr lang="en-US" dirty="0" err="1"/>
              <a:t>astazi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data de </a:t>
            </a:r>
            <a:r>
              <a:rPr lang="en-US" dirty="0" err="1"/>
              <a:t>nevoia</a:t>
            </a:r>
            <a:r>
              <a:rPr lang="en-US" dirty="0"/>
              <a:t> de </a:t>
            </a:r>
            <a:r>
              <a:rPr lang="en-US" dirty="0" err="1"/>
              <a:t>informatie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unei</a:t>
            </a:r>
            <a:r>
              <a:rPr lang="en-US" dirty="0"/>
              <a:t> </a:t>
            </a:r>
            <a:r>
              <a:rPr lang="en-US" dirty="0" err="1"/>
              <a:t>interactiuni</a:t>
            </a:r>
            <a:r>
              <a:rPr lang="en-US" dirty="0"/>
              <a:t> cu o </a:t>
            </a:r>
            <a:r>
              <a:rPr lang="en-US" dirty="0" err="1"/>
              <a:t>tranzactie</a:t>
            </a:r>
            <a:r>
              <a:rPr lang="en-US" dirty="0"/>
              <a:t> auto....</a:t>
            </a:r>
          </a:p>
          <a:p>
            <a:r>
              <a:rPr lang="en-US" dirty="0"/>
              <a:t>Definitie blockchain, la </a:t>
            </a:r>
            <a:r>
              <a:rPr lang="en-US" dirty="0" err="1"/>
              <a:t>ce</a:t>
            </a:r>
            <a:r>
              <a:rPr lang="en-US" dirty="0"/>
              <a:t> e </a:t>
            </a:r>
            <a:r>
              <a:rPr lang="en-US" dirty="0" err="1"/>
              <a:t>folosit</a:t>
            </a:r>
            <a:r>
              <a:rPr lang="en-US" dirty="0"/>
              <a:t>, </a:t>
            </a:r>
            <a:r>
              <a:rPr lang="en-US" dirty="0" err="1"/>
              <a:t>domenii</a:t>
            </a:r>
            <a:r>
              <a:rPr lang="en-US" dirty="0"/>
              <a:t>, </a:t>
            </a:r>
            <a:r>
              <a:rPr lang="en-US" dirty="0" err="1"/>
              <a:t>contracte</a:t>
            </a:r>
            <a:r>
              <a:rPr lang="en-US" dirty="0"/>
              <a:t> </a:t>
            </a:r>
            <a:r>
              <a:rPr lang="en-US" dirty="0" err="1"/>
              <a:t>inteligente</a:t>
            </a:r>
            <a:r>
              <a:rPr lang="en-US" dirty="0"/>
              <a:t>  pe </a:t>
            </a:r>
            <a:r>
              <a:rPr lang="en-US" dirty="0" err="1"/>
              <a:t>retea</a:t>
            </a:r>
            <a:r>
              <a:rPr lang="en-US" dirty="0"/>
              <a:t> </a:t>
            </a:r>
            <a:r>
              <a:rPr lang="en-US" dirty="0" err="1"/>
              <a:t>evm</a:t>
            </a:r>
            <a:r>
              <a:rPr lang="en-US" dirty="0"/>
              <a:t> -&gt; </a:t>
            </a:r>
            <a:r>
              <a:rPr lang="en-US" dirty="0" err="1"/>
              <a:t>metoda</a:t>
            </a:r>
            <a:r>
              <a:rPr lang="en-US" dirty="0"/>
              <a:t> de </a:t>
            </a:r>
            <a:r>
              <a:rPr lang="en-US" dirty="0" err="1"/>
              <a:t>stocare</a:t>
            </a:r>
            <a:r>
              <a:rPr lang="en-US" dirty="0"/>
              <a:t>, </a:t>
            </a:r>
            <a:r>
              <a:rPr lang="en-US" dirty="0" err="1"/>
              <a:t>folosita</a:t>
            </a:r>
            <a:r>
              <a:rPr lang="en-US" dirty="0"/>
              <a:t> </a:t>
            </a:r>
            <a:r>
              <a:rPr lang="en-US" dirty="0" err="1"/>
              <a:t>si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lanturilor</a:t>
            </a:r>
            <a:r>
              <a:rPr lang="en-US" dirty="0"/>
              <a:t> de </a:t>
            </a:r>
            <a:r>
              <a:rPr lang="en-US" dirty="0" err="1"/>
              <a:t>aprovizionare</a:t>
            </a:r>
            <a:endParaRPr lang="en-US" dirty="0"/>
          </a:p>
          <a:p>
            <a:r>
              <a:rPr lang="en-US" dirty="0" err="1"/>
              <a:t>Inteligenta</a:t>
            </a:r>
            <a:r>
              <a:rPr lang="en-US" dirty="0"/>
              <a:t> </a:t>
            </a:r>
            <a:r>
              <a:rPr lang="en-US" dirty="0" err="1"/>
              <a:t>artificala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de o </a:t>
            </a:r>
            <a:r>
              <a:rPr lang="en-US" dirty="0" err="1"/>
              <a:t>perioada</a:t>
            </a:r>
            <a:r>
              <a:rPr lang="en-US" dirty="0"/>
              <a:t> buna de </a:t>
            </a:r>
            <a:r>
              <a:rPr lang="en-US" dirty="0" err="1"/>
              <a:t>timp</a:t>
            </a:r>
            <a:r>
              <a:rPr lang="en-US" dirty="0"/>
              <a:t> </a:t>
            </a:r>
            <a:r>
              <a:rPr lang="en-US" dirty="0" err="1"/>
              <a:t>prin</a:t>
            </a:r>
            <a:r>
              <a:rPr lang="en-US" dirty="0"/>
              <a:t> </a:t>
            </a:r>
            <a:r>
              <a:rPr lang="en-US" dirty="0" err="1"/>
              <a:t>preajma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invete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ofere</a:t>
            </a:r>
            <a:r>
              <a:rPr lang="en-US" dirty="0"/>
              <a:t> </a:t>
            </a:r>
            <a:r>
              <a:rPr lang="en-US" dirty="0" err="1"/>
              <a:t>raspunsuri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dirty="0" err="1"/>
              <a:t>seturi</a:t>
            </a:r>
            <a:r>
              <a:rPr lang="en-US" dirty="0"/>
              <a:t> de date. Ai a </a:t>
            </a:r>
            <a:r>
              <a:rPr lang="en-US" dirty="0" err="1"/>
              <a:t>ajuns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diverse </a:t>
            </a:r>
            <a:r>
              <a:rPr lang="en-US" dirty="0" err="1"/>
              <a:t>aplicatii</a:t>
            </a:r>
            <a:r>
              <a:rPr lang="en-US" dirty="0"/>
              <a:t> precum </a:t>
            </a:r>
            <a:r>
              <a:rPr lang="en-US" dirty="0" err="1"/>
              <a:t>diagnosticele</a:t>
            </a:r>
            <a:r>
              <a:rPr lang="en-US" dirty="0"/>
              <a:t> </a:t>
            </a:r>
            <a:r>
              <a:rPr lang="en-US" dirty="0" err="1"/>
              <a:t>medicale</a:t>
            </a:r>
            <a:r>
              <a:rPr lang="en-US" dirty="0"/>
              <a:t>, </a:t>
            </a:r>
            <a:r>
              <a:rPr lang="en-US" dirty="0" err="1"/>
              <a:t>asistenti</a:t>
            </a:r>
            <a:r>
              <a:rPr lang="en-US" dirty="0"/>
              <a:t> </a:t>
            </a:r>
            <a:r>
              <a:rPr lang="en-US" dirty="0" err="1"/>
              <a:t>virtuali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navigare</a:t>
            </a:r>
            <a:r>
              <a:rPr lang="en-US" dirty="0"/>
              <a:t> </a:t>
            </a:r>
            <a:r>
              <a:rPr lang="en-US" dirty="0" err="1"/>
              <a:t>virtuala</a:t>
            </a:r>
            <a:r>
              <a:rPr lang="en-US" dirty="0"/>
              <a:t>, in </a:t>
            </a:r>
            <a:r>
              <a:rPr lang="en-US" dirty="0" err="1"/>
              <a:t>cazul</a:t>
            </a:r>
            <a:r>
              <a:rPr lang="en-US" dirty="0"/>
              <a:t> de fata, am </a:t>
            </a:r>
            <a:r>
              <a:rPr lang="en-US" dirty="0" err="1"/>
              <a:t>incercat</a:t>
            </a:r>
            <a:r>
              <a:rPr lang="en-US" dirty="0"/>
              <a:t> </a:t>
            </a:r>
            <a:r>
              <a:rPr lang="en-US" dirty="0" err="1"/>
              <a:t>folosirea</a:t>
            </a:r>
            <a:r>
              <a:rPr lang="en-US" dirty="0"/>
              <a:t> </a:t>
            </a:r>
            <a:r>
              <a:rPr lang="en-US" dirty="0" err="1"/>
              <a:t>retelelor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 in </a:t>
            </a:r>
            <a:r>
              <a:rPr lang="en-US" dirty="0" err="1"/>
              <a:t>clasificiarea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seturi</a:t>
            </a:r>
            <a:r>
              <a:rPr lang="en-US" dirty="0"/>
              <a:t> de date.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6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Angular – client side application</a:t>
            </a:r>
          </a:p>
          <a:p>
            <a:r>
              <a:rPr lang="en-US" dirty="0"/>
              <a:t>Python:</a:t>
            </a:r>
          </a:p>
          <a:p>
            <a:r>
              <a:rPr lang="en-US" dirty="0" err="1"/>
              <a:t>Solidty</a:t>
            </a:r>
            <a:r>
              <a:rPr lang="en-US" dirty="0"/>
              <a:t>: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Inspirat</a:t>
            </a:r>
            <a:r>
              <a:rPr lang="en-US" dirty="0"/>
              <a:t> din C/C++, Python, Java. </a:t>
            </a:r>
            <a:r>
              <a:rPr lang="en-US" dirty="0" err="1"/>
              <a:t>Acesta</a:t>
            </a:r>
            <a:r>
              <a:rPr lang="en-US" dirty="0"/>
              <a:t> are </a:t>
            </a:r>
            <a:r>
              <a:rPr lang="en-US" dirty="0" err="1"/>
              <a:t>Tipuri</a:t>
            </a:r>
            <a:r>
              <a:rPr lang="en-US" dirty="0"/>
              <a:t> de date definite de </a:t>
            </a:r>
            <a:r>
              <a:rPr lang="en-US" dirty="0" err="1"/>
              <a:t>utilizator</a:t>
            </a:r>
            <a:r>
              <a:rPr lang="en-US" dirty="0"/>
              <a:t> ( struct, </a:t>
            </a:r>
            <a:r>
              <a:rPr lang="en-US" dirty="0" err="1"/>
              <a:t>enum</a:t>
            </a:r>
            <a:r>
              <a:rPr lang="en-US" dirty="0"/>
              <a:t>, contract)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dirty="0" err="1"/>
              <a:t>structuri</a:t>
            </a:r>
            <a:r>
              <a:rPr lang="en-US" dirty="0"/>
              <a:t> de control, 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asemanator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orientat</a:t>
            </a:r>
            <a:r>
              <a:rPr lang="en-US" dirty="0"/>
              <a:t> pe </a:t>
            </a:r>
            <a:r>
              <a:rPr lang="en-US" dirty="0" err="1"/>
              <a:t>obiect</a:t>
            </a:r>
            <a:r>
              <a:rPr lang="en-US" dirty="0"/>
              <a:t>.</a:t>
            </a:r>
          </a:p>
          <a:p>
            <a:r>
              <a:rPr lang="en-US" dirty="0">
                <a:ea typeface="Calibri"/>
                <a:cs typeface="Calibri"/>
              </a:rPr>
              <a:t>Ganache – blockchain </a:t>
            </a:r>
            <a:r>
              <a:rPr lang="en-US" dirty="0" err="1">
                <a:ea typeface="Calibri"/>
                <a:cs typeface="Calibri"/>
              </a:rPr>
              <a:t>simulat</a:t>
            </a:r>
            <a:r>
              <a:rPr lang="en-US" dirty="0">
                <a:ea typeface="Calibri"/>
                <a:cs typeface="Calibri"/>
              </a:rPr>
              <a:t> cu un </a:t>
            </a:r>
            <a:r>
              <a:rPr lang="en-US" dirty="0" err="1">
                <a:ea typeface="Calibri"/>
                <a:cs typeface="Calibri"/>
              </a:rPr>
              <a:t>singur</a:t>
            </a:r>
            <a:r>
              <a:rPr lang="en-US" dirty="0">
                <a:ea typeface="Calibri"/>
                <a:cs typeface="Calibri"/>
              </a:rPr>
              <a:t> nod, </a:t>
            </a:r>
            <a:r>
              <a:rPr lang="en-US" dirty="0" err="1">
                <a:ea typeface="Calibri"/>
                <a:cs typeface="Calibri"/>
              </a:rPr>
              <a:t>ofera</a:t>
            </a:r>
            <a:r>
              <a:rPr lang="en-US" dirty="0">
                <a:ea typeface="Calibri"/>
                <a:cs typeface="Calibri"/>
              </a:rPr>
              <a:t> 10 </a:t>
            </a:r>
            <a:r>
              <a:rPr lang="en-US" dirty="0" err="1">
                <a:ea typeface="Calibri"/>
                <a:cs typeface="Calibri"/>
              </a:rPr>
              <a:t>conturi</a:t>
            </a:r>
            <a:r>
              <a:rPr lang="en-US" dirty="0">
                <a:ea typeface="Calibri"/>
                <a:cs typeface="Calibri"/>
              </a:rPr>
              <a:t> pe default cu un sold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52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Intrega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arhitectura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aplicatiei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bazeaza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una</a:t>
            </a:r>
            <a:r>
              <a:rPr lang="en-US" dirty="0">
                <a:ea typeface="Calibri"/>
                <a:cs typeface="Calibri"/>
              </a:rPr>
              <a:t> de tip 3 tier: </a:t>
            </a:r>
            <a:r>
              <a:rPr lang="en-US" dirty="0" err="1">
                <a:ea typeface="Calibri"/>
                <a:cs typeface="Calibri"/>
              </a:rPr>
              <a:t>mai</a:t>
            </a:r>
            <a:r>
              <a:rPr lang="en-US" dirty="0">
                <a:ea typeface="Calibri"/>
                <a:cs typeface="Calibri"/>
              </a:rPr>
              <a:t> exact </a:t>
            </a:r>
            <a:r>
              <a:rPr lang="en-US" dirty="0" err="1">
                <a:ea typeface="Calibri"/>
                <a:cs typeface="Calibri"/>
              </a:rPr>
              <a:t>layere</a:t>
            </a:r>
            <a:r>
              <a:rPr lang="en-US" dirty="0">
                <a:ea typeface="Calibri"/>
                <a:cs typeface="Calibri"/>
              </a:rPr>
              <a:t> de presentation , application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data</a:t>
            </a:r>
          </a:p>
          <a:p>
            <a:r>
              <a:rPr lang="en-US" dirty="0" err="1">
                <a:ea typeface="Calibri"/>
                <a:cs typeface="Calibri"/>
              </a:rPr>
              <a:t>Nivelul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prezentare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reprezentat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totalitate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serverul</a:t>
            </a:r>
            <a:r>
              <a:rPr lang="en-US" dirty="0">
                <a:ea typeface="Calibri"/>
                <a:cs typeface="Calibri"/>
              </a:rPr>
              <a:t> de angular care are </a:t>
            </a:r>
            <a:r>
              <a:rPr lang="en-US" dirty="0" err="1">
                <a:ea typeface="Calibri"/>
                <a:cs typeface="Calibri"/>
              </a:rPr>
              <a:t>grija</a:t>
            </a:r>
            <a:r>
              <a:rPr lang="en-US" dirty="0">
                <a:ea typeface="Calibri"/>
                <a:cs typeface="Calibri"/>
              </a:rPr>
              <a:t> de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cererile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modificare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datelor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vizualizeze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aceste</a:t>
            </a:r>
            <a:r>
              <a:rPr lang="en-US" dirty="0">
                <a:ea typeface="Calibri"/>
                <a:cs typeface="Calibri"/>
              </a:rPr>
              <a:t> date. </a:t>
            </a:r>
            <a:r>
              <a:rPr lang="en-US" dirty="0" err="1">
                <a:ea typeface="Calibri"/>
                <a:cs typeface="Calibri"/>
              </a:rPr>
              <a:t>Deoarece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utilizatorii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autentificati</a:t>
            </a:r>
            <a:r>
              <a:rPr lang="en-US" dirty="0">
                <a:ea typeface="Calibri"/>
                <a:cs typeface="Calibri"/>
              </a:rPr>
              <a:t> pot </a:t>
            </a:r>
            <a:r>
              <a:rPr lang="en-US" dirty="0" err="1">
                <a:ea typeface="Calibri"/>
                <a:cs typeface="Calibri"/>
              </a:rPr>
              <a:t>dispune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diferite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nevoie</a:t>
            </a:r>
            <a:r>
              <a:rPr lang="en-US" dirty="0">
                <a:ea typeface="Calibri"/>
                <a:cs typeface="Calibri"/>
              </a:rPr>
              <a:t> ca </a:t>
            </a:r>
            <a:r>
              <a:rPr lang="en-US" dirty="0" err="1">
                <a:ea typeface="Calibri"/>
                <a:cs typeface="Calibri"/>
              </a:rPr>
              <a:t>interfata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grafica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accesibila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orice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</a:t>
            </a:r>
            <a:r>
              <a:rPr lang="en-US" dirty="0">
                <a:ea typeface="Calibri"/>
                <a:cs typeface="Calibri"/>
              </a:rPr>
              <a:t>, de </a:t>
            </a:r>
            <a:r>
              <a:rPr lang="en-US" dirty="0" err="1">
                <a:ea typeface="Calibri"/>
                <a:cs typeface="Calibri"/>
              </a:rPr>
              <a:t>aceea</a:t>
            </a:r>
            <a:r>
              <a:rPr lang="en-US" dirty="0">
                <a:ea typeface="Calibri"/>
                <a:cs typeface="Calibri"/>
              </a:rPr>
              <a:t> s-a </a:t>
            </a:r>
            <a:r>
              <a:rPr lang="en-US" dirty="0" err="1">
                <a:ea typeface="Calibri"/>
                <a:cs typeface="Calibri"/>
              </a:rPr>
              <a:t>implementat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cateva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caracteristicii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responsivness</a:t>
            </a:r>
            <a:endParaRPr lang="en-US" dirty="0" err="1"/>
          </a:p>
          <a:p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applicatie</a:t>
            </a:r>
            <a:r>
              <a:rPr lang="en-US" dirty="0"/>
              <a:t>, 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 de backend </a:t>
            </a:r>
            <a:r>
              <a:rPr lang="en-US" dirty="0" err="1"/>
              <a:t>este</a:t>
            </a:r>
            <a:r>
              <a:rPr lang="en-US" dirty="0"/>
              <a:t> </a:t>
            </a:r>
            <a:r>
              <a:rPr lang="en-US" dirty="0" err="1"/>
              <a:t>conturat</a:t>
            </a:r>
            <a:r>
              <a:rPr lang="en-US" dirty="0"/>
              <a:t> de framework-</a:t>
            </a:r>
            <a:r>
              <a:rPr lang="en-US" dirty="0" err="1"/>
              <a:t>ul</a:t>
            </a:r>
            <a:r>
              <a:rPr lang="en-US" dirty="0"/>
              <a:t> flask, care </a:t>
            </a:r>
            <a:r>
              <a:rPr lang="en-US" dirty="0" err="1"/>
              <a:t>defineste</a:t>
            </a:r>
            <a:r>
              <a:rPr lang="en-US" dirty="0"/>
              <a:t> 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  </a:t>
            </a:r>
            <a:r>
              <a:rPr lang="en-US" dirty="0" err="1"/>
              <a:t>stratul</a:t>
            </a:r>
            <a:r>
              <a:rPr lang="en-US" dirty="0"/>
              <a:t> de </a:t>
            </a:r>
            <a:r>
              <a:rPr lang="en-US" dirty="0" err="1"/>
              <a:t>prezentare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aplicatie</a:t>
            </a:r>
            <a:r>
              <a:rPr lang="en-US" dirty="0"/>
              <a:t>, </a:t>
            </a:r>
            <a:r>
              <a:rPr lang="en-US" dirty="0" err="1"/>
              <a:t>punand</a:t>
            </a:r>
            <a:r>
              <a:rPr lang="en-US" dirty="0"/>
              <a:t> la </a:t>
            </a:r>
            <a:r>
              <a:rPr lang="en-US" dirty="0" err="1"/>
              <a:t>dispozitie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endpoint-</a:t>
            </a:r>
            <a:r>
              <a:rPr lang="en-US" dirty="0" err="1"/>
              <a:t>urilor</a:t>
            </a:r>
            <a:r>
              <a:rPr lang="en-US" dirty="0"/>
              <a:t>. Prin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endpoints, 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colaboram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librarii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obtine</a:t>
            </a:r>
            <a:r>
              <a:rPr lang="en-US" dirty="0"/>
              <a:t> </a:t>
            </a:r>
            <a:r>
              <a:rPr lang="en-US" dirty="0" err="1"/>
              <a:t>rezultate</a:t>
            </a:r>
            <a:r>
              <a:rPr lang="en-US" dirty="0"/>
              <a:t> precum, </a:t>
            </a:r>
            <a:r>
              <a:rPr lang="en-US" dirty="0" err="1"/>
              <a:t>identificare</a:t>
            </a:r>
            <a:r>
              <a:rPr lang="en-US" dirty="0"/>
              <a:t>/</a:t>
            </a:r>
            <a:r>
              <a:rPr lang="en-US" dirty="0" err="1"/>
              <a:t>autorizare</a:t>
            </a:r>
            <a:r>
              <a:rPr lang="en-US" dirty="0"/>
              <a:t>/</a:t>
            </a:r>
            <a:r>
              <a:rPr lang="en-US" dirty="0" err="1"/>
              <a:t>manangement</a:t>
            </a:r>
            <a:r>
              <a:rPr lang="en-US" dirty="0"/>
              <a:t> a </a:t>
            </a:r>
            <a:r>
              <a:rPr lang="en-US" dirty="0" err="1"/>
              <a:t>userilor</a:t>
            </a:r>
            <a:r>
              <a:rPr lang="en-US" dirty="0"/>
              <a:t>, </a:t>
            </a:r>
            <a:r>
              <a:rPr lang="en-US" dirty="0" err="1"/>
              <a:t>preluare</a:t>
            </a:r>
            <a:r>
              <a:rPr lang="en-US" dirty="0"/>
              <a:t>/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date.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RPC, care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dispuse</a:t>
            </a:r>
            <a:r>
              <a:rPr lang="en-US" dirty="0"/>
              <a:t> de blockchain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F3D8-05B0-9CD2-A719-245FB567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5BE0A-DBA6-108E-30DE-35EC35BAF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8E6FC-CDCA-2EA7-C9C1-FBB459E20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Intrega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arhitectura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aplicatiei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bazeaza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una</a:t>
            </a:r>
            <a:r>
              <a:rPr lang="en-US" dirty="0">
                <a:ea typeface="Calibri"/>
                <a:cs typeface="Calibri"/>
              </a:rPr>
              <a:t> de tip 3 tier: </a:t>
            </a:r>
            <a:r>
              <a:rPr lang="en-US" dirty="0" err="1">
                <a:ea typeface="Calibri"/>
                <a:cs typeface="Calibri"/>
              </a:rPr>
              <a:t>mai</a:t>
            </a:r>
            <a:r>
              <a:rPr lang="en-US" dirty="0">
                <a:ea typeface="Calibri"/>
                <a:cs typeface="Calibri"/>
              </a:rPr>
              <a:t> exact </a:t>
            </a:r>
            <a:r>
              <a:rPr lang="en-US" dirty="0" err="1">
                <a:ea typeface="Calibri"/>
                <a:cs typeface="Calibri"/>
              </a:rPr>
              <a:t>layere</a:t>
            </a:r>
            <a:r>
              <a:rPr lang="en-US" dirty="0">
                <a:ea typeface="Calibri"/>
                <a:cs typeface="Calibri"/>
              </a:rPr>
              <a:t> de presentation , application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data</a:t>
            </a:r>
          </a:p>
          <a:p>
            <a:r>
              <a:rPr lang="en-US" dirty="0" err="1">
                <a:ea typeface="Calibri"/>
                <a:cs typeface="Calibri"/>
              </a:rPr>
              <a:t>Nivelul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prezentare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reprezentat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totalitate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serverul</a:t>
            </a:r>
            <a:r>
              <a:rPr lang="en-US" dirty="0">
                <a:ea typeface="Calibri"/>
                <a:cs typeface="Calibri"/>
              </a:rPr>
              <a:t> de angular care are </a:t>
            </a:r>
            <a:r>
              <a:rPr lang="en-US" dirty="0" err="1">
                <a:ea typeface="Calibri"/>
                <a:cs typeface="Calibri"/>
              </a:rPr>
              <a:t>grija</a:t>
            </a:r>
            <a:r>
              <a:rPr lang="en-US" dirty="0">
                <a:ea typeface="Calibri"/>
                <a:cs typeface="Calibri"/>
              </a:rPr>
              <a:t> de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cererile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modificare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datelor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vizualizeze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aceste</a:t>
            </a:r>
            <a:r>
              <a:rPr lang="en-US" dirty="0">
                <a:ea typeface="Calibri"/>
                <a:cs typeface="Calibri"/>
              </a:rPr>
              <a:t> date. </a:t>
            </a:r>
            <a:r>
              <a:rPr lang="en-US" dirty="0" err="1">
                <a:ea typeface="Calibri"/>
                <a:cs typeface="Calibri"/>
              </a:rPr>
              <a:t>Deoarece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utilizatorii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autentificati</a:t>
            </a:r>
            <a:r>
              <a:rPr lang="en-US" dirty="0">
                <a:ea typeface="Calibri"/>
                <a:cs typeface="Calibri"/>
              </a:rPr>
              <a:t> pot </a:t>
            </a:r>
            <a:r>
              <a:rPr lang="en-US" dirty="0" err="1">
                <a:ea typeface="Calibri"/>
                <a:cs typeface="Calibri"/>
              </a:rPr>
              <a:t>dispune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diferite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nevoie</a:t>
            </a:r>
            <a:r>
              <a:rPr lang="en-US" dirty="0">
                <a:ea typeface="Calibri"/>
                <a:cs typeface="Calibri"/>
              </a:rPr>
              <a:t> ca </a:t>
            </a:r>
            <a:r>
              <a:rPr lang="en-US" dirty="0" err="1">
                <a:ea typeface="Calibri"/>
                <a:cs typeface="Calibri"/>
              </a:rPr>
              <a:t>interfata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grafica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accesibila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orice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</a:t>
            </a:r>
            <a:r>
              <a:rPr lang="en-US" dirty="0">
                <a:ea typeface="Calibri"/>
                <a:cs typeface="Calibri"/>
              </a:rPr>
              <a:t>, de </a:t>
            </a:r>
            <a:r>
              <a:rPr lang="en-US" dirty="0" err="1">
                <a:ea typeface="Calibri"/>
                <a:cs typeface="Calibri"/>
              </a:rPr>
              <a:t>aceea</a:t>
            </a:r>
            <a:r>
              <a:rPr lang="en-US" dirty="0">
                <a:ea typeface="Calibri"/>
                <a:cs typeface="Calibri"/>
              </a:rPr>
              <a:t> s-a </a:t>
            </a:r>
            <a:r>
              <a:rPr lang="en-US" dirty="0" err="1">
                <a:ea typeface="Calibri"/>
                <a:cs typeface="Calibri"/>
              </a:rPr>
              <a:t>implementat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cateva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caracteristicii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responsivness</a:t>
            </a:r>
            <a:endParaRPr lang="en-US" dirty="0" err="1"/>
          </a:p>
          <a:p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applicatie</a:t>
            </a:r>
            <a:r>
              <a:rPr lang="en-US" dirty="0"/>
              <a:t>, 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 de backend </a:t>
            </a:r>
            <a:r>
              <a:rPr lang="en-US" dirty="0" err="1"/>
              <a:t>este</a:t>
            </a:r>
            <a:r>
              <a:rPr lang="en-US" dirty="0"/>
              <a:t> </a:t>
            </a:r>
            <a:r>
              <a:rPr lang="en-US" dirty="0" err="1"/>
              <a:t>conturat</a:t>
            </a:r>
            <a:r>
              <a:rPr lang="en-US" dirty="0"/>
              <a:t> de framework-</a:t>
            </a:r>
            <a:r>
              <a:rPr lang="en-US" dirty="0" err="1"/>
              <a:t>ul</a:t>
            </a:r>
            <a:r>
              <a:rPr lang="en-US" dirty="0"/>
              <a:t> flask, care </a:t>
            </a:r>
            <a:r>
              <a:rPr lang="en-US" dirty="0" err="1"/>
              <a:t>defineste</a:t>
            </a:r>
            <a:r>
              <a:rPr lang="en-US" dirty="0"/>
              <a:t> 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  </a:t>
            </a:r>
            <a:r>
              <a:rPr lang="en-US" dirty="0" err="1"/>
              <a:t>stratul</a:t>
            </a:r>
            <a:r>
              <a:rPr lang="en-US" dirty="0"/>
              <a:t> de </a:t>
            </a:r>
            <a:r>
              <a:rPr lang="en-US" dirty="0" err="1"/>
              <a:t>prezentare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aplicatie</a:t>
            </a:r>
            <a:r>
              <a:rPr lang="en-US" dirty="0"/>
              <a:t>, </a:t>
            </a:r>
            <a:r>
              <a:rPr lang="en-US" dirty="0" err="1"/>
              <a:t>punand</a:t>
            </a:r>
            <a:r>
              <a:rPr lang="en-US" dirty="0"/>
              <a:t> la </a:t>
            </a:r>
            <a:r>
              <a:rPr lang="en-US" dirty="0" err="1"/>
              <a:t>dispozitie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endpoint-</a:t>
            </a:r>
            <a:r>
              <a:rPr lang="en-US" dirty="0" err="1"/>
              <a:t>urilor</a:t>
            </a:r>
            <a:r>
              <a:rPr lang="en-US" dirty="0"/>
              <a:t>. Prin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endpoints, 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colaboram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librarii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obtine</a:t>
            </a:r>
            <a:r>
              <a:rPr lang="en-US" dirty="0"/>
              <a:t> </a:t>
            </a:r>
            <a:r>
              <a:rPr lang="en-US" dirty="0" err="1"/>
              <a:t>rezultate</a:t>
            </a:r>
            <a:r>
              <a:rPr lang="en-US" dirty="0"/>
              <a:t> precum, </a:t>
            </a:r>
            <a:r>
              <a:rPr lang="en-US" dirty="0" err="1"/>
              <a:t>identificare</a:t>
            </a:r>
            <a:r>
              <a:rPr lang="en-US" dirty="0"/>
              <a:t>/</a:t>
            </a:r>
            <a:r>
              <a:rPr lang="en-US" dirty="0" err="1"/>
              <a:t>autorizare</a:t>
            </a:r>
            <a:r>
              <a:rPr lang="en-US" dirty="0"/>
              <a:t>/</a:t>
            </a:r>
            <a:r>
              <a:rPr lang="en-US" dirty="0" err="1"/>
              <a:t>manangement</a:t>
            </a:r>
            <a:r>
              <a:rPr lang="en-US" dirty="0"/>
              <a:t> a </a:t>
            </a:r>
            <a:r>
              <a:rPr lang="en-US" dirty="0" err="1"/>
              <a:t>userilor</a:t>
            </a:r>
            <a:r>
              <a:rPr lang="en-US" dirty="0"/>
              <a:t>, </a:t>
            </a:r>
            <a:r>
              <a:rPr lang="en-US" dirty="0" err="1"/>
              <a:t>preluare</a:t>
            </a:r>
            <a:r>
              <a:rPr lang="en-US" dirty="0"/>
              <a:t>/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date.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RPC, care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dispuse</a:t>
            </a:r>
            <a:r>
              <a:rPr lang="en-US" dirty="0"/>
              <a:t> de blockchain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EBEED-1887-7183-B53B-F805F734B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65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88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825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08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16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38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9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52652-7F16-594D-3FF8-DA3C1A30C5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33250" y="6672580"/>
            <a:ext cx="347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o-RO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853" y="1499257"/>
            <a:ext cx="10996245" cy="1773442"/>
          </a:xfrm>
        </p:spPr>
        <p:txBody>
          <a:bodyPr>
            <a:noAutofit/>
          </a:bodyPr>
          <a:lstStyle/>
          <a:p>
            <a:r>
              <a:rPr lang="ro-RO" sz="4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Protocol de autentificare OAuth cu Schnorr ZKP: Securitate fără partajare de secrete</a:t>
            </a:r>
            <a:endParaRPr lang="en-US" sz="4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854887"/>
            <a:ext cx="9144000" cy="1626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Autor: Matei </a:t>
            </a:r>
            <a:r>
              <a:rPr lang="en-US" sz="3400" dirty="0" err="1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Rar</a:t>
            </a:r>
            <a:r>
              <a:rPr lang="ro-RO" sz="34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eș</a:t>
            </a:r>
            <a:endParaRPr lang="en-US" sz="3400" dirty="0">
              <a:solidFill>
                <a:schemeClr val="tx1"/>
              </a:solidFill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 </a:t>
            </a:r>
            <a:r>
              <a:rPr lang="en-US" sz="3000" dirty="0" err="1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Coordonator</a:t>
            </a:r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: </a:t>
            </a:r>
            <a:r>
              <a:rPr lang="ro-RO" sz="30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Ș</a:t>
            </a:r>
            <a:r>
              <a:rPr lang="en-US" sz="30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.l.dr.inf. </a:t>
            </a:r>
            <a:r>
              <a:rPr lang="ro-RO" sz="30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Silviu-Dumitru Pavăl</a:t>
            </a:r>
            <a:endParaRPr lang="en-US" sz="3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D86A2-82CE-48F4-B78A-8B9CA7BA2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F7962E0-01F2-14CC-F2FC-B38CCB9DDAA7}"/>
              </a:ext>
            </a:extLst>
          </p:cNvPr>
          <p:cNvSpPr txBox="1">
            <a:spLocks/>
          </p:cNvSpPr>
          <p:nvPr/>
        </p:nvSpPr>
        <p:spPr>
          <a:xfrm>
            <a:off x="101600" y="96861"/>
            <a:ext cx="12000753" cy="1445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UNIVERSITATEA TEHNIC</a:t>
            </a:r>
            <a:r>
              <a:rPr lang="ro-RO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Ă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"GHEORGHE ASACHI" </a:t>
            </a:r>
            <a:r>
              <a:rPr lang="ro-RO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DIN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IA</a:t>
            </a:r>
            <a:r>
              <a:rPr lang="ro-RO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Ș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FACULTATEA DE AUTOMATIC</a:t>
            </a:r>
            <a:r>
              <a:rPr lang="ro-RO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Ă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o-RO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Ș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CALCULATOARE</a:t>
            </a:r>
          </a:p>
          <a:p>
            <a:pPr algn="l"/>
            <a:r>
              <a:rPr lang="ro-RO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MASTER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SECURITATEA SPA</a:t>
            </a:r>
            <a:r>
              <a:rPr lang="ro-RO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ȚIULUI CIBERNETIC</a:t>
            </a:r>
            <a:endParaRPr lang="en-US" sz="2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00F76-CD7C-E1FB-AB7C-A99781E180B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4A1D1-DD07-4DD2-A527-4B1F52D6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89" y="637426"/>
            <a:ext cx="3224334" cy="5583148"/>
          </a:xfrm>
        </p:spPr>
        <p:txBody>
          <a:bodyPr anchor="ctr">
            <a:normAutofit/>
          </a:bodyPr>
          <a:lstStyle/>
          <a:p>
            <a:pPr algn="ctr"/>
            <a:r>
              <a:rPr lang="en-US" sz="4600" dirty="0">
                <a:latin typeface="Segoe UI" panose="020B0502040204020203" pitchFamily="34" charset="0"/>
                <a:cs typeface="Segoe UI" panose="020B0502040204020203" pitchFamily="34" charset="0"/>
              </a:rPr>
              <a:t>CUPRINS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6622B23-9721-51A9-FC31-71F24C920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71451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D3E9C2-C04C-0F2D-692E-1AD315519A60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2/1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4284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0BD06-8C44-4B53-4427-3B713EC40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0955" y="273559"/>
            <a:ext cx="5186635" cy="1156063"/>
          </a:xfrm>
        </p:spPr>
        <p:txBody>
          <a:bodyPr>
            <a:normAutofit/>
          </a:bodyPr>
          <a:lstStyle/>
          <a:p>
            <a:pPr algn="ctr"/>
            <a:r>
              <a:rPr lang="en-US" sz="4600" dirty="0">
                <a:latin typeface="Segoe UI" panose="020B0502040204020203" pitchFamily="34" charset="0"/>
                <a:cs typeface="Segoe UI" panose="020B0502040204020203" pitchFamily="34" charset="0"/>
              </a:rPr>
              <a:t>INTRODUCERE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729FF-5975-FD7C-789A-1AEE76333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272" y="1131829"/>
            <a:ext cx="5804747" cy="4534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62ECF6-A819-3E9E-1093-2F6C2AAE4784}"/>
              </a:ext>
            </a:extLst>
          </p:cNvPr>
          <p:cNvSpPr txBox="1"/>
          <p:nvPr/>
        </p:nvSpPr>
        <p:spPr>
          <a:xfrm>
            <a:off x="4157282" y="1585325"/>
            <a:ext cx="7376674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Autentificarea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Oauth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clasica</a:t>
            </a:r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: secret partajat transmis către server</a:t>
            </a:r>
          </a:p>
          <a:p>
            <a:pPr lvl="0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HTTPS: reduce interceptarea, nu elimină vulnerabilitățile structurale (breșe DB, reutilizare parole,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SNDL</a:t>
            </a:r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endParaRPr lang="ro-RO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o-RO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US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olutie</a:t>
            </a:r>
            <a:r>
              <a:rPr lang="ro-RO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Protocol de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autentificare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f</a:t>
            </a:r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ără transmiterea parolei către server,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Schnorr</a:t>
            </a:r>
          </a:p>
          <a:p>
            <a:pPr lvl="0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Formular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pentru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aplicatii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web</a:t>
            </a:r>
          </a:p>
          <a:p>
            <a:pPr lvl="0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Referință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cu</a:t>
            </a:r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 OAuth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protocoale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ZKP (</a:t>
            </a:r>
            <a:r>
              <a:rPr lang="ro-RO" sz="2400" dirty="0">
                <a:latin typeface="Segoe UI" panose="020B0502040204020203" pitchFamily="34" charset="0"/>
                <a:cs typeface="Segoe UI" panose="020B0502040204020203" pitchFamily="34" charset="0"/>
              </a:rPr>
              <a:t>SRP-6a, zk-SNARK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ro-RO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348B2-D7B5-1AA6-2804-C78B2BE0BC56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3/1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E8D644-4385-EC2B-E49B-8FE2B5E00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3" y="87038"/>
            <a:ext cx="3712518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46BD37-9508-797C-9FEF-C8B83752F1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20"/>
          <a:stretch>
            <a:fillRect/>
          </a:stretch>
        </p:blipFill>
        <p:spPr>
          <a:xfrm>
            <a:off x="-1285" y="3179858"/>
            <a:ext cx="4137449" cy="318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2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4136B-9F2E-13CB-B5EB-9DFB5BE9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 dirty="0">
                <a:solidFill>
                  <a:schemeClr val="accent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TEHNOLOGII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BC7A7E-4787-9817-5E5A-4C05B537B66D}"/>
              </a:ext>
            </a:extLst>
          </p:cNvPr>
          <p:cNvSpPr/>
          <p:nvPr/>
        </p:nvSpPr>
        <p:spPr>
          <a:xfrm>
            <a:off x="6545797" y="2791731"/>
            <a:ext cx="4808002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28" name="Picture 27" descr="A blue and yellow snake logo&#10;&#10;Description automatically generated">
            <a:extLst>
              <a:ext uri="{FF2B5EF4-FFF2-40B4-BE49-F238E27FC236}">
                <a16:creationId xmlns:a16="http://schemas.microsoft.com/office/drawing/2014/main" id="{0A3897FA-F6FE-056B-B963-533A3AD6A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729" y="2923258"/>
            <a:ext cx="767252" cy="78080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0897546-D232-D941-A3A2-E8F99ABF53F3}"/>
              </a:ext>
            </a:extLst>
          </p:cNvPr>
          <p:cNvSpPr txBox="1"/>
          <p:nvPr/>
        </p:nvSpPr>
        <p:spPr>
          <a:xfrm>
            <a:off x="7373803" y="4057342"/>
            <a:ext cx="337310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Python ( Flask, Locust )</a:t>
            </a:r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r>
              <a:rPr lang="ro-RO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L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imbaj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flexibil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pentru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ro-RO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î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mbinarea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mai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multor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biblioteci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2EB53D-23CC-A904-55E9-013C593195F3}"/>
              </a:ext>
            </a:extLst>
          </p:cNvPr>
          <p:cNvSpPr txBox="1"/>
          <p:nvPr/>
        </p:nvSpPr>
        <p:spPr>
          <a:xfrm>
            <a:off x="1273963" y="4052706"/>
            <a:ext cx="419471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Javascript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, HTML, CSS</a:t>
            </a:r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Compatibilitate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si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standardizare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yellow rectangular sign with black letters&#10;&#10;AI-generated content may be incorrect.">
            <a:extLst>
              <a:ext uri="{FF2B5EF4-FFF2-40B4-BE49-F238E27FC236}">
                <a16:creationId xmlns:a16="http://schemas.microsoft.com/office/drawing/2014/main" id="{EEAF6460-3DE8-BDF4-089C-C1D1042D6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000" y="2942478"/>
            <a:ext cx="705732" cy="705732"/>
          </a:xfrm>
          <a:prstGeom prst="rect">
            <a:avLst/>
          </a:prstGeom>
        </p:spPr>
      </p:pic>
      <p:pic>
        <p:nvPicPr>
          <p:cNvPr id="7" name="Picture 6" descr="A logo of a software company&#10;&#10;AI-generated content may be incorrect.">
            <a:extLst>
              <a:ext uri="{FF2B5EF4-FFF2-40B4-BE49-F238E27FC236}">
                <a16:creationId xmlns:a16="http://schemas.microsoft.com/office/drawing/2014/main" id="{2852E522-DF8E-37E4-FC35-15A070334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019" y="2954646"/>
            <a:ext cx="718035" cy="71803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4D29EE-93B4-79A9-23BA-9FBD793BB775}"/>
              </a:ext>
            </a:extLst>
          </p:cNvPr>
          <p:cNvSpPr/>
          <p:nvPr/>
        </p:nvSpPr>
        <p:spPr>
          <a:xfrm>
            <a:off x="868898" y="2791731"/>
            <a:ext cx="4808002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8A4422DF-FFD6-3855-F13D-FB0FE6DEB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341" y="2954646"/>
            <a:ext cx="718035" cy="7180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942F56-349B-4DE4-70EC-AA04DBB2CED1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4/1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3627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83CD-059C-4A3C-8337-1053A066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14" y="891176"/>
            <a:ext cx="4215543" cy="125505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>
                <a:latin typeface="Segoe UI" panose="020B0502040204020203" pitchFamily="34" charset="0"/>
                <a:cs typeface="Segoe UI" panose="020B0502040204020203" pitchFamily="34" charset="0"/>
              </a:rPr>
              <a:t>ARHITECTURA</a:t>
            </a:r>
          </a:p>
        </p:txBody>
      </p:sp>
      <p:pic>
        <p:nvPicPr>
          <p:cNvPr id="32" name="Graphic 31" descr="Smart Phone with solid fill">
            <a:extLst>
              <a:ext uri="{FF2B5EF4-FFF2-40B4-BE49-F238E27FC236}">
                <a16:creationId xmlns:a16="http://schemas.microsoft.com/office/drawing/2014/main" id="{DF2E0BCD-417C-98ED-9C0D-D48265E98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6757" y="469050"/>
            <a:ext cx="914400" cy="914400"/>
          </a:xfrm>
          <a:prstGeom prst="rect">
            <a:avLst/>
          </a:prstGeom>
        </p:spPr>
      </p:pic>
      <p:pic>
        <p:nvPicPr>
          <p:cNvPr id="33" name="Graphic 32" descr="Laptop with solid fill">
            <a:extLst>
              <a:ext uri="{FF2B5EF4-FFF2-40B4-BE49-F238E27FC236}">
                <a16:creationId xmlns:a16="http://schemas.microsoft.com/office/drawing/2014/main" id="{4DC2E59C-1C9D-285F-FAE2-A5DDEAF791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2824" y="468578"/>
            <a:ext cx="914400" cy="914400"/>
          </a:xfrm>
          <a:prstGeom prst="rect">
            <a:avLst/>
          </a:prstGeom>
        </p:spPr>
      </p:pic>
      <p:pic>
        <p:nvPicPr>
          <p:cNvPr id="34" name="Graphic 33" descr="Computer with solid fill">
            <a:extLst>
              <a:ext uri="{FF2B5EF4-FFF2-40B4-BE49-F238E27FC236}">
                <a16:creationId xmlns:a16="http://schemas.microsoft.com/office/drawing/2014/main" id="{EECC5E2E-78D0-014C-055B-B25C821D54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21051" y="468107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79A313-4809-C65C-0797-CE09770F07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2104" y="4687764"/>
            <a:ext cx="477592" cy="56244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F645EE-B320-AB28-01EE-1E034DE44506}"/>
              </a:ext>
            </a:extLst>
          </p:cNvPr>
          <p:cNvSpPr/>
          <p:nvPr/>
        </p:nvSpPr>
        <p:spPr>
          <a:xfrm>
            <a:off x="6786281" y="263648"/>
            <a:ext cx="3729316" cy="125505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75D82D-108A-B56B-6A71-B6FBC2CB3D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795" y="2333923"/>
            <a:ext cx="4531360" cy="354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E6D6C0-065E-9F10-2577-57843F2AA1EA}"/>
              </a:ext>
            </a:extLst>
          </p:cNvPr>
          <p:cNvSpPr txBox="1"/>
          <p:nvPr/>
        </p:nvSpPr>
        <p:spPr>
          <a:xfrm>
            <a:off x="188044" y="2859216"/>
            <a:ext cx="6598238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Prezentare: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 interfață web statică, calcule ZKP locale</a:t>
            </a:r>
          </a:p>
          <a:p>
            <a:r>
              <a:rPr lang="ro-RO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Aplicație (Flask):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 validare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autentificare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user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, emitere JWT, 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ession 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inding</a:t>
            </a:r>
          </a:p>
          <a:p>
            <a:r>
              <a:rPr lang="ro-RO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Date (SQLite):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 User, Token, Perso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nalized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Data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88D8D8-46AF-EEA9-D5B9-EE9F7114BCCF}"/>
              </a:ext>
            </a:extLst>
          </p:cNvPr>
          <p:cNvCxnSpPr>
            <a:cxnSpLocks/>
            <a:stCxn id="9" idx="2"/>
            <a:endCxn id="31" idx="0"/>
          </p:cNvCxnSpPr>
          <p:nvPr/>
        </p:nvCxnSpPr>
        <p:spPr>
          <a:xfrm>
            <a:off x="8650939" y="1518706"/>
            <a:ext cx="1083370" cy="13853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B8416F-BB84-3F70-9FF6-48A9C8728502}"/>
              </a:ext>
            </a:extLst>
          </p:cNvPr>
          <p:cNvCxnSpPr>
            <a:cxnSpLocks/>
            <a:stCxn id="31" idx="2"/>
            <a:endCxn id="6" idx="0"/>
          </p:cNvCxnSpPr>
          <p:nvPr/>
        </p:nvCxnSpPr>
        <p:spPr>
          <a:xfrm flipH="1">
            <a:off x="9730900" y="4159079"/>
            <a:ext cx="3409" cy="5286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18451E82-5D06-D5A8-211B-AE8D2F5404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9846" y="3292392"/>
            <a:ext cx="747223" cy="7210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D9DDDE-5CE8-FA19-6A86-8857E68059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4509" y="3292392"/>
            <a:ext cx="747223" cy="72109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F0B8E5-44FC-08C3-2FD0-A9DA8674B2FD}"/>
              </a:ext>
            </a:extLst>
          </p:cNvPr>
          <p:cNvCxnSpPr>
            <a:cxnSpLocks/>
            <a:stCxn id="9" idx="2"/>
            <a:endCxn id="38" idx="0"/>
          </p:cNvCxnSpPr>
          <p:nvPr/>
        </p:nvCxnSpPr>
        <p:spPr>
          <a:xfrm flipH="1">
            <a:off x="7792866" y="1518706"/>
            <a:ext cx="858073" cy="1422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DF2D47-20BF-57CA-E08D-5E17925999E0}"/>
              </a:ext>
            </a:extLst>
          </p:cNvPr>
          <p:cNvCxnSpPr>
            <a:cxnSpLocks/>
            <a:stCxn id="39" idx="2"/>
            <a:endCxn id="30" idx="0"/>
          </p:cNvCxnSpPr>
          <p:nvPr/>
        </p:nvCxnSpPr>
        <p:spPr>
          <a:xfrm flipH="1">
            <a:off x="7749408" y="4169136"/>
            <a:ext cx="1" cy="518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C5BD977-222C-2EA5-1895-700A70FEB5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0612" y="4687764"/>
            <a:ext cx="477592" cy="562441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A62A02-D5C8-0CA9-396D-D4393953EC2E}"/>
              </a:ext>
            </a:extLst>
          </p:cNvPr>
          <p:cNvSpPr/>
          <p:nvPr/>
        </p:nvSpPr>
        <p:spPr>
          <a:xfrm>
            <a:off x="9090195" y="2904021"/>
            <a:ext cx="1288227" cy="125505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23BD85-5681-835A-7EA3-4B26BDB0206E}"/>
              </a:ext>
            </a:extLst>
          </p:cNvPr>
          <p:cNvSpPr txBox="1"/>
          <p:nvPr/>
        </p:nvSpPr>
        <p:spPr>
          <a:xfrm>
            <a:off x="9369263" y="291407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 </a:t>
            </a:r>
            <a:endParaRPr lang="ro-RO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63534E-8172-D47F-B6D6-02418F375ECC}"/>
              </a:ext>
            </a:extLst>
          </p:cNvPr>
          <p:cNvSpPr txBox="1"/>
          <p:nvPr/>
        </p:nvSpPr>
        <p:spPr>
          <a:xfrm>
            <a:off x="7174748" y="2941459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 </a:t>
            </a:r>
            <a:endParaRPr lang="ro-RO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3BAF630-C997-1CE1-A907-07AC1771F849}"/>
              </a:ext>
            </a:extLst>
          </p:cNvPr>
          <p:cNvSpPr/>
          <p:nvPr/>
        </p:nvSpPr>
        <p:spPr>
          <a:xfrm>
            <a:off x="7105295" y="2914078"/>
            <a:ext cx="1288227" cy="125505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6F48FA-9049-C4CD-6C83-F16B6ADA4FD9}"/>
              </a:ext>
            </a:extLst>
          </p:cNvPr>
          <p:cNvSpPr txBox="1"/>
          <p:nvPr/>
        </p:nvSpPr>
        <p:spPr>
          <a:xfrm>
            <a:off x="7379846" y="2141598"/>
            <a:ext cx="84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</a:t>
            </a:r>
            <a:endParaRPr lang="ro-RO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106221-A891-8DFD-1DAC-157207D1DA97}"/>
              </a:ext>
            </a:extLst>
          </p:cNvPr>
          <p:cNvSpPr txBox="1"/>
          <p:nvPr/>
        </p:nvSpPr>
        <p:spPr>
          <a:xfrm>
            <a:off x="9277605" y="2123050"/>
            <a:ext cx="84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</a:t>
            </a:r>
            <a:endParaRPr lang="ro-RO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F16CF1-E1E3-05AD-8DCF-CC23A0A567AF}"/>
              </a:ext>
            </a:extLst>
          </p:cNvPr>
          <p:cNvSpPr txBox="1"/>
          <p:nvPr/>
        </p:nvSpPr>
        <p:spPr>
          <a:xfrm>
            <a:off x="8202738" y="277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  <a:endParaRPr lang="ro-RO" dirty="0"/>
          </a:p>
        </p:txBody>
      </p:sp>
      <p:pic>
        <p:nvPicPr>
          <p:cNvPr id="10" name="Picture 9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FD58C879-F46D-75DB-FA5F-F50A227733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4833" y="5339294"/>
            <a:ext cx="1586836" cy="1313606"/>
          </a:xfrm>
          <a:prstGeom prst="rect">
            <a:avLst/>
          </a:prstGeom>
        </p:spPr>
      </p:pic>
      <p:pic>
        <p:nvPicPr>
          <p:cNvPr id="26" name="Picture 25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37CC19A0-CB2B-07C4-9269-3609F23704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4147" y="5339294"/>
            <a:ext cx="1586837" cy="13136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EDD577-AD6C-6820-9CCC-076D8119D81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5/1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9197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04D3A-EBED-77BA-58C5-5D8A98EF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14CC-2555-1229-BBFC-641DF8A0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15" y="891177"/>
            <a:ext cx="3922776" cy="91089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>
                <a:latin typeface="Segoe UI" panose="020B0502040204020203" pitchFamily="34" charset="0"/>
                <a:cs typeface="Segoe UI" panose="020B0502040204020203" pitchFamily="34" charset="0"/>
              </a:rPr>
              <a:t>Schnorr</a:t>
            </a:r>
            <a:br>
              <a:rPr lang="en-US" sz="4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600" dirty="0" err="1">
                <a:latin typeface="Segoe UI" panose="020B0502040204020203" pitchFamily="34" charset="0"/>
                <a:cs typeface="Segoe UI" panose="020B0502040204020203" pitchFamily="34" charset="0"/>
              </a:rPr>
              <a:t>interactiv</a:t>
            </a:r>
            <a:endParaRPr lang="en-US" sz="4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4FFF37B-4DC4-DEB7-F000-5113EFCF13F6}"/>
                  </a:ext>
                </a:extLst>
              </p:cNvPr>
              <p:cNvSpPr txBox="1"/>
              <p:nvPr/>
            </p:nvSpPr>
            <p:spPr>
              <a:xfrm>
                <a:off x="4896212" y="96860"/>
                <a:ext cx="7810039" cy="290368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sz="3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Parametrii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</a:p>
              <a:p>
                <a:pPr lvl="0"/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 - </a:t>
                </a:r>
                <a:r>
                  <a:rPr lang="en-US" sz="3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numar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prim 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mare </a:t>
                </a:r>
              </a:p>
              <a:p>
                <a:pPr lvl="0"/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Q - factor prim mare al </a:t>
                </a:r>
                <a:r>
                  <a:rPr lang="en-US" sz="3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lui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P-1 </a:t>
                </a:r>
              </a:p>
              <a:p>
                <a:pPr lvl="0"/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G - generator </a:t>
                </a:r>
                <a:r>
                  <a:rPr lang="en-US" sz="3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unde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G 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∈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(1, P-1), h 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∈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(1,P-1) </a:t>
                </a:r>
              </a:p>
              <a:p>
                <a:pPr lvl="0"/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a.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î.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G </a:t>
                </a:r>
                <a:r>
                  <a:rPr lang="ro-RO" sz="3000" kern="0" dirty="0"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≡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h</a:t>
                </a:r>
                <a:r>
                  <a:rPr lang="en-US" sz="3000" baseline="40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(P-1)/Q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mod P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și 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G</a:t>
                </a:r>
                <a:r>
                  <a:rPr lang="en-US" sz="3000" baseline="40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Q</a:t>
                </a:r>
                <a:r>
                  <a:rPr lang="ro-RO" sz="3000" kern="0" dirty="0">
                    <a:latin typeface="Segoe UI" panose="020B0502040204020203" pitchFamily="34" charset="0"/>
                    <a:ea typeface="Times New Roman" panose="02020603050405020304" pitchFamily="18" charset="0"/>
                    <a:cs typeface="Segoe UI" panose="020B0502040204020203" pitchFamily="34" charset="0"/>
                  </a:rPr>
                  <a:t> ≡ 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mod P</a:t>
                </a:r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</a:t>
                </a:r>
                <a:endParaRPr lang="ro-RO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0"/>
                <a:r>
                  <a:rPr lang="en-US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x, r, c -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3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aleatoriu</a:t>
                </a:r>
                <a:r>
                  <a:rPr lang="ro-RO" sz="3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din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0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𝑍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𝑄</m:t>
                        </m:r>
                      </m:sub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4FFF37B-4DC4-DEB7-F000-5113EFCF1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212" y="96860"/>
                <a:ext cx="7810039" cy="2903680"/>
              </a:xfrm>
              <a:prstGeom prst="rect">
                <a:avLst/>
              </a:prstGeom>
              <a:blipFill>
                <a:blip r:embed="rId3"/>
                <a:stretch>
                  <a:fillRect l="-1795" t="-2731" b="-399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F7E5D28-DA20-97BD-168A-FC81F1B24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52" y="2358543"/>
            <a:ext cx="4531360" cy="3540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3C7C1D-3CB7-2FCB-EE86-BDDE6C6DCB3F}"/>
              </a:ext>
            </a:extLst>
          </p:cNvPr>
          <p:cNvSpPr txBox="1"/>
          <p:nvPr/>
        </p:nvSpPr>
        <p:spPr>
          <a:xfrm>
            <a:off x="189054" y="3065814"/>
            <a:ext cx="6414946" cy="3616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tabLst>
                <a:tab pos="457200" algn="l"/>
              </a:tabLst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ro-RO" sz="3000" dirty="0">
                <a:latin typeface="Segoe UI" panose="020B0502040204020203" pitchFamily="34" charset="0"/>
                <a:cs typeface="Segoe UI" panose="020B0502040204020203" pitchFamily="34" charset="0"/>
              </a:rPr>
              <a:t>roblema logaritmului discret (DLP)</a:t>
            </a:r>
            <a:endParaRPr lang="en-US" sz="3000" kern="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Chei</a:t>
            </a:r>
            <a:r>
              <a:rPr lang="en-US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: y =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G</a:t>
            </a:r>
            <a:r>
              <a:rPr lang="en-US" sz="3000" baseline="40000" dirty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(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mod P</a:t>
            </a:r>
            <a:r>
              <a:rPr lang="en-US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endParaRPr lang="ro-RO" sz="30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Angajament: t = 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lang="en-US" sz="3000" baseline="40000" dirty="0"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(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mod P</a:t>
            </a:r>
            <a:r>
              <a:rPr lang="en-US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endParaRPr lang="ro-RO" sz="30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Provocare: c </a:t>
            </a:r>
            <a:endParaRPr lang="en-US" sz="3000" kern="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Răspuns: s = (r + c * x) </a:t>
            </a:r>
            <a:r>
              <a:rPr lang="en-US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(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mod Q</a:t>
            </a:r>
            <a:r>
              <a:rPr lang="en-US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endParaRPr lang="ro-RO" sz="30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Verificare: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lang="en-US" sz="3000" baseline="40000" dirty="0" err="1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≡ t * </a:t>
            </a:r>
            <a:r>
              <a:rPr lang="en-US" sz="30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y</a:t>
            </a:r>
            <a:r>
              <a:rPr lang="en-US" sz="3000" kern="0" baseline="4000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</a:t>
            </a:r>
            <a:r>
              <a:rPr lang="en-US" sz="3000" baseline="40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o-RO" sz="3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(mod P)</a:t>
            </a:r>
            <a:endParaRPr lang="ro-RO" sz="30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E5C7A-3AFE-EF86-8A0A-5D8F8E92C87A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6/1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0263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175214" y="237500"/>
            <a:ext cx="3560540" cy="5905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4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Inregistrarea</a:t>
            </a:r>
            <a:endParaRPr lang="en-US" sz="4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3BA8C525-CB70-5211-F2C5-3611B8CBA7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4F9AC-1A88-237E-F326-180BA0E7A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73" y="1390842"/>
            <a:ext cx="3041004" cy="3291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89FDEC-995C-81BE-524F-21E8A84A3E4E}"/>
              </a:ext>
            </a:extLst>
          </p:cNvPr>
          <p:cNvSpPr txBox="1"/>
          <p:nvPr/>
        </p:nvSpPr>
        <p:spPr>
          <a:xfrm>
            <a:off x="145312" y="2162616"/>
            <a:ext cx="3144965" cy="376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US" sz="2500" b="1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500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introduce </a:t>
            </a:r>
            <a:r>
              <a:rPr lang="en-US" sz="2500" kern="0" dirty="0" err="1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creden</a:t>
            </a:r>
            <a:r>
              <a:rPr lang="ro-RO" sz="2500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țiale</a:t>
            </a:r>
            <a:endParaRPr lang="en-US" sz="2500" kern="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ro-RO" sz="25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25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  <a:r>
              <a:rPr lang="ro-RO" sz="25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derivare x </a:t>
            </a:r>
            <a:r>
              <a:rPr lang="en-US" sz="25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lang="ro-RO" sz="25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parol</a:t>
            </a:r>
            <a:r>
              <a:rPr lang="en-US" sz="25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en-US" sz="25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calculeaza</a:t>
            </a:r>
            <a:r>
              <a:rPr lang="en-US" sz="25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25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trimis</a:t>
            </a:r>
            <a:r>
              <a:rPr lang="en-US" sz="25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sz="25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ro-RO" sz="2500" b="1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Server</a:t>
            </a:r>
            <a:r>
              <a:rPr lang="en-US" sz="2500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2500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verificare</a:t>
            </a:r>
            <a:r>
              <a:rPr lang="en-US" sz="2500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500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US" sz="2500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500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salvare</a:t>
            </a:r>
            <a:r>
              <a:rPr lang="en-US" sz="2500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ro-RO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ED352B-1402-6FCE-054D-C6766DCF3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769" y="-40255"/>
            <a:ext cx="10169747" cy="72433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9290B5-58D2-C0EF-D403-CAB516D31150}"/>
              </a:ext>
            </a:extLst>
          </p:cNvPr>
          <p:cNvSpPr txBox="1"/>
          <p:nvPr/>
        </p:nvSpPr>
        <p:spPr>
          <a:xfrm>
            <a:off x="0" y="6457890"/>
            <a:ext cx="811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7/1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5273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1372-6395-69E3-BED3-27CC790E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7ECF2727-B90F-1564-DDED-7943C2847F98}"/>
              </a:ext>
            </a:extLst>
          </p:cNvPr>
          <p:cNvSpPr txBox="1">
            <a:spLocks/>
          </p:cNvSpPr>
          <p:nvPr/>
        </p:nvSpPr>
        <p:spPr>
          <a:xfrm>
            <a:off x="465681" y="190100"/>
            <a:ext cx="351235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4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Autentificare</a:t>
            </a:r>
            <a:endParaRPr lang="en-US" sz="4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4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commit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7585E611-8627-7454-1E6D-A3FC3AB2BD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B16AC-3E09-8828-9BF5-DBDF4622FC8A}"/>
              </a:ext>
            </a:extLst>
          </p:cNvPr>
          <p:cNvSpPr txBox="1"/>
          <p:nvPr/>
        </p:nvSpPr>
        <p:spPr>
          <a:xfrm>
            <a:off x="0" y="2069405"/>
            <a:ext cx="48220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introduce </a:t>
            </a:r>
            <a:r>
              <a:rPr lang="en-US" sz="3000" kern="0" dirty="0" err="1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creden</a:t>
            </a:r>
            <a:r>
              <a:rPr lang="ro-RO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țiale</a:t>
            </a:r>
            <a:endParaRPr lang="en-US" sz="3000" kern="0" dirty="0"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o-RO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Client App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trimite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angajament</a:t>
            </a: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verifica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o-RO" sz="3000" noProof="0" dirty="0">
                <a:latin typeface="Segoe UI" panose="020B0502040204020203" pitchFamily="34" charset="0"/>
                <a:cs typeface="Segoe UI" panose="020B0502040204020203" pitchFamily="34" charset="0"/>
              </a:rPr>
              <a:t>creeaza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sesiunea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raspunde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cu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provocarea</a:t>
            </a:r>
            <a:endParaRPr lang="ro-RO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8150F-556B-DDBB-8577-1DA305AF9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77" y="-70338"/>
            <a:ext cx="8359604" cy="71937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F46AFF-0257-0B90-1A7E-133B3A40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73" y="1390842"/>
            <a:ext cx="3041004" cy="3291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851D36-909F-02BF-4B14-2AF555E23440}"/>
              </a:ext>
            </a:extLst>
          </p:cNvPr>
          <p:cNvSpPr txBox="1"/>
          <p:nvPr/>
        </p:nvSpPr>
        <p:spPr>
          <a:xfrm>
            <a:off x="0" y="6457890"/>
            <a:ext cx="811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8/1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691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25C9-96FD-1087-3BD7-F4579CCC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1E2FC0FE-4730-29F1-040F-02A538621C6C}"/>
              </a:ext>
            </a:extLst>
          </p:cNvPr>
          <p:cNvSpPr txBox="1"/>
          <p:nvPr/>
        </p:nvSpPr>
        <p:spPr>
          <a:xfrm>
            <a:off x="0" y="6457890"/>
            <a:ext cx="811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9/1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521CA239-BB09-99B6-2184-363FF9885B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D84BB7B5-60BB-8ED2-88B1-ADD5D4F38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822" y="152400"/>
            <a:ext cx="933598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DCCB27-1BBB-EA6E-CC4F-1E997C15EF09}"/>
              </a:ext>
            </a:extLst>
          </p:cNvPr>
          <p:cNvSpPr txBox="1"/>
          <p:nvPr/>
        </p:nvSpPr>
        <p:spPr>
          <a:xfrm>
            <a:off x="212558" y="2334555"/>
            <a:ext cx="351538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o-RO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Client App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calculeaza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solutia</a:t>
            </a: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verifica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valideaza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solutia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3000" dirty="0" err="1">
                <a:latin typeface="Segoe UI" panose="020B0502040204020203" pitchFamily="34" charset="0"/>
                <a:cs typeface="Segoe UI" panose="020B0502040204020203" pitchFamily="34" charset="0"/>
              </a:rPr>
              <a:t>returneaza</a:t>
            </a: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 token</a:t>
            </a:r>
            <a:endParaRPr lang="ro-RO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E06B80-ADA2-A43C-E1DA-7C4966937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73" y="1390842"/>
            <a:ext cx="3041004" cy="3291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8B367E3-17E7-28D0-9AE1-9271B82F147A}"/>
              </a:ext>
            </a:extLst>
          </p:cNvPr>
          <p:cNvSpPr txBox="1">
            <a:spLocks/>
          </p:cNvSpPr>
          <p:nvPr/>
        </p:nvSpPr>
        <p:spPr>
          <a:xfrm>
            <a:off x="465681" y="190100"/>
            <a:ext cx="351235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4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Autentificare</a:t>
            </a:r>
            <a:endParaRPr lang="en-US" sz="4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4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325832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845B5-45BA-6730-6415-00B70A56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AA1D982F-A7D8-AAD4-5C9D-C022EED052FE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10/1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14F74A77-0E26-5316-18BD-9564FB875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C424B6-ABAA-FE83-FA31-6E5D7DA2E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679" y="0"/>
            <a:ext cx="9939675" cy="62601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B0F421-FD4A-62F6-8F73-74FDB8E2B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73" y="1555414"/>
            <a:ext cx="3041004" cy="32914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193A0FD-0F0B-04C2-DB2A-D86FCB8306C1}"/>
              </a:ext>
            </a:extLst>
          </p:cNvPr>
          <p:cNvSpPr txBox="1">
            <a:spLocks/>
          </p:cNvSpPr>
          <p:nvPr/>
        </p:nvSpPr>
        <p:spPr>
          <a:xfrm>
            <a:off x="465681" y="190100"/>
            <a:ext cx="351235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4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Consum</a:t>
            </a:r>
            <a:endParaRPr lang="en-US" sz="4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4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266278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24" y="423283"/>
            <a:ext cx="5080576" cy="1620422"/>
          </a:xfrm>
        </p:spPr>
        <p:txBody>
          <a:bodyPr>
            <a:noAutofit/>
          </a:bodyPr>
          <a:lstStyle/>
          <a:p>
            <a:pPr algn="ctr"/>
            <a:r>
              <a:rPr lang="ro-RO" sz="4000" dirty="0">
                <a:latin typeface="Segoe UI" panose="020B0502040204020203" pitchFamily="34" charset="0"/>
                <a:cs typeface="Segoe UI" panose="020B0502040204020203" pitchFamily="34" charset="0"/>
              </a:rPr>
              <a:t>Proprietăți de securitate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917686-79AC-E52C-B5F5-481FDBFE5F24}"/>
              </a:ext>
            </a:extLst>
          </p:cNvPr>
          <p:cNvSpPr txBox="1"/>
          <p:nvPr/>
        </p:nvSpPr>
        <p:spPr>
          <a:xfrm>
            <a:off x="287687" y="4140039"/>
            <a:ext cx="7746528" cy="1793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US" sz="30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Server </a:t>
            </a:r>
            <a:r>
              <a:rPr lang="en-US" sz="3000" kern="100" dirty="0" err="1"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stocheaza</a:t>
            </a:r>
            <a:r>
              <a:rPr lang="en-US" sz="30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</a:t>
            </a:r>
            <a:r>
              <a:rPr lang="en-US" sz="3000" kern="100" dirty="0" err="1"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doar</a:t>
            </a:r>
            <a:r>
              <a:rPr lang="en-US" sz="3000" kern="100" dirty="0">
                <a:effectLst/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y – data breach (DLP)</a:t>
            </a:r>
            <a:endParaRPr lang="ro-RO" sz="30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lvl="0">
              <a:lnSpc>
                <a:spcPct val="115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ro-RO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{t, c, s} efemere</a:t>
            </a:r>
            <a:r>
              <a:rPr lang="en-US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- replay</a:t>
            </a:r>
          </a:p>
          <a:p>
            <a:pPr>
              <a:lnSpc>
                <a:spcPct val="1150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ro-RO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</a:t>
            </a:r>
            <a:r>
              <a:rPr lang="en-US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3000" kern="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si</a:t>
            </a:r>
            <a:r>
              <a:rPr lang="en-US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x</a:t>
            </a:r>
            <a:r>
              <a:rPr lang="ro-RO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netransmis</a:t>
            </a:r>
            <a:r>
              <a:rPr lang="en-US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 – </a:t>
            </a:r>
            <a:r>
              <a:rPr lang="en-US" sz="3000" kern="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interceptare</a:t>
            </a:r>
            <a:r>
              <a:rPr lang="en-US" sz="30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SNDL (DLP)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5C2625-16F1-631B-8A99-C0BC0143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285" y="0"/>
            <a:ext cx="7313715" cy="3998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65ADB1-3E81-4F7A-3CB5-A0CF32312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26" y="2184936"/>
            <a:ext cx="4428605" cy="4561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D54EFA-B762-AB82-36E8-EAE758CBB89D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11/1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4807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33D8F-9569-212D-CE7A-C74D625D4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34072" y="1307999"/>
            <a:ext cx="4627218" cy="3615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43DFB8FF-8BCD-0924-17AB-872437AF06E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5848292"/>
                  </p:ext>
                </p:extLst>
              </p:nvPr>
            </p:nvGraphicFramePr>
            <p:xfrm>
              <a:off x="0" y="1970530"/>
              <a:ext cx="6291385" cy="481070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66151">
                      <a:extLst>
                        <a:ext uri="{9D8B030D-6E8A-4147-A177-3AD203B41FA5}">
                          <a16:colId xmlns:a16="http://schemas.microsoft.com/office/drawing/2014/main" val="2724873272"/>
                        </a:ext>
                      </a:extLst>
                    </a:gridCol>
                    <a:gridCol w="646494">
                      <a:extLst>
                        <a:ext uri="{9D8B030D-6E8A-4147-A177-3AD203B41FA5}">
                          <a16:colId xmlns:a16="http://schemas.microsoft.com/office/drawing/2014/main" val="4133436232"/>
                        </a:ext>
                      </a:extLst>
                    </a:gridCol>
                    <a:gridCol w="3978740">
                      <a:extLst>
                        <a:ext uri="{9D8B030D-6E8A-4147-A177-3AD203B41FA5}">
                          <a16:colId xmlns:a16="http://schemas.microsoft.com/office/drawing/2014/main" val="3629466655"/>
                        </a:ext>
                      </a:extLst>
                    </a:gridCol>
                  </a:tblGrid>
                  <a:tr h="71660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Categorie</a:t>
                          </a:r>
                          <a:r>
                            <a:rPr lang="en-US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teste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Nr.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Acoperire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681737325"/>
                      </a:ext>
                    </a:extLst>
                  </a:tr>
                  <a:tr h="71660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Pozitive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5</a:t>
                          </a:r>
                          <a:endParaRPr lang="ro-RO" sz="2000" kern="10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Happy paths,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lipsa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parola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DB</a:t>
                          </a: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useri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concurenti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4083472207"/>
                      </a:ext>
                    </a:extLst>
                  </a:tr>
                  <a:tr h="137935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Negative</a:t>
                          </a:r>
                          <a:endParaRPr lang="ro-RO" sz="2000" kern="10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5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Parolă greșită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c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duplicat</a:t>
                          </a: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expirare sesiune, commit dublu (409), înregistrare duplicate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803173256"/>
                      </a:ext>
                    </a:extLst>
                  </a:tr>
                  <a:tr h="107765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2000" kern="0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Corner case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31</a:t>
                          </a:r>
                          <a:endParaRPr lang="ro-RO" sz="2000" kern="10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 ∉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Segoe UI" panose="020B0502040204020203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Segoe UI" panose="020B0502040204020203" pitchFamily="34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Segoe UI" panose="020B0502040204020203" pitchFamily="34" charset="0"/>
                                    </a:rPr>
                                    <m:t>𝑄</m:t>
                                  </m:r>
                                </m:sub>
                                <m:sup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Segoe UI" panose="020B0502040204020203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oMath>
                          </a14:m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y/t ∈ {0,1,-1,P-1}, tipuri neconforme (float/string/null)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lipsa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header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966870212"/>
                      </a:ext>
                    </a:extLst>
                  </a:tr>
                  <a:tr h="71660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Securitate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8</a:t>
                          </a:r>
                          <a:endParaRPr lang="ro-RO" sz="2000" kern="10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off-by-one, unicitate,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sesiuni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isolate,</a:t>
                          </a: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y furat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2194211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43DFB8FF-8BCD-0924-17AB-872437AF06E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5848292"/>
                  </p:ext>
                </p:extLst>
              </p:nvPr>
            </p:nvGraphicFramePr>
            <p:xfrm>
              <a:off x="0" y="1970530"/>
              <a:ext cx="6291385" cy="481070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66151">
                      <a:extLst>
                        <a:ext uri="{9D8B030D-6E8A-4147-A177-3AD203B41FA5}">
                          <a16:colId xmlns:a16="http://schemas.microsoft.com/office/drawing/2014/main" val="2724873272"/>
                        </a:ext>
                      </a:extLst>
                    </a:gridCol>
                    <a:gridCol w="646494">
                      <a:extLst>
                        <a:ext uri="{9D8B030D-6E8A-4147-A177-3AD203B41FA5}">
                          <a16:colId xmlns:a16="http://schemas.microsoft.com/office/drawing/2014/main" val="4133436232"/>
                        </a:ext>
                      </a:extLst>
                    </a:gridCol>
                    <a:gridCol w="3978740">
                      <a:extLst>
                        <a:ext uri="{9D8B030D-6E8A-4147-A177-3AD203B41FA5}">
                          <a16:colId xmlns:a16="http://schemas.microsoft.com/office/drawing/2014/main" val="3629466655"/>
                        </a:ext>
                      </a:extLst>
                    </a:gridCol>
                  </a:tblGrid>
                  <a:tr h="76238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Categorie</a:t>
                          </a:r>
                          <a:r>
                            <a:rPr lang="en-US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teste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Nr.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cap="all" spc="75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Acoperire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681737325"/>
                      </a:ext>
                    </a:extLst>
                  </a:tr>
                  <a:tr h="76238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Pozitive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5</a:t>
                          </a:r>
                          <a:endParaRPr lang="ro-RO" sz="2000" kern="10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Happy paths,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lipsa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parola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DB</a:t>
                          </a: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useri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concurenti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4083472207"/>
                      </a:ext>
                    </a:extLst>
                  </a:tr>
                  <a:tr h="137935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Negative</a:t>
                          </a:r>
                          <a:endParaRPr lang="ro-RO" sz="2000" kern="10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5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Parolă greșită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c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duplicat</a:t>
                          </a: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expirare sesiune, commit dublu (409), înregistrare duplicate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803173256"/>
                      </a:ext>
                    </a:extLst>
                  </a:tr>
                  <a:tr h="1144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2000" kern="0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Corner case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31</a:t>
                          </a:r>
                          <a:endParaRPr lang="ro-RO" sz="2000" kern="10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45720" marR="45720" anchor="ctr">
                        <a:blipFill>
                          <a:blip r:embed="rId4"/>
                          <a:stretch>
                            <a:fillRect l="-58499" t="-254787" r="-613" b="-76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6870212"/>
                      </a:ext>
                    </a:extLst>
                  </a:tr>
                  <a:tr h="76238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solidFill>
                                <a:schemeClr val="tx1"/>
                              </a:solidFill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Securitate</a:t>
                          </a:r>
                          <a:endParaRPr lang="ro-RO" sz="2000" kern="100" dirty="0">
                            <a:solidFill>
                              <a:schemeClr val="tx1"/>
                            </a:solidFill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8</a:t>
                          </a:r>
                          <a:endParaRPr lang="ro-RO" sz="2000" kern="10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Bef>
                              <a:spcPts val="1200"/>
                            </a:spcBef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off-by-one, unicitate,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</a:t>
                          </a:r>
                          <a:r>
                            <a:rPr lang="en-US" sz="2000" kern="0" dirty="0" err="1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sesiuni</a:t>
                          </a:r>
                          <a:r>
                            <a:rPr lang="en-US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isolate,</a:t>
                          </a:r>
                          <a:r>
                            <a:rPr lang="ro-RO" sz="2000" kern="0" dirty="0">
                              <a:effectLst/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 y furat</a:t>
                          </a:r>
                          <a:endParaRPr lang="ro-RO" sz="2000" kern="100" dirty="0">
                            <a:effectLst/>
                            <a:latin typeface="Segoe UI" panose="020B0502040204020203" pitchFamily="34" charset="0"/>
                            <a:ea typeface="Aptos" panose="020B0004020202020204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2194211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DF522CE-01F3-1F35-1533-83D1160E7281}"/>
              </a:ext>
            </a:extLst>
          </p:cNvPr>
          <p:cNvSpPr txBox="1"/>
          <p:nvPr/>
        </p:nvSpPr>
        <p:spPr>
          <a:xfrm>
            <a:off x="809990" y="1599544"/>
            <a:ext cx="388123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2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49 teste pytest, 100% succes</a:t>
            </a:r>
            <a:endParaRPr lang="ro-RO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7F7D64-07E3-B4CC-E335-7D720A8AB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434961"/>
              </p:ext>
            </p:extLst>
          </p:nvPr>
        </p:nvGraphicFramePr>
        <p:xfrm>
          <a:off x="6544241" y="0"/>
          <a:ext cx="5594331" cy="31145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9963">
                  <a:extLst>
                    <a:ext uri="{9D8B030D-6E8A-4147-A177-3AD203B41FA5}">
                      <a16:colId xmlns:a16="http://schemas.microsoft.com/office/drawing/2014/main" val="3871418129"/>
                    </a:ext>
                  </a:extLst>
                </a:gridCol>
                <a:gridCol w="3414368">
                  <a:extLst>
                    <a:ext uri="{9D8B030D-6E8A-4147-A177-3AD203B41FA5}">
                      <a16:colId xmlns:a16="http://schemas.microsoft.com/office/drawing/2014/main" val="3988898016"/>
                    </a:ext>
                  </a:extLst>
                </a:gridCol>
              </a:tblGrid>
              <a:tr h="47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imula</a:t>
                      </a:r>
                      <a:r>
                        <a:rPr lang="en-US" sz="2000" kern="0" cap="all" spc="75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Rezultat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5361061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Coliziune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in</a:t>
                      </a: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10.000 cereri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 coliziuni c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6435128"/>
                  </a:ext>
                </a:extLst>
              </a:tr>
              <a:tr h="47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MitM parametri slabi: P=23, Q=11, G=4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HTTP 422: y/t respinse (subgrup invalid)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678320812"/>
                  </a:ext>
                </a:extLst>
              </a:tr>
              <a:tr h="47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Replay cross-sesiune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HTTP 401: G^s1 ≠ t2*y^c2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65529708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C3AB5FE-B706-3AF8-80F8-33F773DF0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483584"/>
              </p:ext>
            </p:extLst>
          </p:nvPr>
        </p:nvGraphicFramePr>
        <p:xfrm>
          <a:off x="6480437" y="3161041"/>
          <a:ext cx="5594331" cy="3085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7071">
                  <a:extLst>
                    <a:ext uri="{9D8B030D-6E8A-4147-A177-3AD203B41FA5}">
                      <a16:colId xmlns:a16="http://schemas.microsoft.com/office/drawing/2014/main" val="3512485477"/>
                    </a:ext>
                  </a:extLst>
                </a:gridCol>
                <a:gridCol w="1948791">
                  <a:extLst>
                    <a:ext uri="{9D8B030D-6E8A-4147-A177-3AD203B41FA5}">
                      <a16:colId xmlns:a16="http://schemas.microsoft.com/office/drawing/2014/main" val="3440195343"/>
                    </a:ext>
                  </a:extLst>
                </a:gridCol>
                <a:gridCol w="1638469">
                  <a:extLst>
                    <a:ext uri="{9D8B030D-6E8A-4147-A177-3AD203B41FA5}">
                      <a16:colId xmlns:a16="http://schemas.microsoft.com/office/drawing/2014/main" val="41837585"/>
                    </a:ext>
                  </a:extLst>
                </a:gridCol>
              </a:tblGrid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Brute force </a:t>
                      </a: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DLP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 kern="0" cap="all" spc="75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Candidati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Rezultat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91082106"/>
                  </a:ext>
                </a:extLst>
              </a:tr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32 biți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~1,07 * 10^9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744M încercări (319s)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518799604"/>
                  </a:ext>
                </a:extLst>
              </a:tr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 biți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~4,6 * 10^18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Timeout 1200s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1428847"/>
                  </a:ext>
                </a:extLst>
              </a:tr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2048 biți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~5,87 * 10^153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Nefezabil</a:t>
                      </a:r>
                      <a:endParaRPr lang="ro-RO" sz="2000" kern="100" dirty="0"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779865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2BC6D0-76FE-75AF-BC88-BC0ADB484A29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12/1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87340D-1EAF-7593-77A0-4F81AD07EAE4}"/>
              </a:ext>
            </a:extLst>
          </p:cNvPr>
          <p:cNvSpPr txBox="1">
            <a:spLocks/>
          </p:cNvSpPr>
          <p:nvPr/>
        </p:nvSpPr>
        <p:spPr>
          <a:xfrm>
            <a:off x="465681" y="190100"/>
            <a:ext cx="351235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4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Validare</a:t>
            </a:r>
            <a:r>
              <a:rPr lang="en-US" sz="4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 </a:t>
            </a:r>
            <a:r>
              <a:rPr lang="en-US" sz="4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si</a:t>
            </a:r>
            <a:r>
              <a:rPr lang="en-US" sz="4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 </a:t>
            </a:r>
            <a:r>
              <a:rPr lang="en-US" sz="4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testare</a:t>
            </a:r>
            <a:endParaRPr lang="en-US" sz="4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146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25634E24-599A-DF64-6D4B-ED204B5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0730" y="403824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en-US" sz="4200" dirty="0" err="1">
                <a:latin typeface="Segoe UI" panose="020B0502040204020203" pitchFamily="34" charset="0"/>
                <a:cs typeface="Segoe UI" panose="020B0502040204020203" pitchFamily="34" charset="0"/>
              </a:rPr>
              <a:t>Evaluare</a:t>
            </a:r>
            <a:r>
              <a:rPr lang="en-US" sz="4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4200" dirty="0" err="1">
                <a:latin typeface="Segoe UI" panose="020B0502040204020203" pitchFamily="34" charset="0"/>
                <a:cs typeface="Segoe UI" panose="020B0502040204020203" pitchFamily="34" charset="0"/>
              </a:rPr>
              <a:t>performanta</a:t>
            </a:r>
            <a:r>
              <a:rPr lang="en-US" sz="4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34EBB-91D9-7712-BEE8-9D69FCAE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9878" y="2183182"/>
            <a:ext cx="4448144" cy="36150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83C36F-09C6-A1B7-AC45-F73283414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080981"/>
              </p:ext>
            </p:extLst>
          </p:nvPr>
        </p:nvGraphicFramePr>
        <p:xfrm>
          <a:off x="4419656" y="96860"/>
          <a:ext cx="7664100" cy="64179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2976">
                  <a:extLst>
                    <a:ext uri="{9D8B030D-6E8A-4147-A177-3AD203B41FA5}">
                      <a16:colId xmlns:a16="http://schemas.microsoft.com/office/drawing/2014/main" val="1158037151"/>
                    </a:ext>
                  </a:extLst>
                </a:gridCol>
                <a:gridCol w="1307507">
                  <a:extLst>
                    <a:ext uri="{9D8B030D-6E8A-4147-A177-3AD203B41FA5}">
                      <a16:colId xmlns:a16="http://schemas.microsoft.com/office/drawing/2014/main" val="2067992008"/>
                    </a:ext>
                  </a:extLst>
                </a:gridCol>
                <a:gridCol w="1170773">
                  <a:extLst>
                    <a:ext uri="{9D8B030D-6E8A-4147-A177-3AD203B41FA5}">
                      <a16:colId xmlns:a16="http://schemas.microsoft.com/office/drawing/2014/main" val="2241526527"/>
                    </a:ext>
                  </a:extLst>
                </a:gridCol>
                <a:gridCol w="1330024">
                  <a:extLst>
                    <a:ext uri="{9D8B030D-6E8A-4147-A177-3AD203B41FA5}">
                      <a16:colId xmlns:a16="http://schemas.microsoft.com/office/drawing/2014/main" val="4072668120"/>
                    </a:ext>
                  </a:extLst>
                </a:gridCol>
                <a:gridCol w="1532820">
                  <a:extLst>
                    <a:ext uri="{9D8B030D-6E8A-4147-A177-3AD203B41FA5}">
                      <a16:colId xmlns:a16="http://schemas.microsoft.com/office/drawing/2014/main" val="3081730017"/>
                    </a:ext>
                  </a:extLst>
                </a:gridCol>
              </a:tblGrid>
              <a:tr h="10295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Operație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Medie</a:t>
                      </a:r>
                      <a:endParaRPr lang="en-US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(MS)</a:t>
                      </a:r>
                      <a:endParaRPr lang="ro-RO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Min</a:t>
                      </a:r>
                      <a:endParaRPr lang="en-US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(MS)</a:t>
                      </a:r>
                      <a:endParaRPr lang="ro-RO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Max</a:t>
                      </a:r>
                      <a:endParaRPr lang="en-US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(MS)</a:t>
                      </a:r>
                      <a:endParaRPr lang="ro-RO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cap="all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Stddev</a:t>
                      </a:r>
                      <a:endParaRPr lang="en-US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cap="all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(MS)</a:t>
                      </a:r>
                      <a:endParaRPr lang="ro-RO" sz="2600" b="1" cap="all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014874848"/>
                  </a:ext>
                </a:extLst>
              </a:tr>
              <a:tr h="572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 = </a:t>
                      </a:r>
                      <a:r>
                        <a:rPr lang="en-US" sz="2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</a:t>
                      </a:r>
                      <a:r>
                        <a:rPr lang="en-US" sz="2600" b="1" baseline="400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r>
                        <a:rPr lang="es-ES" sz="260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mod P </a:t>
                      </a:r>
                      <a:endParaRPr lang="ro-RO" sz="2600" b="1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15.65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14.37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19.86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1.06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854107726"/>
                  </a:ext>
                </a:extLst>
              </a:tr>
              <a:tr h="538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Generare</a:t>
                      </a:r>
                      <a:r>
                        <a:rPr lang="en-US" sz="2600" b="1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2600" b="1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solutie</a:t>
                      </a:r>
                      <a:r>
                        <a:rPr lang="en-US" sz="2600" b="1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 (s)</a:t>
                      </a:r>
                      <a:endParaRPr lang="ro-RO" sz="2600" b="1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0.009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0.009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0.01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0.0003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248833646"/>
                  </a:ext>
                </a:extLst>
              </a:tr>
              <a:tr h="722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Validare apartenență subgrup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17.15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15.74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19.89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0.96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731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Legare de sesiune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0.020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</a:t>
                      </a: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01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905168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Generare provocare (c)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</a:t>
                      </a: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</a:t>
                      </a: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09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0.00</a:t>
                      </a: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03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604827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</a:t>
                      </a:r>
                      <a:r>
                        <a:rPr lang="en-US" sz="2600" b="1" baseline="40000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</a:t>
                      </a:r>
                      <a:r>
                        <a:rPr lang="ro-RO" sz="2600" b="1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 ≡ t * </a:t>
                      </a:r>
                      <a:r>
                        <a:rPr lang="en-US" sz="2600" b="1" kern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y</a:t>
                      </a:r>
                      <a:r>
                        <a:rPr lang="en-US" sz="2600" b="1" kern="0" baseline="4000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c</a:t>
                      </a:r>
                      <a:r>
                        <a:rPr lang="en-US" sz="2600" b="1" baseline="400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o-RO" sz="2600" b="1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 (mod P)</a:t>
                      </a:r>
                      <a:endParaRPr lang="ro-RO" sz="2600" b="1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33</a:t>
                      </a:r>
                      <a:r>
                        <a:rPr lang="ro-RO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87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31.68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37.7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1.31</a:t>
                      </a:r>
                      <a:endParaRPr lang="ro-RO" sz="2600" b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8625681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081652E-19AE-DAAC-BDBC-9A47ECD5265C}"/>
              </a:ext>
            </a:extLst>
          </p:cNvPr>
          <p:cNvSpPr txBox="1"/>
          <p:nvPr/>
        </p:nvSpPr>
        <p:spPr>
          <a:xfrm>
            <a:off x="606791" y="2831356"/>
            <a:ext cx="3290091" cy="779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de 2048 </a:t>
            </a:r>
            <a:r>
              <a:rPr lang="en-US" sz="20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biti</a:t>
            </a:r>
            <a:r>
              <a:rPr lang="en-US" sz="2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recomandare</a:t>
            </a:r>
            <a:r>
              <a:rPr lang="en-US" sz="20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NIST)</a:t>
            </a:r>
            <a:endParaRPr lang="ro-RO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3FB25-81F2-2BD7-2FE3-AD221D941441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13/1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78213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D54101-B646-EA93-5F4A-B9708544C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7979" y="2152776"/>
            <a:ext cx="4627218" cy="36150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E41EE5-1AC4-6C6C-E143-895CCDDF7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238480"/>
              </p:ext>
            </p:extLst>
          </p:nvPr>
        </p:nvGraphicFramePr>
        <p:xfrm>
          <a:off x="4909080" y="403824"/>
          <a:ext cx="6962490" cy="20660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2458">
                  <a:extLst>
                    <a:ext uri="{9D8B030D-6E8A-4147-A177-3AD203B41FA5}">
                      <a16:colId xmlns:a16="http://schemas.microsoft.com/office/drawing/2014/main" val="611621273"/>
                    </a:ext>
                  </a:extLst>
                </a:gridCol>
                <a:gridCol w="1832538">
                  <a:extLst>
                    <a:ext uri="{9D8B030D-6E8A-4147-A177-3AD203B41FA5}">
                      <a16:colId xmlns:a16="http://schemas.microsoft.com/office/drawing/2014/main" val="2891597447"/>
                    </a:ext>
                  </a:extLst>
                </a:gridCol>
                <a:gridCol w="1392498">
                  <a:extLst>
                    <a:ext uri="{9D8B030D-6E8A-4147-A177-3AD203B41FA5}">
                      <a16:colId xmlns:a16="http://schemas.microsoft.com/office/drawing/2014/main" val="3682109628"/>
                    </a:ext>
                  </a:extLst>
                </a:gridCol>
                <a:gridCol w="1392498">
                  <a:extLst>
                    <a:ext uri="{9D8B030D-6E8A-4147-A177-3AD203B41FA5}">
                      <a16:colId xmlns:a16="http://schemas.microsoft.com/office/drawing/2014/main" val="648754584"/>
                    </a:ext>
                  </a:extLst>
                </a:gridCol>
                <a:gridCol w="1392498">
                  <a:extLst>
                    <a:ext uri="{9D8B030D-6E8A-4147-A177-3AD203B41FA5}">
                      <a16:colId xmlns:a16="http://schemas.microsoft.com/office/drawing/2014/main" val="2657305894"/>
                    </a:ext>
                  </a:extLst>
                </a:gridCol>
              </a:tblGrid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 kern="0" cap="all" spc="75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Useri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Schnorr Pow</a:t>
                      </a: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(RPS)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PKCE (RPS)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Simple (RPS)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Authlib (RPS)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19496595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19,61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464,82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440,26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489,10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82306444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18,10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465,68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463,45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481,65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912908747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17,47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458,06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467,56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505,24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6598117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3113A1-9079-E119-3862-CE8673AF5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097950"/>
              </p:ext>
            </p:extLst>
          </p:nvPr>
        </p:nvGraphicFramePr>
        <p:xfrm>
          <a:off x="142162" y="3362867"/>
          <a:ext cx="6516547" cy="29611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85408">
                  <a:extLst>
                    <a:ext uri="{9D8B030D-6E8A-4147-A177-3AD203B41FA5}">
                      <a16:colId xmlns:a16="http://schemas.microsoft.com/office/drawing/2014/main" val="1158037151"/>
                    </a:ext>
                  </a:extLst>
                </a:gridCol>
                <a:gridCol w="969107">
                  <a:extLst>
                    <a:ext uri="{9D8B030D-6E8A-4147-A177-3AD203B41FA5}">
                      <a16:colId xmlns:a16="http://schemas.microsoft.com/office/drawing/2014/main" val="2067992008"/>
                    </a:ext>
                  </a:extLst>
                </a:gridCol>
                <a:gridCol w="845890">
                  <a:extLst>
                    <a:ext uri="{9D8B030D-6E8A-4147-A177-3AD203B41FA5}">
                      <a16:colId xmlns:a16="http://schemas.microsoft.com/office/drawing/2014/main" val="2241526527"/>
                    </a:ext>
                  </a:extLst>
                </a:gridCol>
                <a:gridCol w="1095290">
                  <a:extLst>
                    <a:ext uri="{9D8B030D-6E8A-4147-A177-3AD203B41FA5}">
                      <a16:colId xmlns:a16="http://schemas.microsoft.com/office/drawing/2014/main" val="4072668120"/>
                    </a:ext>
                  </a:extLst>
                </a:gridCol>
                <a:gridCol w="1020852">
                  <a:extLst>
                    <a:ext uri="{9D8B030D-6E8A-4147-A177-3AD203B41FA5}">
                      <a16:colId xmlns:a16="http://schemas.microsoft.com/office/drawing/2014/main" val="3081730017"/>
                    </a:ext>
                  </a:extLst>
                </a:gridCol>
              </a:tblGrid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Protocol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Medie (ms)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Min(ms)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Max</a:t>
                      </a:r>
                      <a:r>
                        <a:rPr lang="en-US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(ms)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P95</a:t>
                      </a:r>
                      <a:r>
                        <a:rPr lang="en-US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(ms)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14874848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Schnorr Pow</a:t>
                      </a: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(commit + verify)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64,76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59,24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85,98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78,71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7314335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OAuth2 PKCE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2,23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1,81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22,21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1,58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905168519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OAuth2 Simple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2,19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1,82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14,23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2,72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604827717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Authlib PKCE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0,79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0,71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1,68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0,95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862568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73E1F2-9D39-0CF7-B4FB-9C17D2639CC1}"/>
              </a:ext>
            </a:extLst>
          </p:cNvPr>
          <p:cNvSpPr txBox="1"/>
          <p:nvPr/>
        </p:nvSpPr>
        <p:spPr>
          <a:xfrm>
            <a:off x="884979" y="2941805"/>
            <a:ext cx="3517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E2E pe 100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iteratii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secventiale</a:t>
            </a:r>
            <a:endParaRPr lang="ro-RO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8C67A-63BB-2730-B75B-958BC8B301B8}"/>
              </a:ext>
            </a:extLst>
          </p:cNvPr>
          <p:cNvSpPr txBox="1"/>
          <p:nvPr/>
        </p:nvSpPr>
        <p:spPr>
          <a:xfrm>
            <a:off x="6818922" y="2564137"/>
            <a:ext cx="3764172" cy="3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Debit concurent (Locust, 8 fire, 60s)</a:t>
            </a:r>
            <a:endParaRPr lang="ro-RO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7A69C-6A80-FC98-A7D3-E4B0AB48BBAB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14/1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BCDB9B56-5237-9C61-EEF6-7470EE00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0730" y="403824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en-US" sz="4200" dirty="0" err="1">
                <a:latin typeface="Segoe UI" panose="020B0502040204020203" pitchFamily="34" charset="0"/>
                <a:cs typeface="Segoe UI" panose="020B0502040204020203" pitchFamily="34" charset="0"/>
              </a:rPr>
              <a:t>Evaluare</a:t>
            </a:r>
            <a:r>
              <a:rPr lang="en-US" sz="4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4200" dirty="0" err="1">
                <a:latin typeface="Segoe UI" panose="020B0502040204020203" pitchFamily="34" charset="0"/>
                <a:cs typeface="Segoe UI" panose="020B0502040204020203" pitchFamily="34" charset="0"/>
              </a:rPr>
              <a:t>performanta</a:t>
            </a:r>
            <a:r>
              <a:rPr lang="en-US" sz="4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60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8ABD6D-25A0-88D4-6888-254C7D12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38564" y="2151160"/>
            <a:ext cx="4627218" cy="361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89C3E1-BBDD-8C9D-3405-5FE288F26BF5}"/>
              </a:ext>
            </a:extLst>
          </p:cNvPr>
          <p:cNvSpPr txBox="1"/>
          <p:nvPr/>
        </p:nvSpPr>
        <p:spPr>
          <a:xfrm>
            <a:off x="6526333" y="997411"/>
            <a:ext cx="5476613" cy="415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100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iteratii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secventiale</a:t>
            </a:r>
            <a:endParaRPr lang="ro-RO" sz="20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53D487-3753-E7DE-A9C4-5F38D6D43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570058"/>
              </p:ext>
            </p:extLst>
          </p:nvPr>
        </p:nvGraphicFramePr>
        <p:xfrm>
          <a:off x="5244266" y="1432748"/>
          <a:ext cx="6028056" cy="29706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4560">
                  <a:extLst>
                    <a:ext uri="{9D8B030D-6E8A-4147-A177-3AD203B41FA5}">
                      <a16:colId xmlns:a16="http://schemas.microsoft.com/office/drawing/2014/main" val="603809195"/>
                    </a:ext>
                  </a:extLst>
                </a:gridCol>
                <a:gridCol w="1199468">
                  <a:extLst>
                    <a:ext uri="{9D8B030D-6E8A-4147-A177-3AD203B41FA5}">
                      <a16:colId xmlns:a16="http://schemas.microsoft.com/office/drawing/2014/main" val="3257886713"/>
                    </a:ext>
                  </a:extLst>
                </a:gridCol>
                <a:gridCol w="1507014">
                  <a:extLst>
                    <a:ext uri="{9D8B030D-6E8A-4147-A177-3AD203B41FA5}">
                      <a16:colId xmlns:a16="http://schemas.microsoft.com/office/drawing/2014/main" val="695585944"/>
                    </a:ext>
                  </a:extLst>
                </a:gridCol>
                <a:gridCol w="1507014">
                  <a:extLst>
                    <a:ext uri="{9D8B030D-6E8A-4147-A177-3AD203B41FA5}">
                      <a16:colId xmlns:a16="http://schemas.microsoft.com/office/drawing/2014/main" val="3263260983"/>
                    </a:ext>
                  </a:extLst>
                </a:gridCol>
              </a:tblGrid>
              <a:tr h="5805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Protocol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Înreg. (ms)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Autentif</a:t>
                      </a:r>
                      <a:r>
                        <a:rPr lang="ro-RO" sz="2000" kern="0" cap="all" spc="75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 (ms)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cap="all" spc="75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(ms)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300694724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Schnorr-Pow 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15,783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139,833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155,911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137808601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SRP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1,204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41,061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42,265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848366449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Schnorr-EC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4,005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34,093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38,090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15981441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Schnorr</a:t>
                      </a: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-EC-C-</a:t>
                      </a:r>
                      <a:r>
                        <a:rPr lang="ro-RO" sz="2000" kern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Lib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0,071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9,447</a:t>
                      </a:r>
                      <a:endParaRPr lang="ro-RO" sz="2000" kern="10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2000" kern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9,510</a:t>
                      </a:r>
                      <a:endParaRPr lang="ro-RO" sz="2000" kern="10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ea typeface="Aptos" panose="020B00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5107111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BAFAF1-74E9-4CB2-443A-AF4FCB6DA66D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15/1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019A0CB-3630-551C-6B4C-8F61BCB2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0730" y="403824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en-US" sz="4200" dirty="0" err="1">
                <a:latin typeface="Segoe UI" panose="020B0502040204020203" pitchFamily="34" charset="0"/>
                <a:cs typeface="Segoe UI" panose="020B0502040204020203" pitchFamily="34" charset="0"/>
              </a:rPr>
              <a:t>Evaluare</a:t>
            </a:r>
            <a:r>
              <a:rPr lang="en-US" sz="4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4200" dirty="0" err="1">
                <a:latin typeface="Segoe UI" panose="020B0502040204020203" pitchFamily="34" charset="0"/>
                <a:cs typeface="Segoe UI" panose="020B0502040204020203" pitchFamily="34" charset="0"/>
              </a:rPr>
              <a:t>performanta</a:t>
            </a:r>
            <a:r>
              <a:rPr lang="en-US" sz="4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3353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CDF373-B5D6-4F86-8E13-9DB22401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58" y="1154057"/>
            <a:ext cx="2966825" cy="1139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600" dirty="0" err="1">
                <a:latin typeface="Segoe UI" panose="020B0502040204020203" pitchFamily="34" charset="0"/>
                <a:cs typeface="Segoe UI" panose="020B0502040204020203" pitchFamily="34" charset="0"/>
              </a:rPr>
              <a:t>Concluzii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69713-AC63-CC26-1A62-CC91AE460347}"/>
              </a:ext>
            </a:extLst>
          </p:cNvPr>
          <p:cNvSpPr txBox="1"/>
          <p:nvPr/>
        </p:nvSpPr>
        <p:spPr>
          <a:xfrm>
            <a:off x="5275184" y="1319793"/>
            <a:ext cx="6834207" cy="5344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poate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folosi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Schnorr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intr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-un protocol de tip Open Authorization</a:t>
            </a:r>
            <a:r>
              <a:rPr lang="en-US" sz="26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</a:t>
            </a:r>
            <a:r>
              <a:rPr lang="en-US" sz="2600" kern="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reducand</a:t>
            </a:r>
            <a:r>
              <a:rPr lang="en-US" sz="26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expunerea</a:t>
            </a:r>
            <a:r>
              <a:rPr lang="en-US" sz="26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crentialelor</a:t>
            </a:r>
            <a:endParaRPr lang="en-US" sz="2600" kern="0" dirty="0"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O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implementare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ZKP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anuleaz</a:t>
            </a:r>
            <a:r>
              <a:rPr lang="ro-RO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ă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o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bre</a:t>
            </a:r>
            <a:r>
              <a:rPr lang="ro-RO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șă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a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bazei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de date,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sau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o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exfiltrare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a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datelor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prin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folosirea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de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valori</a:t>
            </a:r>
            <a:r>
              <a:rPr lang="en-US" sz="2600" kern="0" dirty="0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latin typeface="Segoe UI" panose="020B0502040204020203" pitchFamily="34" charset="0"/>
                <a:ea typeface="Aptos" panose="020B0004020202020204" pitchFamily="34" charset="0"/>
                <a:cs typeface="Segoe UI" panose="020B0502040204020203" pitchFamily="34" charset="0"/>
              </a:rPr>
              <a:t>efemere</a:t>
            </a:r>
            <a:endParaRPr lang="en-US" sz="2600" kern="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Limitări: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laten</a:t>
            </a:r>
            <a:r>
              <a:rPr lang="ro-RO" sz="2600" kern="0" dirty="0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ța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</a:t>
            </a:r>
            <a:r>
              <a:rPr lang="ro-RO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lipsă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verificare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browser</a:t>
            </a:r>
            <a:endParaRPr lang="ro-RO" sz="26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Potential de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dezvoltare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prin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folosirea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EC, C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sau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adaugarea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altor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metode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de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intarire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a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securitatii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precum PQC </a:t>
            </a:r>
            <a:r>
              <a:rPr lang="en-US" sz="26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si</a:t>
            </a:r>
            <a:r>
              <a:rPr lang="en-US" sz="2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OAuth2.0+Schnorr</a:t>
            </a:r>
            <a:endParaRPr lang="ro-RO" sz="26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1C31-D803-563C-ED1B-EA828A3A31F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6516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7CC944-FBEB-3F58-4C77-C8D1261E59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06498" y="2075056"/>
            <a:ext cx="9844602" cy="3629596"/>
          </a:xfrm>
        </p:spPr>
        <p:txBody>
          <a:bodyPr>
            <a:noAutofit/>
          </a:bodyPr>
          <a:lstStyle/>
          <a:p>
            <a:r>
              <a:rPr lang="ro-RO" sz="2500" dirty="0">
                <a:latin typeface="Segoe UI" panose="020B0502040204020203" pitchFamily="34" charset="0"/>
                <a:cs typeface="Segoe UI" panose="020B0502040204020203" pitchFamily="34" charset="0"/>
              </a:rPr>
              <a:t>[9] S. Goldwasser, S. Micali, C. Rackoff, "The Knowledge Complexity of Interactive Proof Systems," SIAM J. Computing, 1989. 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o-RO" sz="2500" dirty="0">
                <a:latin typeface="Segoe UI" panose="020B0502040204020203" pitchFamily="34" charset="0"/>
                <a:cs typeface="Segoe UI" panose="020B0502040204020203" pitchFamily="34" charset="0"/>
              </a:rPr>
              <a:t>[16] C.P. Schnorr, "Efficient Signature Generation by Smart Cards," J. Cryptology, 1991. 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ro-RO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1858659" y="437848"/>
            <a:ext cx="8474681" cy="9108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4400" dirty="0" err="1">
                <a:latin typeface="Segoe UI" panose="020B0502040204020203" pitchFamily="34" charset="0"/>
                <a:cs typeface="Segoe UI" panose="020B0502040204020203" pitchFamily="34" charset="0"/>
              </a:rPr>
              <a:t>Bibliografie</a:t>
            </a:r>
            <a:r>
              <a:rPr lang="en-US" sz="4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4400" dirty="0" err="1">
                <a:latin typeface="Segoe UI" panose="020B0502040204020203" pitchFamily="34" charset="0"/>
                <a:cs typeface="Segoe UI" panose="020B0502040204020203" pitchFamily="34" charset="0"/>
              </a:rPr>
              <a:t>Selectiv</a:t>
            </a:r>
            <a:r>
              <a:rPr lang="ro-RO" sz="4400" dirty="0">
                <a:latin typeface="Segoe UI" panose="020B0502040204020203" pitchFamily="34" charset="0"/>
                <a:cs typeface="Segoe UI" panose="020B0502040204020203" pitchFamily="34" charset="0"/>
              </a:rPr>
              <a:t>ă</a:t>
            </a:r>
            <a:endParaRPr lang="en-US" sz="4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FCEC76-7450-08D8-0DE9-F9A94A78658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7344CC-1879-AC4F-E867-1154AD69B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10377" y="1418026"/>
            <a:ext cx="11873376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53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BB92-813C-4042-B316-05BBE4D46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820" y="1016000"/>
            <a:ext cx="6060306" cy="2924048"/>
          </a:xfrm>
        </p:spPr>
        <p:txBody>
          <a:bodyPr/>
          <a:lstStyle/>
          <a:p>
            <a:r>
              <a:rPr lang="en-US" sz="5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VĂ MULȚUMESC PENTRU ATENȚIE!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E4E14-51FA-C07B-F210-196EE0ABA11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/1</a:t>
            </a:r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5194224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A49B05-820E-4F16-BCC1-12B2E13002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AD9EFA-E074-4C2F-8F25-BF862B8AB6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A595FF-F2D2-434C-A89B-B6A4364C4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1497</Words>
  <Application>Microsoft Office PowerPoint</Application>
  <PresentationFormat>Widescreen</PresentationFormat>
  <Paragraphs>274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Arial Black</vt:lpstr>
      <vt:lpstr>Calibri</vt:lpstr>
      <vt:lpstr>Cambria Math</vt:lpstr>
      <vt:lpstr>Segoe UI</vt:lpstr>
      <vt:lpstr>Symbol</vt:lpstr>
      <vt:lpstr>The Hand Black Mate</vt:lpstr>
      <vt:lpstr>SketchyVTI</vt:lpstr>
      <vt:lpstr>Protocol de autentificare OAuth cu Schnorr ZKP: Securitate fără partajare de secrete</vt:lpstr>
      <vt:lpstr>CUPRINS</vt:lpstr>
      <vt:lpstr>INTRODUCERE</vt:lpstr>
      <vt:lpstr>TEHNOLOGII</vt:lpstr>
      <vt:lpstr>ARHITECTURA</vt:lpstr>
      <vt:lpstr>Schnorr interactiv</vt:lpstr>
      <vt:lpstr>PowerPoint Presentation</vt:lpstr>
      <vt:lpstr>PowerPoint Presentation</vt:lpstr>
      <vt:lpstr>PowerPoint Presentation</vt:lpstr>
      <vt:lpstr>PowerPoint Presentation</vt:lpstr>
      <vt:lpstr>Proprietăți de securitate</vt:lpstr>
      <vt:lpstr>PowerPoint Presentation</vt:lpstr>
      <vt:lpstr>Evaluare performanta </vt:lpstr>
      <vt:lpstr>Evaluare performanta </vt:lpstr>
      <vt:lpstr>Evaluare performanta </vt:lpstr>
      <vt:lpstr>Concluzii</vt:lpstr>
      <vt:lpstr>PowerPoint Presentation</vt:lpstr>
      <vt:lpstr>VĂ MULȚUMESC PENTRU ATENȚIE!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</dc:title>
  <dc:creator>Matei .</dc:creator>
  <cp:lastModifiedBy>Matei, Rares02</cp:lastModifiedBy>
  <cp:revision>2152</cp:revision>
  <dcterms:created xsi:type="dcterms:W3CDTF">2024-05-16T18:10:47Z</dcterms:created>
  <dcterms:modified xsi:type="dcterms:W3CDTF">2026-06-23T17:48:58Z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SketchyVTI:8</vt:lpwstr>
  </property>
  <property fmtid="{D5CDD505-2E9C-101B-9397-08002B2CF9AE}" pid="4" name="ClassificationContentMarkingFooterText">
    <vt:lpwstr>Internal</vt:lpwstr>
  </property>
</Properties>
</file>