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4"/>
  </p:notesMasterIdLst>
  <p:handoutMasterIdLst>
    <p:handoutMasterId r:id="rId25"/>
  </p:handoutMasterIdLst>
  <p:sldIdLst>
    <p:sldId id="496" r:id="rId5"/>
    <p:sldId id="497" r:id="rId6"/>
    <p:sldId id="511" r:id="rId7"/>
    <p:sldId id="512" r:id="rId8"/>
    <p:sldId id="510" r:id="rId9"/>
    <p:sldId id="523" r:id="rId10"/>
    <p:sldId id="516" r:id="rId11"/>
    <p:sldId id="525" r:id="rId12"/>
    <p:sldId id="524" r:id="rId13"/>
    <p:sldId id="526" r:id="rId14"/>
    <p:sldId id="501" r:id="rId15"/>
    <p:sldId id="507" r:id="rId16"/>
    <p:sldId id="514" r:id="rId17"/>
    <p:sldId id="508" r:id="rId18"/>
    <p:sldId id="519" r:id="rId19"/>
    <p:sldId id="520" r:id="rId20"/>
    <p:sldId id="505" r:id="rId21"/>
    <p:sldId id="518" r:id="rId22"/>
    <p:sldId id="50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122" d="100"/>
          <a:sy n="122" d="100"/>
        </p:scale>
        <p:origin x="114" y="204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53B103D6-7B09-43A1-9AE8-4A857AE2A627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8781E4CB-F99D-4F5B-BD0D-E532EDB994C6}" type="parTrans" cxnId="{3BB7F6DB-B24C-45E1-9A5B-C0AFB6D0EDF3}">
      <dgm:prSet/>
      <dgm:spPr/>
      <dgm:t>
        <a:bodyPr/>
        <a:lstStyle/>
        <a:p>
          <a:endParaRPr lang="en-US"/>
        </a:p>
      </dgm:t>
    </dgm:pt>
    <dgm:pt modelId="{8C75F1FA-A056-4E79-93B9-47FF5EFC130B}" type="sibTrans" cxnId="{3BB7F6DB-B24C-45E1-9A5B-C0AFB6D0EDF3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D25A409B-FDD7-4C77-8E36-C904BAC79791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gm:t>
    </dgm:pt>
    <dgm:pt modelId="{6CA889DA-5F9A-4015-99FC-D1455065C236}" type="parTrans" cxnId="{903C7256-B696-428F-A4DA-B3255E8831A4}">
      <dgm:prSet/>
      <dgm:spPr/>
      <dgm:t>
        <a:bodyPr/>
        <a:lstStyle/>
        <a:p>
          <a:endParaRPr lang="ro-RO"/>
        </a:p>
      </dgm:t>
    </dgm:pt>
    <dgm:pt modelId="{BA18CE5A-52AF-4511-AB9D-3DE6642E437A}" type="sibTrans" cxnId="{903C7256-B696-428F-A4DA-B3255E8831A4}">
      <dgm:prSet/>
      <dgm:spPr/>
      <dgm:t>
        <a:bodyPr/>
        <a:lstStyle/>
        <a:p>
          <a:endParaRPr lang="ro-RO"/>
        </a:p>
      </dgm:t>
    </dgm:pt>
    <dgm:pt modelId="{A497C743-4700-4D44-9FF1-1BBBF2C4C1D5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0BEFE36-EBED-488D-8416-23BFDE9CD192}" type="parTrans" cxnId="{4AAD3387-DC3A-4739-A303-88E5F08F58BA}">
      <dgm:prSet/>
      <dgm:spPr/>
      <dgm:t>
        <a:bodyPr/>
        <a:lstStyle/>
        <a:p>
          <a:endParaRPr lang="ro-RO"/>
        </a:p>
      </dgm:t>
    </dgm:pt>
    <dgm:pt modelId="{0E8E7E2E-A1CC-43F4-8FD1-5C8E1F2AC6BA}" type="sibTrans" cxnId="{4AAD3387-DC3A-4739-A303-88E5F08F58BA}">
      <dgm:prSet/>
      <dgm:spPr/>
      <dgm:t>
        <a:bodyPr/>
        <a:lstStyle/>
        <a:p>
          <a:endParaRPr lang="ro-RO"/>
        </a:p>
      </dgm:t>
    </dgm:pt>
    <dgm:pt modelId="{9200CE98-B25D-47F2-9E98-2B703A3D4B32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gm:t>
    </dgm:pt>
    <dgm:pt modelId="{A230F39C-E611-4D7C-8B22-127411010E97}" type="parTrans" cxnId="{F0305A2E-F551-4773-95E4-E3C3D962A732}">
      <dgm:prSet/>
      <dgm:spPr/>
      <dgm:t>
        <a:bodyPr/>
        <a:lstStyle/>
        <a:p>
          <a:endParaRPr lang="ro-RO"/>
        </a:p>
      </dgm:t>
    </dgm:pt>
    <dgm:pt modelId="{DD06A4B6-AAF3-441D-B8D9-6465F826A0C8}" type="sibTrans" cxnId="{F0305A2E-F551-4773-95E4-E3C3D962A732}">
      <dgm:prSet/>
      <dgm:spPr/>
      <dgm:t>
        <a:bodyPr/>
        <a:lstStyle/>
        <a:p>
          <a:endParaRPr lang="ro-RO"/>
        </a:p>
      </dgm:t>
    </dgm:pt>
    <dgm:pt modelId="{B53A9CF1-E24E-4B25-827F-C1251C2CFC3D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gm:t>
    </dgm:pt>
    <dgm:pt modelId="{7DE5889E-882D-45BE-AE0D-DFCCBF6ECA8F}" type="parTrans" cxnId="{EE868888-CD02-443A-9A03-CC3CAEB62695}">
      <dgm:prSet/>
      <dgm:spPr/>
      <dgm:t>
        <a:bodyPr/>
        <a:lstStyle/>
        <a:p>
          <a:endParaRPr lang="ro-RO"/>
        </a:p>
      </dgm:t>
    </dgm:pt>
    <dgm:pt modelId="{6517CEB6-67A5-4337-A7AE-6D7B1424C1B9}" type="sibTrans" cxnId="{EE868888-CD02-443A-9A03-CC3CAEB62695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11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11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11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11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11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11"/>
      <dgm:spPr/>
    </dgm:pt>
    <dgm:pt modelId="{293E329F-A54A-4403-A4E8-35E472C6B156}" type="pres">
      <dgm:prSet presAssocID="{E899FDE9-8023-4C52-8C9F-5F0317A1A3C0}" presName="vert1" presStyleCnt="0"/>
      <dgm:spPr/>
    </dgm:pt>
    <dgm:pt modelId="{80D8D5A4-B595-4A87-BFC5-B13A15CF4E83}" type="pres">
      <dgm:prSet presAssocID="{B53A9CF1-E24E-4B25-827F-C1251C2CFC3D}" presName="thickLine" presStyleLbl="alignNode1" presStyleIdx="3" presStyleCnt="11"/>
      <dgm:spPr/>
    </dgm:pt>
    <dgm:pt modelId="{6ED62D2D-7F11-4A2E-B5E0-20E215891721}" type="pres">
      <dgm:prSet presAssocID="{B53A9CF1-E24E-4B25-827F-C1251C2CFC3D}" presName="horz1" presStyleCnt="0"/>
      <dgm:spPr/>
    </dgm:pt>
    <dgm:pt modelId="{213E0E29-8346-490A-AA7C-3E960918E73B}" type="pres">
      <dgm:prSet presAssocID="{B53A9CF1-E24E-4B25-827F-C1251C2CFC3D}" presName="tx1" presStyleLbl="revTx" presStyleIdx="3" presStyleCnt="11"/>
      <dgm:spPr/>
    </dgm:pt>
    <dgm:pt modelId="{0AFE87F3-B6E6-492C-9055-5EEFA050732D}" type="pres">
      <dgm:prSet presAssocID="{B53A9CF1-E24E-4B25-827F-C1251C2CFC3D}" presName="vert1" presStyleCnt="0"/>
      <dgm:spPr/>
    </dgm:pt>
    <dgm:pt modelId="{2D278BD5-264D-44A7-9058-97C2848A1A4E}" type="pres">
      <dgm:prSet presAssocID="{3047A93B-1B86-4D68-8011-B3DC50BD44D3}" presName="thickLine" presStyleLbl="alignNode1" presStyleIdx="4" presStyleCnt="11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4" presStyleCnt="11"/>
      <dgm:spPr/>
    </dgm:pt>
    <dgm:pt modelId="{58B2B29E-F313-4C4C-83FC-BC3E7D7FBBD5}" type="pres">
      <dgm:prSet presAssocID="{3047A93B-1B86-4D68-8011-B3DC50BD44D3}" presName="vert1" presStyleCnt="0"/>
      <dgm:spPr/>
    </dgm:pt>
    <dgm:pt modelId="{03D85220-6B72-40D1-9AE1-E6DE691DCF53}" type="pres">
      <dgm:prSet presAssocID="{D25A409B-FDD7-4C77-8E36-C904BAC79791}" presName="thickLine" presStyleLbl="alignNode1" presStyleIdx="5" presStyleCnt="11"/>
      <dgm:spPr/>
    </dgm:pt>
    <dgm:pt modelId="{912DF252-457D-4BCA-92AF-2B61E785BECB}" type="pres">
      <dgm:prSet presAssocID="{D25A409B-FDD7-4C77-8E36-C904BAC79791}" presName="horz1" presStyleCnt="0"/>
      <dgm:spPr/>
    </dgm:pt>
    <dgm:pt modelId="{0FD42244-56A0-444D-9090-5D72D345B73D}" type="pres">
      <dgm:prSet presAssocID="{D25A409B-FDD7-4C77-8E36-C904BAC79791}" presName="tx1" presStyleLbl="revTx" presStyleIdx="5" presStyleCnt="11"/>
      <dgm:spPr/>
    </dgm:pt>
    <dgm:pt modelId="{31A6294D-296A-4071-98BC-E49A4946BC73}" type="pres">
      <dgm:prSet presAssocID="{D25A409B-FDD7-4C77-8E36-C904BAC79791}" presName="vert1" presStyleCnt="0"/>
      <dgm:spPr/>
    </dgm:pt>
    <dgm:pt modelId="{312C5543-FB1D-4BA3-BFDC-D97216303EB2}" type="pres">
      <dgm:prSet presAssocID="{A497C743-4700-4D44-9FF1-1BBBF2C4C1D5}" presName="thickLine" presStyleLbl="alignNode1" presStyleIdx="6" presStyleCnt="11"/>
      <dgm:spPr/>
    </dgm:pt>
    <dgm:pt modelId="{EB06F142-7977-4CC5-AC2E-2FA83E628AFC}" type="pres">
      <dgm:prSet presAssocID="{A497C743-4700-4D44-9FF1-1BBBF2C4C1D5}" presName="horz1" presStyleCnt="0"/>
      <dgm:spPr/>
    </dgm:pt>
    <dgm:pt modelId="{93660068-CD76-4C56-9900-C56998D89469}" type="pres">
      <dgm:prSet presAssocID="{A497C743-4700-4D44-9FF1-1BBBF2C4C1D5}" presName="tx1" presStyleLbl="revTx" presStyleIdx="6" presStyleCnt="11"/>
      <dgm:spPr/>
    </dgm:pt>
    <dgm:pt modelId="{FE216362-F2D1-4BD1-AAB8-A789F73F4FD0}" type="pres">
      <dgm:prSet presAssocID="{A497C743-4700-4D44-9FF1-1BBBF2C4C1D5}" presName="vert1" presStyleCnt="0"/>
      <dgm:spPr/>
    </dgm:pt>
    <dgm:pt modelId="{E23CAE4E-217A-4E65-BE49-BD09F611744B}" type="pres">
      <dgm:prSet presAssocID="{9200CE98-B25D-47F2-9E98-2B703A3D4B32}" presName="thickLine" presStyleLbl="alignNode1" presStyleIdx="7" presStyleCnt="11"/>
      <dgm:spPr/>
    </dgm:pt>
    <dgm:pt modelId="{305502A7-0B6F-4516-A1A5-A1EB38B64E75}" type="pres">
      <dgm:prSet presAssocID="{9200CE98-B25D-47F2-9E98-2B703A3D4B32}" presName="horz1" presStyleCnt="0"/>
      <dgm:spPr/>
    </dgm:pt>
    <dgm:pt modelId="{84B9C954-FC2E-489F-A370-BB72E4735FEC}" type="pres">
      <dgm:prSet presAssocID="{9200CE98-B25D-47F2-9E98-2B703A3D4B32}" presName="tx1" presStyleLbl="revTx" presStyleIdx="7" presStyleCnt="11"/>
      <dgm:spPr/>
    </dgm:pt>
    <dgm:pt modelId="{D12F30A7-7865-40B2-87FD-9132E4C403DA}" type="pres">
      <dgm:prSet presAssocID="{9200CE98-B25D-47F2-9E98-2B703A3D4B32}" presName="vert1" presStyleCnt="0"/>
      <dgm:spPr/>
    </dgm:pt>
    <dgm:pt modelId="{3F343F96-43EA-40FC-B2BA-B69B4EF995B9}" type="pres">
      <dgm:prSet presAssocID="{53B103D6-7B09-43A1-9AE8-4A857AE2A627}" presName="thickLine" presStyleLbl="alignNode1" presStyleIdx="8" presStyleCnt="11"/>
      <dgm:spPr/>
    </dgm:pt>
    <dgm:pt modelId="{70E33DC6-344C-429F-A111-03D84CEB0C51}" type="pres">
      <dgm:prSet presAssocID="{53B103D6-7B09-43A1-9AE8-4A857AE2A627}" presName="horz1" presStyleCnt="0"/>
      <dgm:spPr/>
    </dgm:pt>
    <dgm:pt modelId="{86C55E10-C902-4759-9013-797BE9EBBC55}" type="pres">
      <dgm:prSet presAssocID="{53B103D6-7B09-43A1-9AE8-4A857AE2A627}" presName="tx1" presStyleLbl="revTx" presStyleIdx="8" presStyleCnt="11"/>
      <dgm:spPr/>
    </dgm:pt>
    <dgm:pt modelId="{243CF328-381A-47D8-A0DA-FE54980BB980}" type="pres">
      <dgm:prSet presAssocID="{53B103D6-7B09-43A1-9AE8-4A857AE2A627}" presName="vert1" presStyleCnt="0"/>
      <dgm:spPr/>
    </dgm:pt>
    <dgm:pt modelId="{7AB99CC0-51C0-4483-85AC-3059D5EF841C}" type="pres">
      <dgm:prSet presAssocID="{4D04C002-FD7C-42C7-A1C4-449E53FA6304}" presName="thickLine" presStyleLbl="alignNode1" presStyleIdx="9" presStyleCnt="11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9" presStyleCnt="11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10" presStyleCnt="11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10" presStyleCnt="11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DAFB951C-260B-4225-85A8-F3A7829ECF62}" type="presOf" srcId="{A497C743-4700-4D44-9FF1-1BBBF2C4C1D5}" destId="{93660068-CD76-4C56-9900-C56998D89469}" srcOrd="0" destOrd="0" presId="urn:microsoft.com/office/officeart/2008/layout/LinedList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305A2E-F551-4773-95E4-E3C3D962A732}" srcId="{E63BB8D6-27BC-4CD0-978C-8090523D0705}" destId="{9200CE98-B25D-47F2-9E98-2B703A3D4B32}" srcOrd="7" destOrd="0" parTransId="{A230F39C-E611-4D7C-8B22-127411010E97}" sibTransId="{DD06A4B6-AAF3-441D-B8D9-6465F826A0C8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4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903C7256-B696-428F-A4DA-B3255E8831A4}" srcId="{E63BB8D6-27BC-4CD0-978C-8090523D0705}" destId="{D25A409B-FDD7-4C77-8E36-C904BAC79791}" srcOrd="5" destOrd="0" parTransId="{6CA889DA-5F9A-4015-99FC-D1455065C236}" sibTransId="{BA18CE5A-52AF-4511-AB9D-3DE6642E437A}"/>
    <dgm:cxn modelId="{4AAD3387-DC3A-4739-A303-88E5F08F58BA}" srcId="{E63BB8D6-27BC-4CD0-978C-8090523D0705}" destId="{A497C743-4700-4D44-9FF1-1BBBF2C4C1D5}" srcOrd="6" destOrd="0" parTransId="{A0BEFE36-EBED-488D-8416-23BFDE9CD192}" sibTransId="{0E8E7E2E-A1CC-43F4-8FD1-5C8E1F2AC6BA}"/>
    <dgm:cxn modelId="{BC15F587-D3C4-4370-BF6E-C314EC2701A6}" type="presOf" srcId="{9200CE98-B25D-47F2-9E98-2B703A3D4B32}" destId="{84B9C954-FC2E-489F-A370-BB72E4735FEC}" srcOrd="0" destOrd="0" presId="urn:microsoft.com/office/officeart/2008/layout/LinedList"/>
    <dgm:cxn modelId="{EE868888-CD02-443A-9A03-CC3CAEB62695}" srcId="{E63BB8D6-27BC-4CD0-978C-8090523D0705}" destId="{B53A9CF1-E24E-4B25-827F-C1251C2CFC3D}" srcOrd="3" destOrd="0" parTransId="{7DE5889E-882D-45BE-AE0D-DFCCBF6ECA8F}" sibTransId="{6517CEB6-67A5-4337-A7AE-6D7B1424C1B9}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495D9A92-03EE-4C22-A404-207FA7776554}" type="presOf" srcId="{D25A409B-FDD7-4C77-8E36-C904BAC79791}" destId="{0FD42244-56A0-444D-9090-5D72D345B73D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9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C577A5C8-646E-4A9E-A054-E9F8A0342FE4}" type="presOf" srcId="{B53A9CF1-E24E-4B25-827F-C1251C2CFC3D}" destId="{213E0E29-8346-490A-AA7C-3E960918E73B}" srcOrd="0" destOrd="0" presId="urn:microsoft.com/office/officeart/2008/layout/LinedList"/>
    <dgm:cxn modelId="{3BB7F6DB-B24C-45E1-9A5B-C0AFB6D0EDF3}" srcId="{E63BB8D6-27BC-4CD0-978C-8090523D0705}" destId="{53B103D6-7B09-43A1-9AE8-4A857AE2A627}" srcOrd="8" destOrd="0" parTransId="{8781E4CB-F99D-4F5B-BD0D-E532EDB994C6}" sibTransId="{8C75F1FA-A056-4E79-93B9-47FF5EFC130B}"/>
    <dgm:cxn modelId="{DEC6ABDC-605F-44AE-8F95-6E0B70417767}" type="presOf" srcId="{53B103D6-7B09-43A1-9AE8-4A857AE2A627}" destId="{86C55E10-C902-4759-9013-797BE9EBBC55}" srcOrd="0" destOrd="0" presId="urn:microsoft.com/office/officeart/2008/layout/LinedList"/>
    <dgm:cxn modelId="{935024E5-72D8-4381-AED6-F19D318DD4A3}" srcId="{E63BB8D6-27BC-4CD0-978C-8090523D0705}" destId="{57164BAC-3121-4D82-AC4D-99AF2CE6FCF8}" srcOrd="10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BD1501B6-B5E1-43A4-AB25-B70483DBCF99}" type="presParOf" srcId="{C71BD923-6004-41EA-99F0-96E34D189658}" destId="{80D8D5A4-B595-4A87-BFC5-B13A15CF4E83}" srcOrd="6" destOrd="0" presId="urn:microsoft.com/office/officeart/2008/layout/LinedList"/>
    <dgm:cxn modelId="{26A77DE4-ACBA-416E-A797-ACE1E5A404A1}" type="presParOf" srcId="{C71BD923-6004-41EA-99F0-96E34D189658}" destId="{6ED62D2D-7F11-4A2E-B5E0-20E215891721}" srcOrd="7" destOrd="0" presId="urn:microsoft.com/office/officeart/2008/layout/LinedList"/>
    <dgm:cxn modelId="{77D69B80-3DA1-4CE0-9691-123DB265A9BF}" type="presParOf" srcId="{6ED62D2D-7F11-4A2E-B5E0-20E215891721}" destId="{213E0E29-8346-490A-AA7C-3E960918E73B}" srcOrd="0" destOrd="0" presId="urn:microsoft.com/office/officeart/2008/layout/LinedList"/>
    <dgm:cxn modelId="{C31F9E43-4B21-400F-8E77-ADC4B0432FAF}" type="presParOf" srcId="{6ED62D2D-7F11-4A2E-B5E0-20E215891721}" destId="{0AFE87F3-B6E6-492C-9055-5EEFA050732D}" srcOrd="1" destOrd="0" presId="urn:microsoft.com/office/officeart/2008/layout/LinedList"/>
    <dgm:cxn modelId="{59AE561E-2D65-4D6B-BC4D-390F057F0A00}" type="presParOf" srcId="{C71BD923-6004-41EA-99F0-96E34D189658}" destId="{2D278BD5-264D-44A7-9058-97C2848A1A4E}" srcOrd="8" destOrd="0" presId="urn:microsoft.com/office/officeart/2008/layout/LinedList"/>
    <dgm:cxn modelId="{32D4CABD-66BE-4602-A568-A6CC1F76D1C0}" type="presParOf" srcId="{C71BD923-6004-41EA-99F0-96E34D189658}" destId="{6C8212A7-3EDC-4748-85A3-AE07F2D36678}" srcOrd="9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69FE291F-E0F6-45A5-A6BF-58FE29E70784}" type="presParOf" srcId="{C71BD923-6004-41EA-99F0-96E34D189658}" destId="{03D85220-6B72-40D1-9AE1-E6DE691DCF53}" srcOrd="10" destOrd="0" presId="urn:microsoft.com/office/officeart/2008/layout/LinedList"/>
    <dgm:cxn modelId="{7FF18CA0-080B-4F33-ABF4-E43FB0837E4A}" type="presParOf" srcId="{C71BD923-6004-41EA-99F0-96E34D189658}" destId="{912DF252-457D-4BCA-92AF-2B61E785BECB}" srcOrd="11" destOrd="0" presId="urn:microsoft.com/office/officeart/2008/layout/LinedList"/>
    <dgm:cxn modelId="{BF5C59FB-5CF1-4DB0-A36A-7525B72C91E3}" type="presParOf" srcId="{912DF252-457D-4BCA-92AF-2B61E785BECB}" destId="{0FD42244-56A0-444D-9090-5D72D345B73D}" srcOrd="0" destOrd="0" presId="urn:microsoft.com/office/officeart/2008/layout/LinedList"/>
    <dgm:cxn modelId="{6154ED4C-D223-4853-9E08-CD0C97716B10}" type="presParOf" srcId="{912DF252-457D-4BCA-92AF-2B61E785BECB}" destId="{31A6294D-296A-4071-98BC-E49A4946BC73}" srcOrd="1" destOrd="0" presId="urn:microsoft.com/office/officeart/2008/layout/LinedList"/>
    <dgm:cxn modelId="{5F4072C0-3BD4-4423-967B-59B92134B54C}" type="presParOf" srcId="{C71BD923-6004-41EA-99F0-96E34D189658}" destId="{312C5543-FB1D-4BA3-BFDC-D97216303EB2}" srcOrd="12" destOrd="0" presId="urn:microsoft.com/office/officeart/2008/layout/LinedList"/>
    <dgm:cxn modelId="{ABEC3898-D4F6-4E78-A96E-BA5BB78700DF}" type="presParOf" srcId="{C71BD923-6004-41EA-99F0-96E34D189658}" destId="{EB06F142-7977-4CC5-AC2E-2FA83E628AFC}" srcOrd="13" destOrd="0" presId="urn:microsoft.com/office/officeart/2008/layout/LinedList"/>
    <dgm:cxn modelId="{8251648D-9C61-4A4A-A96B-7BD835AB353B}" type="presParOf" srcId="{EB06F142-7977-4CC5-AC2E-2FA83E628AFC}" destId="{93660068-CD76-4C56-9900-C56998D89469}" srcOrd="0" destOrd="0" presId="urn:microsoft.com/office/officeart/2008/layout/LinedList"/>
    <dgm:cxn modelId="{0AAC823E-35F1-48B0-9272-9C75FED9955C}" type="presParOf" srcId="{EB06F142-7977-4CC5-AC2E-2FA83E628AFC}" destId="{FE216362-F2D1-4BD1-AAB8-A789F73F4FD0}" srcOrd="1" destOrd="0" presId="urn:microsoft.com/office/officeart/2008/layout/LinedList"/>
    <dgm:cxn modelId="{5862AB3D-2058-4DB1-8A5F-7E0E52694EA5}" type="presParOf" srcId="{C71BD923-6004-41EA-99F0-96E34D189658}" destId="{E23CAE4E-217A-4E65-BE49-BD09F611744B}" srcOrd="14" destOrd="0" presId="urn:microsoft.com/office/officeart/2008/layout/LinedList"/>
    <dgm:cxn modelId="{06CD103D-84E5-41C0-A814-37D663CCEDDF}" type="presParOf" srcId="{C71BD923-6004-41EA-99F0-96E34D189658}" destId="{305502A7-0B6F-4516-A1A5-A1EB38B64E75}" srcOrd="15" destOrd="0" presId="urn:microsoft.com/office/officeart/2008/layout/LinedList"/>
    <dgm:cxn modelId="{83C31764-29BC-4191-BFF8-A4242D6B81CE}" type="presParOf" srcId="{305502A7-0B6F-4516-A1A5-A1EB38B64E75}" destId="{84B9C954-FC2E-489F-A370-BB72E4735FEC}" srcOrd="0" destOrd="0" presId="urn:microsoft.com/office/officeart/2008/layout/LinedList"/>
    <dgm:cxn modelId="{79A04CD0-332E-425A-AAB2-7AA2E8C2553D}" type="presParOf" srcId="{305502A7-0B6F-4516-A1A5-A1EB38B64E75}" destId="{D12F30A7-7865-40B2-87FD-9132E4C403DA}" srcOrd="1" destOrd="0" presId="urn:microsoft.com/office/officeart/2008/layout/LinedList"/>
    <dgm:cxn modelId="{0AFB4DAF-FDF6-4A1B-9C98-D3252182FBD3}" type="presParOf" srcId="{C71BD923-6004-41EA-99F0-96E34D189658}" destId="{3F343F96-43EA-40FC-B2BA-B69B4EF995B9}" srcOrd="16" destOrd="0" presId="urn:microsoft.com/office/officeart/2008/layout/LinedList"/>
    <dgm:cxn modelId="{3F4695AF-3657-4209-AA54-4CA5289742CA}" type="presParOf" srcId="{C71BD923-6004-41EA-99F0-96E34D189658}" destId="{70E33DC6-344C-429F-A111-03D84CEB0C51}" srcOrd="17" destOrd="0" presId="urn:microsoft.com/office/officeart/2008/layout/LinedList"/>
    <dgm:cxn modelId="{42D87C5B-6A96-48E7-9D27-0AD619E8203C}" type="presParOf" srcId="{70E33DC6-344C-429F-A111-03D84CEB0C51}" destId="{86C55E10-C902-4759-9013-797BE9EBBC55}" srcOrd="0" destOrd="0" presId="urn:microsoft.com/office/officeart/2008/layout/LinedList"/>
    <dgm:cxn modelId="{7BA7F1D2-18DF-44FA-87CB-84537177391C}" type="presParOf" srcId="{70E33DC6-344C-429F-A111-03D84CEB0C51}" destId="{243CF328-381A-47D8-A0DA-FE54980BB980}" srcOrd="1" destOrd="0" presId="urn:microsoft.com/office/officeart/2008/layout/LinedList"/>
    <dgm:cxn modelId="{06231A0C-6741-46BF-9C71-FBEECB7CC7D4}" type="presParOf" srcId="{C71BD923-6004-41EA-99F0-96E34D189658}" destId="{7AB99CC0-51C0-4483-85AC-3059D5EF841C}" srcOrd="18" destOrd="0" presId="urn:microsoft.com/office/officeart/2008/layout/LinedList"/>
    <dgm:cxn modelId="{850011FD-25F0-49CC-B52E-B88AE21B92AA}" type="presParOf" srcId="{C71BD923-6004-41EA-99F0-96E34D189658}" destId="{62B7C738-E260-440A-8002-A32418E1EC5B}" srcOrd="19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20" destOrd="0" presId="urn:microsoft.com/office/officeart/2008/layout/LinedList"/>
    <dgm:cxn modelId="{AEBF2684-7512-4D5B-A010-B888827FC053}" type="presParOf" srcId="{C71BD923-6004-41EA-99F0-96E34D189658}" destId="{A041E22C-AE10-46C3-8671-353C5B8893F0}" srcOrd="21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270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sp:txBody>
      <dsp:txXfrm>
        <a:off x="0" y="2703"/>
        <a:ext cx="6900512" cy="502794"/>
      </dsp:txXfrm>
    </dsp:sp>
    <dsp:sp modelId="{D6F322F4-78C7-4AC1-BD06-2240BE727109}">
      <dsp:nvSpPr>
        <dsp:cNvPr id="0" name=""/>
        <dsp:cNvSpPr/>
      </dsp:nvSpPr>
      <dsp:spPr>
        <a:xfrm>
          <a:off x="0" y="50549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50549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5497"/>
        <a:ext cx="6900512" cy="502794"/>
      </dsp:txXfrm>
    </dsp:sp>
    <dsp:sp modelId="{29966794-10E0-4AA1-80B2-81E9C8B802AA}">
      <dsp:nvSpPr>
        <dsp:cNvPr id="0" name=""/>
        <dsp:cNvSpPr/>
      </dsp:nvSpPr>
      <dsp:spPr>
        <a:xfrm>
          <a:off x="0" y="100829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00829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008291"/>
        <a:ext cx="6900512" cy="502794"/>
      </dsp:txXfrm>
    </dsp:sp>
    <dsp:sp modelId="{80D8D5A4-B595-4A87-BFC5-B13A15CF4E83}">
      <dsp:nvSpPr>
        <dsp:cNvPr id="0" name=""/>
        <dsp:cNvSpPr/>
      </dsp:nvSpPr>
      <dsp:spPr>
        <a:xfrm>
          <a:off x="0" y="151108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E0E29-8346-490A-AA7C-3E960918E73B}">
      <dsp:nvSpPr>
        <dsp:cNvPr id="0" name=""/>
        <dsp:cNvSpPr/>
      </dsp:nvSpPr>
      <dsp:spPr>
        <a:xfrm>
          <a:off x="0" y="151108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sp:txBody>
      <dsp:txXfrm>
        <a:off x="0" y="1511085"/>
        <a:ext cx="6900512" cy="502794"/>
      </dsp:txXfrm>
    </dsp:sp>
    <dsp:sp modelId="{2D278BD5-264D-44A7-9058-97C2848A1A4E}">
      <dsp:nvSpPr>
        <dsp:cNvPr id="0" name=""/>
        <dsp:cNvSpPr/>
      </dsp:nvSpPr>
      <dsp:spPr>
        <a:xfrm>
          <a:off x="0" y="201387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01387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sp:txBody>
      <dsp:txXfrm>
        <a:off x="0" y="2013879"/>
        <a:ext cx="6900512" cy="502794"/>
      </dsp:txXfrm>
    </dsp:sp>
    <dsp:sp modelId="{03D85220-6B72-40D1-9AE1-E6DE691DCF53}">
      <dsp:nvSpPr>
        <dsp:cNvPr id="0" name=""/>
        <dsp:cNvSpPr/>
      </dsp:nvSpPr>
      <dsp:spPr>
        <a:xfrm>
          <a:off x="0" y="251667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42244-56A0-444D-9090-5D72D345B73D}">
      <dsp:nvSpPr>
        <dsp:cNvPr id="0" name=""/>
        <dsp:cNvSpPr/>
      </dsp:nvSpPr>
      <dsp:spPr>
        <a:xfrm>
          <a:off x="0" y="251667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sp:txBody>
      <dsp:txXfrm>
        <a:off x="0" y="2516673"/>
        <a:ext cx="6900512" cy="502794"/>
      </dsp:txXfrm>
    </dsp:sp>
    <dsp:sp modelId="{312C5543-FB1D-4BA3-BFDC-D97216303EB2}">
      <dsp:nvSpPr>
        <dsp:cNvPr id="0" name=""/>
        <dsp:cNvSpPr/>
      </dsp:nvSpPr>
      <dsp:spPr>
        <a:xfrm>
          <a:off x="0" y="301946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660068-CD76-4C56-9900-C56998D89469}">
      <dsp:nvSpPr>
        <dsp:cNvPr id="0" name=""/>
        <dsp:cNvSpPr/>
      </dsp:nvSpPr>
      <dsp:spPr>
        <a:xfrm>
          <a:off x="0" y="301946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019467"/>
        <a:ext cx="6900512" cy="502794"/>
      </dsp:txXfrm>
    </dsp:sp>
    <dsp:sp modelId="{E23CAE4E-217A-4E65-BE49-BD09F611744B}">
      <dsp:nvSpPr>
        <dsp:cNvPr id="0" name=""/>
        <dsp:cNvSpPr/>
      </dsp:nvSpPr>
      <dsp:spPr>
        <a:xfrm>
          <a:off x="0" y="352226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B9C954-FC2E-489F-A370-BB72E4735FEC}">
      <dsp:nvSpPr>
        <dsp:cNvPr id="0" name=""/>
        <dsp:cNvSpPr/>
      </dsp:nvSpPr>
      <dsp:spPr>
        <a:xfrm>
          <a:off x="0" y="352226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sp:txBody>
      <dsp:txXfrm>
        <a:off x="0" y="3522261"/>
        <a:ext cx="6900512" cy="502794"/>
      </dsp:txXfrm>
    </dsp:sp>
    <dsp:sp modelId="{3F343F96-43EA-40FC-B2BA-B69B4EF995B9}">
      <dsp:nvSpPr>
        <dsp:cNvPr id="0" name=""/>
        <dsp:cNvSpPr/>
      </dsp:nvSpPr>
      <dsp:spPr>
        <a:xfrm>
          <a:off x="0" y="402505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55E10-C902-4759-9013-797BE9EBBC55}">
      <dsp:nvSpPr>
        <dsp:cNvPr id="0" name=""/>
        <dsp:cNvSpPr/>
      </dsp:nvSpPr>
      <dsp:spPr>
        <a:xfrm>
          <a:off x="0" y="402505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4025055"/>
        <a:ext cx="6900512" cy="502794"/>
      </dsp:txXfrm>
    </dsp:sp>
    <dsp:sp modelId="{7AB99CC0-51C0-4483-85AC-3059D5EF841C}">
      <dsp:nvSpPr>
        <dsp:cNvPr id="0" name=""/>
        <dsp:cNvSpPr/>
      </dsp:nvSpPr>
      <dsp:spPr>
        <a:xfrm>
          <a:off x="0" y="452784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452784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527849"/>
        <a:ext cx="6900512" cy="502794"/>
      </dsp:txXfrm>
    </dsp:sp>
    <dsp:sp modelId="{9DAEC4B7-B31B-4213-A64B-E8D32906A0A1}">
      <dsp:nvSpPr>
        <dsp:cNvPr id="0" name=""/>
        <dsp:cNvSpPr/>
      </dsp:nvSpPr>
      <dsp:spPr>
        <a:xfrm>
          <a:off x="0" y="503064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503064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30643"/>
        <a:ext cx="6900512" cy="5027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F3D8-05B0-9CD2-A719-245FB567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A5BE0A-DBA6-108E-30DE-35EC35BAF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8E6FC-CDCA-2EA7-C9C1-FBB459E20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BEED-1887-7183-B53B-F805F734B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65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6561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552069 w 10515600"/>
              <a:gd name="connsiteY1" fmla="*/ 0 h 27432"/>
              <a:gd name="connsiteX2" fmla="*/ 893826 w 10515600"/>
              <a:gd name="connsiteY2" fmla="*/ 0 h 27432"/>
              <a:gd name="connsiteX3" fmla="*/ 1761363 w 10515600"/>
              <a:gd name="connsiteY3" fmla="*/ 0 h 27432"/>
              <a:gd name="connsiteX4" fmla="*/ 2313432 w 10515600"/>
              <a:gd name="connsiteY4" fmla="*/ 0 h 27432"/>
              <a:gd name="connsiteX5" fmla="*/ 2865501 w 10515600"/>
              <a:gd name="connsiteY5" fmla="*/ 0 h 27432"/>
              <a:gd name="connsiteX6" fmla="*/ 3733038 w 10515600"/>
              <a:gd name="connsiteY6" fmla="*/ 0 h 27432"/>
              <a:gd name="connsiteX7" fmla="*/ 4179951 w 10515600"/>
              <a:gd name="connsiteY7" fmla="*/ 0 h 27432"/>
              <a:gd name="connsiteX8" fmla="*/ 5047488 w 10515600"/>
              <a:gd name="connsiteY8" fmla="*/ 0 h 27432"/>
              <a:gd name="connsiteX9" fmla="*/ 5915025 w 10515600"/>
              <a:gd name="connsiteY9" fmla="*/ 0 h 27432"/>
              <a:gd name="connsiteX10" fmla="*/ 6572250 w 10515600"/>
              <a:gd name="connsiteY10" fmla="*/ 0 h 27432"/>
              <a:gd name="connsiteX11" fmla="*/ 7439787 w 10515600"/>
              <a:gd name="connsiteY11" fmla="*/ 0 h 27432"/>
              <a:gd name="connsiteX12" fmla="*/ 7991856 w 10515600"/>
              <a:gd name="connsiteY12" fmla="*/ 0 h 27432"/>
              <a:gd name="connsiteX13" fmla="*/ 8543925 w 10515600"/>
              <a:gd name="connsiteY13" fmla="*/ 0 h 27432"/>
              <a:gd name="connsiteX14" fmla="*/ 9306306 w 10515600"/>
              <a:gd name="connsiteY14" fmla="*/ 0 h 27432"/>
              <a:gd name="connsiteX15" fmla="*/ 9858375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9753219 w 10515600"/>
              <a:gd name="connsiteY18" fmla="*/ 27432 h 27432"/>
              <a:gd name="connsiteX19" fmla="*/ 9411462 w 10515600"/>
              <a:gd name="connsiteY19" fmla="*/ 27432 h 27432"/>
              <a:gd name="connsiteX20" fmla="*/ 8964549 w 10515600"/>
              <a:gd name="connsiteY20" fmla="*/ 27432 h 27432"/>
              <a:gd name="connsiteX21" fmla="*/ 8097012 w 10515600"/>
              <a:gd name="connsiteY21" fmla="*/ 27432 h 27432"/>
              <a:gd name="connsiteX22" fmla="*/ 7439787 w 10515600"/>
              <a:gd name="connsiteY22" fmla="*/ 27432 h 27432"/>
              <a:gd name="connsiteX23" fmla="*/ 6992874 w 10515600"/>
              <a:gd name="connsiteY23" fmla="*/ 27432 h 27432"/>
              <a:gd name="connsiteX24" fmla="*/ 6335649 w 10515600"/>
              <a:gd name="connsiteY24" fmla="*/ 27432 h 27432"/>
              <a:gd name="connsiteX25" fmla="*/ 5993892 w 10515600"/>
              <a:gd name="connsiteY25" fmla="*/ 27432 h 27432"/>
              <a:gd name="connsiteX26" fmla="*/ 5652135 w 10515600"/>
              <a:gd name="connsiteY26" fmla="*/ 27432 h 27432"/>
              <a:gd name="connsiteX27" fmla="*/ 4994910 w 10515600"/>
              <a:gd name="connsiteY27" fmla="*/ 27432 h 27432"/>
              <a:gd name="connsiteX28" fmla="*/ 4547997 w 10515600"/>
              <a:gd name="connsiteY28" fmla="*/ 27432 h 27432"/>
              <a:gd name="connsiteX29" fmla="*/ 3785616 w 10515600"/>
              <a:gd name="connsiteY29" fmla="*/ 27432 h 27432"/>
              <a:gd name="connsiteX30" fmla="*/ 3338703 w 10515600"/>
              <a:gd name="connsiteY30" fmla="*/ 27432 h 27432"/>
              <a:gd name="connsiteX31" fmla="*/ 2576322 w 10515600"/>
              <a:gd name="connsiteY31" fmla="*/ 27432 h 27432"/>
              <a:gd name="connsiteX32" fmla="*/ 2234565 w 10515600"/>
              <a:gd name="connsiteY32" fmla="*/ 27432 h 27432"/>
              <a:gd name="connsiteX33" fmla="*/ 1472184 w 10515600"/>
              <a:gd name="connsiteY33" fmla="*/ 27432 h 27432"/>
              <a:gd name="connsiteX34" fmla="*/ 1025271 w 10515600"/>
              <a:gd name="connsiteY34" fmla="*/ 27432 h 27432"/>
              <a:gd name="connsiteX35" fmla="*/ 683514 w 10515600"/>
              <a:gd name="connsiteY35" fmla="*/ 27432 h 27432"/>
              <a:gd name="connsiteX36" fmla="*/ 0 w 10515600"/>
              <a:gd name="connsiteY36" fmla="*/ 27432 h 27432"/>
              <a:gd name="connsiteX37" fmla="*/ 0 w 10515600"/>
              <a:gd name="connsiteY37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onnsiteX0" fmla="*/ 0 w 3877056"/>
              <a:gd name="connsiteY0" fmla="*/ 0 h 27432"/>
              <a:gd name="connsiteX1" fmla="*/ 723717 w 3877056"/>
              <a:gd name="connsiteY1" fmla="*/ 0 h 27432"/>
              <a:gd name="connsiteX2" fmla="*/ 1408664 w 3877056"/>
              <a:gd name="connsiteY2" fmla="*/ 0 h 27432"/>
              <a:gd name="connsiteX3" fmla="*/ 2093610 w 3877056"/>
              <a:gd name="connsiteY3" fmla="*/ 0 h 27432"/>
              <a:gd name="connsiteX4" fmla="*/ 2623475 w 3877056"/>
              <a:gd name="connsiteY4" fmla="*/ 0 h 27432"/>
              <a:gd name="connsiteX5" fmla="*/ 3192109 w 3877056"/>
              <a:gd name="connsiteY5" fmla="*/ 0 h 27432"/>
              <a:gd name="connsiteX6" fmla="*/ 3877056 w 3877056"/>
              <a:gd name="connsiteY6" fmla="*/ 0 h 27432"/>
              <a:gd name="connsiteX7" fmla="*/ 3877056 w 3877056"/>
              <a:gd name="connsiteY7" fmla="*/ 27432 h 27432"/>
              <a:gd name="connsiteX8" fmla="*/ 3230880 w 3877056"/>
              <a:gd name="connsiteY8" fmla="*/ 27432 h 27432"/>
              <a:gd name="connsiteX9" fmla="*/ 2701016 w 3877056"/>
              <a:gd name="connsiteY9" fmla="*/ 27432 h 27432"/>
              <a:gd name="connsiteX10" fmla="*/ 2171151 w 3877056"/>
              <a:gd name="connsiteY10" fmla="*/ 27432 h 27432"/>
              <a:gd name="connsiteX11" fmla="*/ 1486205 w 3877056"/>
              <a:gd name="connsiteY11" fmla="*/ 27432 h 27432"/>
              <a:gd name="connsiteX12" fmla="*/ 917570 w 3877056"/>
              <a:gd name="connsiteY12" fmla="*/ 27432 h 27432"/>
              <a:gd name="connsiteX13" fmla="*/ 0 w 3877056"/>
              <a:gd name="connsiteY13" fmla="*/ 27432 h 27432"/>
              <a:gd name="connsiteX14" fmla="*/ 0 w 3877056"/>
              <a:gd name="connsiteY14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52652-7F16-594D-3FF8-DA3C1A30C5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ro-RO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sv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1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2443" y="1655558"/>
            <a:ext cx="10024065" cy="1773442"/>
          </a:xfrm>
        </p:spPr>
        <p:txBody>
          <a:bodyPr>
            <a:noAutofit/>
          </a:bodyPr>
          <a:lstStyle/>
          <a:p>
            <a:r>
              <a:rPr lang="ro-RO" sz="4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 de autentificare OAuth cu Schnorr ZKP: Securitate fără partajare de secrete</a:t>
            </a:r>
            <a:endParaRPr lang="en-US" sz="4000" b="1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Autor: Matei </a:t>
            </a:r>
            <a:r>
              <a:rPr lang="en-US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Rar</a:t>
            </a:r>
            <a:r>
              <a:rPr lang="ro-RO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eș</a:t>
            </a:r>
            <a:endParaRPr lang="en-US" dirty="0">
              <a:solidFill>
                <a:schemeClr val="tx1"/>
              </a:solidFill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 </a:t>
            </a:r>
            <a:r>
              <a:rPr lang="en-US" sz="24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Coordonator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: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Ș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.l.dr.inf.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Silviu Pavăl</a:t>
            </a:r>
            <a:endParaRPr lang="en-US" sz="2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UNIVERSITATEA TEHNIC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"GHEORGHE ASACHI"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DIN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</a:p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FACULTATEA DE AUTOMATIC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CALCULATOARE</a:t>
            </a:r>
          </a:p>
          <a:p>
            <a:pPr algn="l"/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SECURITATEA SPA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ȚIULUI CIBERNETIC</a:t>
            </a:r>
            <a:endParaRPr lang="en-US" sz="2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2392679" cy="5583148"/>
          </a:xfrm>
        </p:spPr>
        <p:txBody>
          <a:bodyPr anchor="ctr">
            <a:norm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SUMAR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5064578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D3E9C2-C04C-0F2D-692E-1AD315519A6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729FF-5975-FD7C-789A-1AEE76333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272" y="1131829"/>
            <a:ext cx="5804747" cy="4534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62ECF6-A819-3E9E-1093-2F6C2AAE4784}"/>
              </a:ext>
            </a:extLst>
          </p:cNvPr>
          <p:cNvSpPr txBox="1"/>
          <p:nvPr/>
        </p:nvSpPr>
        <p:spPr>
          <a:xfrm>
            <a:off x="4225780" y="1801538"/>
            <a:ext cx="7376674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Autentificarea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Oauth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clasica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: secret partajat transmis către server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HTTPS: reduce interceptarea, nu elimină vulnerabilitățile structurale (breșe DB, reutilizare parole,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SNDL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en-US" b="1" dirty="0" err="1">
                <a:latin typeface="Segoe UI" panose="020B0502040204020203" pitchFamily="34" charset="0"/>
                <a:cs typeface="Segoe UI" panose="020B0502040204020203" pitchFamily="34" charset="0"/>
              </a:rPr>
              <a:t>olutie</a:t>
            </a:r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Protocol de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autentificare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f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ără transmiterea parolei către server.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Mapare ZKP peste OAuth: angajament → inițiere cerere, provocare → nonce sesiune, răspuns → autentificare client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Referință: 3 fluxuri OAuth clasice + evaluare comparativă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protocoale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ZKP (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SRP-6a, zk-SNARK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348B2-D7B5-1AA6-2804-C78B2BE0BC5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000" dirty="0">
                <a:solidFill>
                  <a:schemeClr val="accent1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TEHNOLOGII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6545797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729" y="2923258"/>
            <a:ext cx="767252" cy="7808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7373803" y="4057342"/>
            <a:ext cx="337310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Python ( Flask, Locust )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L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imbaj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flexibil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î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mbinarea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mai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multor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biblioteci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iterare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rapid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ă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1273963" y="4052706"/>
            <a:ext cx="419471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Javascript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HTML, CSS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Compatibilitate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standardizare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 descr="A yellow rectangular sign with black letters&#10;&#10;AI-generated content may be incorrect.">
            <a:extLst>
              <a:ext uri="{FF2B5EF4-FFF2-40B4-BE49-F238E27FC236}">
                <a16:creationId xmlns:a16="http://schemas.microsoft.com/office/drawing/2014/main" id="{EEAF6460-3DE8-BDF4-089C-C1D1042D6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000" y="2942478"/>
            <a:ext cx="705732" cy="705732"/>
          </a:xfrm>
          <a:prstGeom prst="rect">
            <a:avLst/>
          </a:prstGeom>
        </p:spPr>
      </p:pic>
      <p:pic>
        <p:nvPicPr>
          <p:cNvPr id="7" name="Picture 6" descr="A logo of a software company&#10;&#10;AI-generated content may be incorrect.">
            <a:extLst>
              <a:ext uri="{FF2B5EF4-FFF2-40B4-BE49-F238E27FC236}">
                <a16:creationId xmlns:a16="http://schemas.microsoft.com/office/drawing/2014/main" id="{2852E522-DF8E-37E4-FC35-15A070334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8019" y="2954646"/>
            <a:ext cx="718035" cy="7180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D29EE-93B4-79A9-23BA-9FBD793BB775}"/>
              </a:ext>
            </a:extLst>
          </p:cNvPr>
          <p:cNvSpPr/>
          <p:nvPr/>
        </p:nvSpPr>
        <p:spPr>
          <a:xfrm>
            <a:off x="868898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8A4422DF-FFD6-3855-F13D-FB0FE6DEB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341" y="2954646"/>
            <a:ext cx="718035" cy="7180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942F56-349B-4DE4-70EC-AA04DBB2CED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891176"/>
            <a:ext cx="4215543" cy="12550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ARHITECTURA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environment</a:t>
            </a: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2104" y="4687764"/>
            <a:ext cx="477592" cy="56244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75D82D-108A-B56B-6A71-B6FBC2CB3D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95" y="2333923"/>
            <a:ext cx="4531360" cy="354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E6D6C0-065E-9F10-2577-57843F2AA1EA}"/>
              </a:ext>
            </a:extLst>
          </p:cNvPr>
          <p:cNvSpPr txBox="1"/>
          <p:nvPr/>
        </p:nvSpPr>
        <p:spPr>
          <a:xfrm>
            <a:off x="188044" y="2859216"/>
            <a:ext cx="659823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Prezentare: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interfață web statică, calcule ZKP locale, monitor rețea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Aplicație (Flask):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validare subgrup (is_subgroup_member), emitere JWT, legare canal (Session Binding)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Date (SQLite):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User (secret_y), AuthToken, PersoData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8D8D8-46AF-EEA9-D5B9-EE9F7114BCCF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>
            <a:off x="8650939" y="1518706"/>
            <a:ext cx="1083370" cy="13853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B8416F-BB84-3F70-9FF6-48A9C8728502}"/>
              </a:ext>
            </a:extLst>
          </p:cNvPr>
          <p:cNvCxnSpPr>
            <a:cxnSpLocks/>
            <a:stCxn id="31" idx="2"/>
            <a:endCxn id="6" idx="0"/>
          </p:cNvCxnSpPr>
          <p:nvPr/>
        </p:nvCxnSpPr>
        <p:spPr>
          <a:xfrm flipH="1">
            <a:off x="9730900" y="4159079"/>
            <a:ext cx="3409" cy="5286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18451E82-5D06-D5A8-211B-AE8D2F54049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9846" y="3292392"/>
            <a:ext cx="747223" cy="7210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D9DDDE-5CE8-FA19-6A86-8857E68059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14509" y="3292392"/>
            <a:ext cx="747223" cy="721097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F0B8E5-44FC-08C3-2FD0-A9DA8674B2FD}"/>
              </a:ext>
            </a:extLst>
          </p:cNvPr>
          <p:cNvCxnSpPr>
            <a:cxnSpLocks/>
            <a:stCxn id="9" idx="2"/>
            <a:endCxn id="38" idx="0"/>
          </p:cNvCxnSpPr>
          <p:nvPr/>
        </p:nvCxnSpPr>
        <p:spPr>
          <a:xfrm flipH="1">
            <a:off x="7792866" y="1518706"/>
            <a:ext cx="858073" cy="14227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3DF2D47-20BF-57CA-E08D-5E17925999E0}"/>
              </a:ext>
            </a:extLst>
          </p:cNvPr>
          <p:cNvCxnSpPr>
            <a:cxnSpLocks/>
            <a:stCxn id="39" idx="2"/>
            <a:endCxn id="30" idx="0"/>
          </p:cNvCxnSpPr>
          <p:nvPr/>
        </p:nvCxnSpPr>
        <p:spPr>
          <a:xfrm flipH="1">
            <a:off x="7749408" y="4169136"/>
            <a:ext cx="1" cy="518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C5BD977-222C-2EA5-1895-700A70FEB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0612" y="4687764"/>
            <a:ext cx="477592" cy="562441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6A62A02-D5C8-0CA9-396D-D4393953EC2E}"/>
              </a:ext>
            </a:extLst>
          </p:cNvPr>
          <p:cNvSpPr/>
          <p:nvPr/>
        </p:nvSpPr>
        <p:spPr>
          <a:xfrm>
            <a:off x="9090195" y="2904021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23BD85-5681-835A-7EA3-4B26BDB0206E}"/>
              </a:ext>
            </a:extLst>
          </p:cNvPr>
          <p:cNvSpPr txBox="1"/>
          <p:nvPr/>
        </p:nvSpPr>
        <p:spPr>
          <a:xfrm>
            <a:off x="9369263" y="291407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Auth </a:t>
            </a:r>
            <a:endParaRPr lang="ro-RO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63534E-8172-D47F-B6D6-02418F375ECC}"/>
              </a:ext>
            </a:extLst>
          </p:cNvPr>
          <p:cNvSpPr txBox="1"/>
          <p:nvPr/>
        </p:nvSpPr>
        <p:spPr>
          <a:xfrm>
            <a:off x="7174748" y="294145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Resource </a:t>
            </a:r>
            <a:endParaRPr lang="ro-RO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BAF630-C997-1CE1-A907-07AC1771F849}"/>
              </a:ext>
            </a:extLst>
          </p:cNvPr>
          <p:cNvSpPr/>
          <p:nvPr/>
        </p:nvSpPr>
        <p:spPr>
          <a:xfrm>
            <a:off x="7105295" y="2914078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6F48FA-9049-C4CD-6C83-F16B6ADA4FD9}"/>
              </a:ext>
            </a:extLst>
          </p:cNvPr>
          <p:cNvSpPr txBox="1"/>
          <p:nvPr/>
        </p:nvSpPr>
        <p:spPr>
          <a:xfrm>
            <a:off x="7379846" y="2141598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106221-A891-8DFD-1DAC-157207D1DA97}"/>
              </a:ext>
            </a:extLst>
          </p:cNvPr>
          <p:cNvSpPr txBox="1"/>
          <p:nvPr/>
        </p:nvSpPr>
        <p:spPr>
          <a:xfrm>
            <a:off x="9277605" y="2123050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F16CF1-E1E3-05AD-8DCF-CC23A0A567AF}"/>
              </a:ext>
            </a:extLst>
          </p:cNvPr>
          <p:cNvSpPr txBox="1"/>
          <p:nvPr/>
        </p:nvSpPr>
        <p:spPr>
          <a:xfrm>
            <a:off x="8202738" y="27776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  <a:endParaRPr lang="ro-RO" dirty="0"/>
          </a:p>
        </p:txBody>
      </p:sp>
      <p:pic>
        <p:nvPicPr>
          <p:cNvPr id="10" name="Picture 9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FD58C879-F46D-75DB-FA5F-F50A227733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4833" y="5339294"/>
            <a:ext cx="1586836" cy="1313606"/>
          </a:xfrm>
          <a:prstGeom prst="rect">
            <a:avLst/>
          </a:prstGeom>
        </p:spPr>
      </p:pic>
      <p:pic>
        <p:nvPicPr>
          <p:cNvPr id="26" name="Picture 25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37CC19A0-CB2B-07C4-9269-3609F237047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24147" y="5339294"/>
            <a:ext cx="1586837" cy="13136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EDD577-AD6C-6820-9CCC-076D8119D8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04D3A-EBED-77BA-58C5-5D8A98EF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14CC-2555-1229-BBFC-641DF8A0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 err="1">
                <a:latin typeface="Segoe UI" panose="020B0502040204020203" pitchFamily="34" charset="0"/>
                <a:cs typeface="Segoe UI" panose="020B0502040204020203" pitchFamily="34" charset="0"/>
              </a:rPr>
              <a:t>interactiv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/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lvl="0"/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Parametrii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 -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numar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prim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mare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 - factor prim mare al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lui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 P-1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- generator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unde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G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 P-1), h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(1,P-1)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a.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î.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≡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(P-1)/Q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și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 ≡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1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endParaRPr lang="ro-RO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x, r, c -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aleatoriu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𝑍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sub>
                      <m:sup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blipFill>
                <a:blip r:embed="rId3"/>
                <a:stretch>
                  <a:fillRect l="-1795" t="-2731" b="-3992"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BF7E5D28-DA20-97BD-168A-FC81F1B24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52" y="2358543"/>
            <a:ext cx="4531360" cy="354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3C7C1D-3CB7-2FCB-EE86-BDDE6C6DCB3F}"/>
              </a:ext>
            </a:extLst>
          </p:cNvPr>
          <p:cNvSpPr txBox="1"/>
          <p:nvPr/>
        </p:nvSpPr>
        <p:spPr>
          <a:xfrm>
            <a:off x="189054" y="3065814"/>
            <a:ext cx="6414946" cy="3616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tabLst>
                <a:tab pos="457200" algn="l"/>
              </a:tabLst>
            </a:pP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P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roblema logaritmului discret (DLP)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Chei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: y =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Angajament: t = 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r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Provocare: c 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Răspuns: s = (r + c * x)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Q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 err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≡ t * </a:t>
            </a:r>
            <a:r>
              <a:rPr lang="en-US" sz="3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y</a:t>
            </a:r>
            <a:r>
              <a:rPr lang="en-US" sz="3000" kern="0" baseline="4000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(mod P)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8E5C7A-3AFE-EF86-8A0A-5D8F8E92C87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6/1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0263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547409" y="400143"/>
            <a:ext cx="2340770" cy="59055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Inregistrarea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3BA8C525-CB70-5211-F2C5-3611B8CBA7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64F9AC-1A88-237E-F326-180BA0E7A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89FDEC-995C-81BE-524F-21E8A84A3E4E}"/>
              </a:ext>
            </a:extLst>
          </p:cNvPr>
          <p:cNvSpPr txBox="1"/>
          <p:nvPr/>
        </p:nvSpPr>
        <p:spPr>
          <a:xfrm>
            <a:off x="145312" y="2162616"/>
            <a:ext cx="3144965" cy="3760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User: introduce </a:t>
            </a:r>
            <a:r>
              <a:rPr lang="en-US" sz="25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sz="25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App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derivare x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parol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a,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calculeaza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trimis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Server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verificare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salvare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ro-RO" sz="25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ED352B-1402-6FCE-054D-C6766DCF3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885" y="0"/>
            <a:ext cx="986687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9290B5-58D2-C0EF-D403-CAB516D3115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7/1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1372-6395-69E3-BED3-27CC790E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CF2727-B90F-1564-DDED-7943C2847F98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commit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7585E611-8627-7454-1E6D-A3FC3AB2BD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6B16AC-3E09-8828-9BF5-DBDF4622FC8A}"/>
              </a:ext>
            </a:extLst>
          </p:cNvPr>
          <p:cNvSpPr txBox="1"/>
          <p:nvPr/>
        </p:nvSpPr>
        <p:spPr>
          <a:xfrm>
            <a:off x="212558" y="2334555"/>
            <a:ext cx="44923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User: introduce </a:t>
            </a:r>
            <a:r>
              <a:rPr lang="en-US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kern="0" dirty="0"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trimite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angajament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Server: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o-RO" noProof="0" dirty="0">
                <a:latin typeface="Segoe UI" panose="020B0502040204020203" pitchFamily="34" charset="0"/>
                <a:cs typeface="Segoe UI" panose="020B0502040204020203" pitchFamily="34" charset="0"/>
              </a:rPr>
              <a:t>creeaza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sesiunea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raspunde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cu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provocarea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8150F-556B-DDBB-8577-1DA305AF9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956" y="74001"/>
            <a:ext cx="828404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CF46AFF-0257-0B90-1A7E-133B3A40D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851D36-909F-02BF-4B14-2AF555E2344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8/1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6919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25C9-96FD-1087-3BD7-F4579CCC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E2FC0FE-4730-29F1-040F-02A538621C6C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9/1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521CA239-BB09-99B6-2184-363FF9885B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D84BB7B5-60BB-8ED2-88B1-ADD5D4F38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822" y="152400"/>
            <a:ext cx="933598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DCCB27-1BBB-EA6E-CC4F-1E997C15EF09}"/>
              </a:ext>
            </a:extLst>
          </p:cNvPr>
          <p:cNvSpPr txBox="1"/>
          <p:nvPr/>
        </p:nvSpPr>
        <p:spPr>
          <a:xfrm>
            <a:off x="212558" y="2334555"/>
            <a:ext cx="35153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calculeaza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Server: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valideaza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returneaza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token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E06B80-ADA2-A43C-E1DA-7C496693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9B602F-C49C-34A6-28E6-5040BB65C858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verify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320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45B5-45BA-6730-6415-00B70A56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AA1D982F-A7D8-AAD4-5C9D-C022EED052F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10/1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14F74A77-0E26-5316-18BD-9564FB875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424B6-ABAA-FE83-FA31-6E5D7DA2E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483" y="570523"/>
            <a:ext cx="9077244" cy="57169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B0F421-FD4A-62F6-8F73-74FDB8E2B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CB8F2DE-8D4E-1A87-EDBB-5AEF702070F9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Consum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token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2781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5080576" cy="1620422"/>
          </a:xfrm>
        </p:spPr>
        <p:txBody>
          <a:bodyPr>
            <a:no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Proprietăți de securitate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917686-79AC-E52C-B5F5-481FDBFE5F24}"/>
              </a:ext>
            </a:extLst>
          </p:cNvPr>
          <p:cNvSpPr txBox="1"/>
          <p:nvPr/>
        </p:nvSpPr>
        <p:spPr>
          <a:xfrm>
            <a:off x="287687" y="4140039"/>
            <a:ext cx="7019698" cy="1277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2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Server </a:t>
            </a:r>
            <a:r>
              <a:rPr lang="en-US" sz="20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stocheaza</a:t>
            </a:r>
            <a:r>
              <a:rPr lang="en-US" sz="2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20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doar</a:t>
            </a:r>
            <a:r>
              <a:rPr lang="en-US" sz="20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y – data breach (DLP)</a:t>
            </a:r>
            <a:endParaRPr lang="ro-RO" sz="2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{t, c, s} efemere</a:t>
            </a:r>
            <a:r>
              <a:rPr lang="en-US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- replay</a:t>
            </a:r>
          </a:p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</a:t>
            </a:r>
            <a:r>
              <a:rPr lang="en-US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0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si</a:t>
            </a:r>
            <a:r>
              <a:rPr lang="en-US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x</a:t>
            </a:r>
            <a:r>
              <a:rPr lang="ro-RO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netransmis</a:t>
            </a:r>
            <a:r>
              <a:rPr lang="en-US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 – </a:t>
            </a:r>
            <a:r>
              <a:rPr lang="en-US" sz="20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interceptare</a:t>
            </a:r>
            <a:r>
              <a:rPr lang="en-US" sz="20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 SNDL (DLP)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C2625-16F1-631B-8A99-C0BC0143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285" y="0"/>
            <a:ext cx="7313715" cy="39988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5ADB1-3E81-4F7A-3CB5-A0CF32312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26" y="2184936"/>
            <a:ext cx="4428605" cy="4561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D54EFA-B762-AB82-36E8-EAE758CBB89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4" y="609462"/>
            <a:ext cx="4714954" cy="800137"/>
          </a:xfrm>
        </p:spPr>
        <p:txBody>
          <a:bodyPr>
            <a:noAutofit/>
          </a:bodyPr>
          <a:lstStyle/>
          <a:p>
            <a:pPr algn="ctr"/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Validare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si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testare</a:t>
            </a: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A33D8F-9569-212D-CE7A-C74D625D4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34072" y="1307999"/>
            <a:ext cx="4627218" cy="3615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835444396"/>
                  </p:ext>
                </p:extLst>
              </p:nvPr>
            </p:nvGraphicFramePr>
            <p:xfrm>
              <a:off x="0" y="2189999"/>
              <a:ext cx="6312632" cy="466800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71778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8677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92177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41315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46498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Absență parolă DB (plain/hash), flux complet, multi-user simultan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61846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request pe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 (409),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77193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 ∉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sub>
                                <m:sup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a14:m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y/t ∈ {0,1,-1,P-1}, tipuri neconforme (float/string/null), lipsă X-Auth-Session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7193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forgery fără x, off-by-one, izolare sesiuni, unicitate,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835444396"/>
                  </p:ext>
                </p:extLst>
              </p:nvPr>
            </p:nvGraphicFramePr>
            <p:xfrm>
              <a:off x="0" y="2189999"/>
              <a:ext cx="6312632" cy="466800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71778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8677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92177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78713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78713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Absență parolă DB (plain/hash), flux complet, multi-user simultan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113765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request pe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 (409),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116895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endParaRPr lang="ro-RO"/>
                        </a:p>
                      </a:txBody>
                      <a:tcPr marL="58095" marR="58095" marT="58095" marB="58095" anchor="ctr">
                        <a:blipFill>
                          <a:blip r:embed="rId4"/>
                          <a:stretch>
                            <a:fillRect l="-58473" t="-232292" r="-611" b="-76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8713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forgery fără x, off-by-one, izolare sesiuni, unicitate,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58095" marR="58095" marT="58095" marB="58095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F522CE-01F3-1F35-1533-83D1160E7281}"/>
              </a:ext>
            </a:extLst>
          </p:cNvPr>
          <p:cNvSpPr txBox="1"/>
          <p:nvPr/>
        </p:nvSpPr>
        <p:spPr>
          <a:xfrm>
            <a:off x="833436" y="1716775"/>
            <a:ext cx="3881231" cy="42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 pytest, 100% succes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07F7D64-07E3-B4CC-E335-7D720A8AB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954171"/>
              </p:ext>
            </p:extLst>
          </p:nvPr>
        </p:nvGraphicFramePr>
        <p:xfrm>
          <a:off x="6431031" y="3024944"/>
          <a:ext cx="5594331" cy="23562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79963">
                  <a:extLst>
                    <a:ext uri="{9D8B030D-6E8A-4147-A177-3AD203B41FA5}">
                      <a16:colId xmlns:a16="http://schemas.microsoft.com/office/drawing/2014/main" val="3871418129"/>
                    </a:ext>
                  </a:extLst>
                </a:gridCol>
                <a:gridCol w="3414368">
                  <a:extLst>
                    <a:ext uri="{9D8B030D-6E8A-4147-A177-3AD203B41FA5}">
                      <a16:colId xmlns:a16="http://schemas.microsoft.com/office/drawing/2014/main" val="3988898016"/>
                    </a:ext>
                  </a:extLst>
                </a:gridCol>
              </a:tblGrid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imula</a:t>
                      </a:r>
                      <a:r>
                        <a:rPr lang="en-US" sz="1500" kern="0" cap="all" spc="75" dirty="0" err="1">
                          <a:solidFill>
                            <a:schemeClr val="tx1"/>
                          </a:solidFill>
                          <a:effectLst/>
                        </a:rPr>
                        <a:t>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Rezultat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361061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Coliziune</a:t>
                      </a:r>
                      <a:r>
                        <a:rPr lang="en-US" sz="1500" kern="0" dirty="0">
                          <a:solidFill>
                            <a:schemeClr val="tx1"/>
                          </a:solidFill>
                          <a:effectLst/>
                        </a:rPr>
                        <a:t> in</a:t>
                      </a: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 10.000 cereri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0 coliziuni c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6435128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MitM parametri slabi: P=23, Q=11, G=4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HTTP 422: y/t respinse (subgrup invalid)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78320812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Replay cross-sesiune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HTTP 401: G^s1 ≠ t2*y^c2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5529708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C3AB5FE-B706-3AF8-80F8-33F773DF0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128186"/>
              </p:ext>
            </p:extLst>
          </p:nvPr>
        </p:nvGraphicFramePr>
        <p:xfrm>
          <a:off x="6431032" y="802139"/>
          <a:ext cx="5594331" cy="204410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395">
                  <a:extLst>
                    <a:ext uri="{9D8B030D-6E8A-4147-A177-3AD203B41FA5}">
                      <a16:colId xmlns:a16="http://schemas.microsoft.com/office/drawing/2014/main" val="3512485477"/>
                    </a:ext>
                  </a:extLst>
                </a:gridCol>
                <a:gridCol w="1638467">
                  <a:extLst>
                    <a:ext uri="{9D8B030D-6E8A-4147-A177-3AD203B41FA5}">
                      <a16:colId xmlns:a16="http://schemas.microsoft.com/office/drawing/2014/main" val="3440195343"/>
                    </a:ext>
                  </a:extLst>
                </a:gridCol>
                <a:gridCol w="1638469">
                  <a:extLst>
                    <a:ext uri="{9D8B030D-6E8A-4147-A177-3AD203B41FA5}">
                      <a16:colId xmlns:a16="http://schemas.microsoft.com/office/drawing/2014/main" val="41837585"/>
                    </a:ext>
                  </a:extLst>
                </a:gridCol>
              </a:tblGrid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Brute force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DLP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 err="1">
                          <a:solidFill>
                            <a:schemeClr val="tx1"/>
                          </a:solidFill>
                          <a:effectLst/>
                        </a:rPr>
                        <a:t>Candidati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Rezultat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091082106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32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~1,07 * 10^9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744M încercări (319s)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18799604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64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~4,6 * 10^18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Timeout 1200s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21428847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2048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~5,87 * 10^153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Nefezabil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7798659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62BC6D0-76FE-75AF-BC88-BC0ADB484A29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534EBB-91D9-7712-BEE8-9D69FCAE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83C36F-09C6-A1B7-AC45-F73283414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015323"/>
              </p:ext>
            </p:extLst>
          </p:nvPr>
        </p:nvGraphicFramePr>
        <p:xfrm>
          <a:off x="5067382" y="965051"/>
          <a:ext cx="6370320" cy="4724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32187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945662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273907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004164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Operație</a:t>
                      </a:r>
                    </a:p>
                  </a:txBody>
                  <a:tcPr marL="190500" marR="190500" marT="190500" marB="19050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</a:t>
                      </a:r>
                      <a:endParaRPr lang="en-US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90500" marB="19050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</a:t>
                      </a:r>
                      <a:endParaRPr lang="en-US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90500" marB="19050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endParaRPr lang="en-US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90500" marB="190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o-RO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P95</a:t>
                      </a:r>
                      <a:endParaRPr lang="en-US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90500" marB="190500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5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y = 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1500" b="0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s-ES" sz="15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mod P 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15.65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14.37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19.86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17.8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2854107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500" b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solutie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 (s)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0.01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0.003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3248833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Validare apartenență subgrup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17.15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15.74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19.89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19.63</a:t>
                      </a: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Legare de sesiune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0.020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0.003</a:t>
                      </a: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 provocare (c)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0.003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0.001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0.001</a:t>
                      </a: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15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0.004</a:t>
                      </a: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1500" b="0" baseline="4000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</a:t>
                      </a:r>
                      <a:r>
                        <a:rPr lang="ro-RO" sz="1500" b="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≡ t * </a:t>
                      </a:r>
                      <a:r>
                        <a:rPr lang="en-US" sz="1500" b="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y</a:t>
                      </a:r>
                      <a:r>
                        <a:rPr lang="en-US" sz="1500" b="0" kern="0" baseline="4000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c</a:t>
                      </a:r>
                      <a:r>
                        <a:rPr lang="en-US" sz="1500" b="0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1500" b="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(mod P)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33</a:t>
                      </a:r>
                      <a:r>
                        <a:rPr lang="ro-RO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.</a:t>
                      </a: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31.68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37.7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36.25</a:t>
                      </a:r>
                      <a:endParaRPr lang="ro-RO" sz="15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190500" marR="190500" marT="171450" marB="17145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081652E-19AE-DAAC-BDBC-9A47ECD5265C}"/>
              </a:ext>
            </a:extLst>
          </p:cNvPr>
          <p:cNvSpPr txBox="1"/>
          <p:nvPr/>
        </p:nvSpPr>
        <p:spPr>
          <a:xfrm>
            <a:off x="606791" y="2831356"/>
            <a:ext cx="3881231" cy="42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 de 2048 </a:t>
            </a:r>
            <a:r>
              <a:rPr lang="en-US" sz="2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3FB25-81F2-2BD7-2FE3-AD221D94144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375B56B-D2C0-4255-A66F-8605F64B1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9175562"/>
              </p:ext>
            </p:extLst>
          </p:nvPr>
        </p:nvGraphicFramePr>
        <p:xfrm>
          <a:off x="606791" y="4270588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7202852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620380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13500022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1798467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o-RO" sz="15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Operatie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18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</a:t>
                      </a:r>
                      <a:endParaRPr lang="en-US" sz="18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800" b="0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800" b="0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621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015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o-R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22901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oauth</a:t>
            </a:r>
            <a:r>
              <a:rPr lang="en-US" sz="4600" dirty="0">
                <a:latin typeface="The Serif Hand Black Mate" panose="03070902030502020204" pitchFamily="66" charset="0"/>
              </a:rPr>
              <a:t> vs </a:t>
            </a:r>
            <a:r>
              <a:rPr lang="en-US" sz="4600" dirty="0" err="1">
                <a:latin typeface="The Serif Hand Black Mate" panose="03070902030502020204" pitchFamily="66" charset="0"/>
              </a:rPr>
              <a:t>zkp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D54101-B646-EA93-5F4A-B9708544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7979" y="2152776"/>
            <a:ext cx="4627218" cy="361502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E41EE5-1AC4-6C6C-E143-895CCDDF7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193586"/>
              </p:ext>
            </p:extLst>
          </p:nvPr>
        </p:nvGraphicFramePr>
        <p:xfrm>
          <a:off x="5174802" y="3030401"/>
          <a:ext cx="6962490" cy="19994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35722">
                  <a:extLst>
                    <a:ext uri="{9D8B030D-6E8A-4147-A177-3AD203B41FA5}">
                      <a16:colId xmlns:a16="http://schemas.microsoft.com/office/drawing/2014/main" val="611621273"/>
                    </a:ext>
                  </a:extLst>
                </a:gridCol>
                <a:gridCol w="1249274">
                  <a:extLst>
                    <a:ext uri="{9D8B030D-6E8A-4147-A177-3AD203B41FA5}">
                      <a16:colId xmlns:a16="http://schemas.microsoft.com/office/drawing/2014/main" val="2891597447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3682109628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648754584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2657305894"/>
                    </a:ext>
                  </a:extLst>
                </a:gridCol>
              </a:tblGrid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Utilizatori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ZKP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PKCE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Simple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194965959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19,61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464,82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440,26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489,10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82306444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18,10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465,68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463,45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481,65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12908747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17,47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458,06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467,56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505,24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598117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3113A1-9079-E119-3862-CE8673AF5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561132"/>
              </p:ext>
            </p:extLst>
          </p:nvPr>
        </p:nvGraphicFramePr>
        <p:xfrm>
          <a:off x="189054" y="3029880"/>
          <a:ext cx="4789346" cy="37312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74064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685956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804985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750277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Protocol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 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P95</a:t>
                      </a: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4692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ZKP (commit + verify)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64,76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59,24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85,98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78,71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PKCE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2,23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22,21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1,58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Simple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2,19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1,82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14,23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2,72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PKCE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0,79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1,68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0,95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873E1F2-9D39-0CF7-B4FB-9C17D2639CC1}"/>
              </a:ext>
            </a:extLst>
          </p:cNvPr>
          <p:cNvSpPr txBox="1"/>
          <p:nvPr/>
        </p:nvSpPr>
        <p:spPr>
          <a:xfrm>
            <a:off x="939687" y="2587413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E2E pe 100 </a:t>
            </a:r>
            <a:r>
              <a:rPr lang="en-US" dirty="0" err="1"/>
              <a:t>iteratii</a:t>
            </a:r>
            <a:r>
              <a:rPr lang="en-US" dirty="0"/>
              <a:t> </a:t>
            </a:r>
            <a:r>
              <a:rPr lang="en-US" dirty="0" err="1"/>
              <a:t>secventiale</a:t>
            </a:r>
            <a:endParaRPr lang="ro-RO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8C67A-63BB-2730-B75B-958BC8B301B8}"/>
              </a:ext>
            </a:extLst>
          </p:cNvPr>
          <p:cNvSpPr txBox="1"/>
          <p:nvPr/>
        </p:nvSpPr>
        <p:spPr>
          <a:xfrm>
            <a:off x="6818922" y="2564137"/>
            <a:ext cx="3764172" cy="3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Debit concurent (Locust, 8 fire, 60s)</a:t>
            </a:r>
            <a:endParaRPr lang="ro-RO" sz="28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7A69C-6A80-FC98-A7D3-E4B0AB48BBA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6">
            <a:extLst>
              <a:ext uri="{FF2B5EF4-FFF2-40B4-BE49-F238E27FC236}">
                <a16:creationId xmlns:a16="http://schemas.microsoft.com/office/drawing/2014/main" id="{34448F64-9992-DF05-31AB-532105935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srp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si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zk</a:t>
            </a:r>
            <a:r>
              <a:rPr lang="en-US" sz="4600" dirty="0">
                <a:latin typeface="The Serif Hand Black Mate" panose="03070902030502020204" pitchFamily="66" charset="0"/>
              </a:rPr>
              <a:t>-snark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8ABD6D-25A0-88D4-6888-254C7D12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9C3E1-BBDD-8C9D-3405-5FE288F26BF5}"/>
              </a:ext>
            </a:extLst>
          </p:cNvPr>
          <p:cNvSpPr txBox="1"/>
          <p:nvPr/>
        </p:nvSpPr>
        <p:spPr>
          <a:xfrm>
            <a:off x="5067382" y="287428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Latență (100 iterații)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53D487-3753-E7DE-A9C4-5F38D6D43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552833"/>
              </p:ext>
            </p:extLst>
          </p:nvPr>
        </p:nvGraphicFramePr>
        <p:xfrm>
          <a:off x="5825380" y="672172"/>
          <a:ext cx="6028056" cy="3107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7014">
                  <a:extLst>
                    <a:ext uri="{9D8B030D-6E8A-4147-A177-3AD203B41FA5}">
                      <a16:colId xmlns:a16="http://schemas.microsoft.com/office/drawing/2014/main" val="603809195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57886713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695585944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63260983"/>
                    </a:ext>
                  </a:extLst>
                </a:gridCol>
              </a:tblGrid>
              <a:tr h="5805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Protocol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Înreg.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Autentif.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Total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300694724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pysnark (zk-SNARK)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0,048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1,872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1,920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8442632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Schnorr-EC-C-Lib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9,447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9,510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1071118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 (secp256r1)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4,005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34,093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38,090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41274567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SRP-6a (RFC 5054)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1,204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41,061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42,265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9945657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Schnorr-Pow (MODP 2048)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15,783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139,833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155,911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9106417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CDB80D1-DCB9-D829-4518-5D89A5A74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444408"/>
              </p:ext>
            </p:extLst>
          </p:nvPr>
        </p:nvGraphicFramePr>
        <p:xfrm>
          <a:off x="338564" y="3466351"/>
          <a:ext cx="6618604" cy="31541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651">
                  <a:extLst>
                    <a:ext uri="{9D8B030D-6E8A-4147-A177-3AD203B41FA5}">
                      <a16:colId xmlns:a16="http://schemas.microsoft.com/office/drawing/2014/main" val="3686914682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2099199730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3102897773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4060959988"/>
                    </a:ext>
                  </a:extLst>
                </a:gridCol>
              </a:tblGrid>
              <a:tr h="2695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Proprietate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SRP-6a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 dirty="0">
                          <a:effectLst/>
                        </a:rPr>
                        <a:t>zk-SNARK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Schnorr-EC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799039198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Autentificare mutuală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DA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32585036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Parolă netransmisă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16243343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Rezistență breșe DB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N/A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63890197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Securitate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~112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variabil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~128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504474114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Standardizat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RFC 5054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26847040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Trusted setup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47390816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BAFAF1-74E9-4CB2-443A-AF4FCB6DA66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27397975-5C35-C63F-3452-BAE675907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Directii</a:t>
            </a:r>
            <a:r>
              <a:rPr lang="en-US" sz="4600" dirty="0">
                <a:latin typeface="The Serif Hand Black Mate" panose="03070902030502020204" pitchFamily="66" charset="0"/>
              </a:rPr>
              <a:t> de </a:t>
            </a:r>
            <a:r>
              <a:rPr lang="en-US" sz="4600" dirty="0" err="1">
                <a:latin typeface="The Serif Hand Black Mate" panose="03070902030502020204" pitchFamily="66" charset="0"/>
              </a:rPr>
              <a:t>dezvoltare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74E8F-E263-F969-2BFA-D4D6710201CC}"/>
              </a:ext>
            </a:extLst>
          </p:cNvPr>
          <p:cNvSpPr txBox="1"/>
          <p:nvPr/>
        </p:nvSpPr>
        <p:spPr>
          <a:xfrm>
            <a:off x="6341895" y="930554"/>
            <a:ext cx="4432948" cy="53553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/>
              <a:t>Derivare secrete: Argon2id / scrypt OWASP</a:t>
            </a:r>
          </a:p>
          <a:p>
            <a:pPr lvl="0"/>
            <a:r>
              <a:rPr lang="ro-RO" dirty="0"/>
              <a:t>Migrare curbe eliptice (secp256r1): latență redusă, 128 biți</a:t>
            </a:r>
          </a:p>
          <a:p>
            <a:pPr lvl="0"/>
            <a:r>
              <a:rPr lang="ro-RO" dirty="0"/>
              <a:t>Nucleu criptografic în Rust / C</a:t>
            </a:r>
          </a:p>
          <a:p>
            <a:pPr lvl="0"/>
            <a:r>
              <a:rPr lang="ro-RO" dirty="0"/>
              <a:t>Post-cuantic: Kyber, Dilithium (SNDL termen lung)</a:t>
            </a:r>
          </a:p>
          <a:p>
            <a:pPr lvl="0"/>
            <a:r>
              <a:rPr lang="ro-RO" dirty="0"/>
              <a:t>JWT asimetric: RS256 / ES256</a:t>
            </a:r>
          </a:p>
          <a:p>
            <a:pPr lvl="0"/>
            <a:r>
              <a:rPr lang="ro-RO" dirty="0"/>
              <a:t>Sesiuni externalizate: Redis (scalabilitate orizontală)</a:t>
            </a:r>
          </a:p>
          <a:p>
            <a:pPr lvl="0"/>
            <a:r>
              <a:rPr lang="ro-RO" dirty="0"/>
              <a:t>HTTPS/TLS obligatoriu, semnare parametri publici</a:t>
            </a:r>
          </a:p>
          <a:p>
            <a:pPr lvl="0"/>
            <a:r>
              <a:rPr lang="ro-RO" dirty="0"/>
              <a:t>Jetoane proof-of-possession</a:t>
            </a:r>
          </a:p>
          <a:p>
            <a:pPr lvl="0"/>
            <a:r>
              <a:rPr lang="ro-RO" dirty="0"/>
              <a:t>Augmented PAKE: rezistență compromitere DB</a:t>
            </a:r>
            <a:endParaRPr lang="en-US" dirty="0"/>
          </a:p>
          <a:p>
            <a:pPr lvl="0"/>
            <a:r>
              <a:rPr lang="en-US" dirty="0" err="1"/>
              <a:t>Implementare</a:t>
            </a:r>
            <a:r>
              <a:rPr lang="en-US" dirty="0"/>
              <a:t> </a:t>
            </a:r>
            <a:r>
              <a:rPr lang="en-US" dirty="0" err="1"/>
              <a:t>schnorr</a:t>
            </a:r>
            <a:r>
              <a:rPr lang="en-US" dirty="0"/>
              <a:t> interactive in </a:t>
            </a:r>
            <a:r>
              <a:rPr lang="en-US" dirty="0" err="1"/>
              <a:t>faza</a:t>
            </a:r>
            <a:r>
              <a:rPr lang="en-US" dirty="0"/>
              <a:t> de </a:t>
            </a:r>
            <a:r>
              <a:rPr lang="en-US" dirty="0" err="1"/>
              <a:t>inserare</a:t>
            </a:r>
            <a:r>
              <a:rPr lang="en-US" dirty="0"/>
              <a:t> </a:t>
            </a:r>
            <a:r>
              <a:rPr lang="en-US" dirty="0" err="1"/>
              <a:t>credentiale</a:t>
            </a:r>
            <a:r>
              <a:rPr lang="en-US" dirty="0"/>
              <a:t> in </a:t>
            </a:r>
            <a:r>
              <a:rPr lang="en-US" dirty="0" err="1"/>
              <a:t>protocolul</a:t>
            </a:r>
            <a:r>
              <a:rPr lang="en-US" dirty="0"/>
              <a:t> </a:t>
            </a:r>
            <a:r>
              <a:rPr lang="en-US" dirty="0" err="1"/>
              <a:t>Oatub</a:t>
            </a:r>
            <a:endParaRPr lang="en-US" dirty="0"/>
          </a:p>
          <a:p>
            <a:pPr lvl="0"/>
            <a:endParaRPr lang="ro-RO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CE3557-4D08-B81A-E35E-E4B0D7E30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47E3B-B98C-AB87-B6AF-18299B7CF9F8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16/1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07903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/>
            <a:r>
              <a:rPr lang="en-US" sz="5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Concluzii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69713-AC63-CC26-1A62-CC91AE460347}"/>
              </a:ext>
            </a:extLst>
          </p:cNvPr>
          <p:cNvSpPr txBox="1"/>
          <p:nvPr/>
        </p:nvSpPr>
        <p:spPr>
          <a:xfrm>
            <a:off x="5515556" y="1687888"/>
            <a:ext cx="6096000" cy="3721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Schnorr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-un protocol de tip Open Authorization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implementare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ZKP de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acest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tip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anuleaza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bresa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bazei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date,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exfiltrare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datelor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Audit trafic: exclusiv valori matematice efemere în rețea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Performanță intermediară față de PAKE consacrate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Potential de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optimizare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Schnorr-EC-C-Lib: </a:t>
            </a: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9,51 ms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Limitări: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viteza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verificare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browser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Concluzie: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ZKP integrabil eficient în arhitectură web modernă, reducere semnificativă expunere credențiale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B1C31-D803-563C-ED1B-EA828A3A31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17/1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[9] S. Goldwasser, S. Micali, C. Rackoff, "The Knowledge Complexity of Interactive Proof Systems," SIAM J. Computing, 1989.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[16] C.P. Schnorr, "Efficient Signature Generation by Smart Cards," J. Cryptology, 1991.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C7EF69-23B0-E32D-AA1E-31F644DD8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1" y="1164162"/>
            <a:ext cx="11814838" cy="52978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3967411" y="359694"/>
            <a:ext cx="3922776" cy="9108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800" dirty="0" err="1">
                <a:latin typeface="Segoe UI" panose="020B0502040204020203" pitchFamily="34" charset="0"/>
                <a:cs typeface="Segoe UI" panose="020B0502040204020203" pitchFamily="34" charset="0"/>
              </a:rPr>
              <a:t>Bibliografie</a:t>
            </a:r>
            <a:endParaRPr lang="en-US" sz="4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en-US" sz="4800" dirty="0" err="1">
                <a:latin typeface="Segoe UI" panose="020B0502040204020203" pitchFamily="34" charset="0"/>
                <a:cs typeface="Segoe UI" panose="020B0502040204020203" pitchFamily="34" charset="0"/>
              </a:rPr>
              <a:t>Selectiv</a:t>
            </a:r>
            <a:r>
              <a:rPr lang="ro-RO" sz="4800" dirty="0"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endParaRPr lang="en-US" sz="4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18/1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6060306" cy="2924048"/>
          </a:xfrm>
        </p:spPr>
        <p:txBody>
          <a:bodyPr/>
          <a:lstStyle/>
          <a:p>
            <a:r>
              <a:rPr lang="en-US" sz="5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VĂ MULȚUMESC PENTRU ATENȚIE!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8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2AD9EFA-E074-4C2F-8F25-BF862B8AB68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1697</Words>
  <Application>Microsoft Office PowerPoint</Application>
  <PresentationFormat>Widescreen</PresentationFormat>
  <Paragraphs>332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Aptos</vt:lpstr>
      <vt:lpstr>Arial</vt:lpstr>
      <vt:lpstr>Arial Black</vt:lpstr>
      <vt:lpstr>Calibri</vt:lpstr>
      <vt:lpstr>Cambria Math</vt:lpstr>
      <vt:lpstr>Segoe UI</vt:lpstr>
      <vt:lpstr>Symbol</vt:lpstr>
      <vt:lpstr>The Hand Black Mate</vt:lpstr>
      <vt:lpstr>The Serif Hand Black Mate</vt:lpstr>
      <vt:lpstr>Times New Roman</vt:lpstr>
      <vt:lpstr>SketchyVTI</vt:lpstr>
      <vt:lpstr>Protocol de autentificare OAuth cu Schnorr ZKP: Securitate fără partajare de secrete</vt:lpstr>
      <vt:lpstr>SUMAR</vt:lpstr>
      <vt:lpstr>INTRODUCERE</vt:lpstr>
      <vt:lpstr>TEHNOLOGII</vt:lpstr>
      <vt:lpstr>ARHITECTURA environment</vt:lpstr>
      <vt:lpstr>Schnorr interactiv</vt:lpstr>
      <vt:lpstr>PowerPoint Presentation</vt:lpstr>
      <vt:lpstr>PowerPoint Presentation</vt:lpstr>
      <vt:lpstr>PowerPoint Presentation</vt:lpstr>
      <vt:lpstr>PowerPoint Presentation</vt:lpstr>
      <vt:lpstr>Proprietăți de securitate</vt:lpstr>
      <vt:lpstr>Validare si testare</vt:lpstr>
      <vt:lpstr>Evaluare performanta </vt:lpstr>
      <vt:lpstr>Evaluare performanta  oauth vs zkp</vt:lpstr>
      <vt:lpstr>Evaluare performanta  srp si zk-snark</vt:lpstr>
      <vt:lpstr>Directii de dezvoltare</vt:lpstr>
      <vt:lpstr>Concluzii</vt:lpstr>
      <vt:lpstr>PowerPoint Presentation</vt:lpstr>
      <vt:lpstr>VĂ MULȚUMESC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Matei, Rares02</cp:lastModifiedBy>
  <cp:revision>2145</cp:revision>
  <dcterms:created xsi:type="dcterms:W3CDTF">2024-05-16T18:10:47Z</dcterms:created>
  <dcterms:modified xsi:type="dcterms:W3CDTF">2026-06-21T07:30:22Z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ClassificationContentMarkingFooterLocations">
    <vt:lpwstr>SketchyVTI:8</vt:lpwstr>
  </property>
  <property fmtid="{D5CDD505-2E9C-101B-9397-08002B2CF9AE}" pid="4" name="ClassificationContentMarkingFooterText">
    <vt:lpwstr>Internal</vt:lpwstr>
  </property>
</Properties>
</file>