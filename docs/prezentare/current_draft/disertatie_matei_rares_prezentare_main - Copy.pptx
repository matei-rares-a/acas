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4"/>
  </p:sldMasterIdLst>
  <p:notesMasterIdLst>
    <p:notesMasterId r:id="rId24"/>
  </p:notesMasterIdLst>
  <p:handoutMasterIdLst>
    <p:handoutMasterId r:id="rId25"/>
  </p:handoutMasterIdLst>
  <p:sldIdLst>
    <p:sldId id="496" r:id="rId5"/>
    <p:sldId id="497" r:id="rId6"/>
    <p:sldId id="511" r:id="rId7"/>
    <p:sldId id="512" r:id="rId8"/>
    <p:sldId id="510" r:id="rId9"/>
    <p:sldId id="523" r:id="rId10"/>
    <p:sldId id="516" r:id="rId11"/>
    <p:sldId id="525" r:id="rId12"/>
    <p:sldId id="524" r:id="rId13"/>
    <p:sldId id="526" r:id="rId14"/>
    <p:sldId id="501" r:id="rId15"/>
    <p:sldId id="507" r:id="rId16"/>
    <p:sldId id="514" r:id="rId17"/>
    <p:sldId id="508" r:id="rId18"/>
    <p:sldId id="519" r:id="rId19"/>
    <p:sldId id="520" r:id="rId20"/>
    <p:sldId id="505" r:id="rId21"/>
    <p:sldId id="518" r:id="rId22"/>
    <p:sldId id="50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4791" autoAdjust="0"/>
  </p:normalViewPr>
  <p:slideViewPr>
    <p:cSldViewPr snapToGrid="0" showGuides="1">
      <p:cViewPr varScale="1">
        <p:scale>
          <a:sx n="122" d="100"/>
          <a:sy n="122" d="100"/>
        </p:scale>
        <p:origin x="114" y="204"/>
      </p:cViewPr>
      <p:guideLst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3BB8D6-27BC-4CD0-978C-8090523D0705}" type="doc">
      <dgm:prSet loTypeId="urn:microsoft.com/office/officeart/2008/layout/LinedList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DCB301B6-A1CC-4E04-931E-2CAECBDF93BF}">
      <dgm:prSet custT="1"/>
      <dgm:spPr/>
      <dgm:t>
        <a:bodyPr/>
        <a:lstStyle/>
        <a:p>
          <a:r>
            <a:rPr lang="en-US" sz="3000" b="0" dirty="0">
              <a:latin typeface="Segoe UI" panose="020B0502040204020203" pitchFamily="34" charset="0"/>
              <a:cs typeface="Segoe UI" panose="020B0502040204020203" pitchFamily="34" charset="0"/>
            </a:rPr>
            <a:t>Introducere</a:t>
          </a:r>
        </a:p>
      </dgm:t>
    </dgm:pt>
    <dgm:pt modelId="{C179F3CE-E489-4C1C-86D0-B0218C2C182C}" type="parTrans" cxnId="{F048A637-4897-4920-9F41-D58B6B60C7CF}">
      <dgm:prSet/>
      <dgm:spPr/>
      <dgm:t>
        <a:bodyPr/>
        <a:lstStyle/>
        <a:p>
          <a:endParaRPr lang="en-US"/>
        </a:p>
      </dgm:t>
    </dgm:pt>
    <dgm:pt modelId="{22379FF5-8661-4E61-B250-DF4A76537C51}" type="sibTrans" cxnId="{F048A637-4897-4920-9F41-D58B6B60C7CF}">
      <dgm:prSet/>
      <dgm:spPr/>
      <dgm:t>
        <a:bodyPr/>
        <a:lstStyle/>
        <a:p>
          <a:endParaRPr lang="en-US"/>
        </a:p>
      </dgm:t>
    </dgm:pt>
    <dgm:pt modelId="{FFB776E6-23F7-4E85-9B3F-BAD987A2B497}">
      <dgm:prSet custT="1"/>
      <dgm:spPr/>
      <dgm:t>
        <a:bodyPr/>
        <a:lstStyle/>
        <a:p>
          <a:r>
            <a:rPr lang="ro-RO" sz="3000" b="0" dirty="0">
              <a:latin typeface="Segoe UI" panose="020B0502040204020203" pitchFamily="34" charset="0"/>
              <a:cs typeface="Segoe UI" panose="020B0502040204020203" pitchFamily="34" charset="0"/>
            </a:rPr>
            <a:t>Tehnologii</a:t>
          </a:r>
          <a:endParaRPr lang="en-US" sz="30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3082F0D9-2BB2-46E7-A418-458C1C3EAAEB}" type="parTrans" cxnId="{2039271B-4B8A-4875-8465-A633823A4E6E}">
      <dgm:prSet/>
      <dgm:spPr/>
      <dgm:t>
        <a:bodyPr/>
        <a:lstStyle/>
        <a:p>
          <a:endParaRPr lang="en-US"/>
        </a:p>
      </dgm:t>
    </dgm:pt>
    <dgm:pt modelId="{409834EE-169C-4C59-B1A9-A63DFF462395}" type="sibTrans" cxnId="{2039271B-4B8A-4875-8465-A633823A4E6E}">
      <dgm:prSet/>
      <dgm:spPr/>
      <dgm:t>
        <a:bodyPr/>
        <a:lstStyle/>
        <a:p>
          <a:endParaRPr lang="en-US"/>
        </a:p>
      </dgm:t>
    </dgm:pt>
    <dgm:pt modelId="{E899FDE9-8023-4C52-8C9F-5F0317A1A3C0}">
      <dgm:prSet custT="1"/>
      <dgm:spPr/>
      <dgm:t>
        <a:bodyPr/>
        <a:lstStyle/>
        <a:p>
          <a:r>
            <a:rPr lang="en-US" sz="3000" b="0" dirty="0">
              <a:latin typeface="Segoe UI" panose="020B0502040204020203" pitchFamily="34" charset="0"/>
              <a:cs typeface="Segoe UI" panose="020B0502040204020203" pitchFamily="34" charset="0"/>
            </a:rPr>
            <a:t>A</a:t>
          </a:r>
          <a:r>
            <a:rPr lang="ro-RO" sz="3000" b="0" dirty="0">
              <a:latin typeface="Segoe UI" panose="020B0502040204020203" pitchFamily="34" charset="0"/>
              <a:cs typeface="Segoe UI" panose="020B0502040204020203" pitchFamily="34" charset="0"/>
            </a:rPr>
            <a:t>r</a:t>
          </a:r>
          <a:r>
            <a:rPr lang="en-US" sz="3000" b="0" dirty="0" err="1">
              <a:latin typeface="Segoe UI" panose="020B0502040204020203" pitchFamily="34" charset="0"/>
              <a:cs typeface="Segoe UI" panose="020B0502040204020203" pitchFamily="34" charset="0"/>
            </a:rPr>
            <a:t>hitectur</a:t>
          </a:r>
          <a:r>
            <a:rPr lang="ro-RO" sz="3000" b="0" dirty="0">
              <a:latin typeface="Segoe UI" panose="020B0502040204020203" pitchFamily="34" charset="0"/>
              <a:cs typeface="Segoe UI" panose="020B0502040204020203" pitchFamily="34" charset="0"/>
            </a:rPr>
            <a:t>ă</a:t>
          </a:r>
          <a:endParaRPr lang="en-US" sz="30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0946872C-DE66-47EF-98B7-31F770ABDAD5}" type="parTrans" cxnId="{2D720D27-4DEA-437C-8EB5-49FB3E25A81C}">
      <dgm:prSet/>
      <dgm:spPr/>
      <dgm:t>
        <a:bodyPr/>
        <a:lstStyle/>
        <a:p>
          <a:endParaRPr lang="en-US"/>
        </a:p>
      </dgm:t>
    </dgm:pt>
    <dgm:pt modelId="{0C2B48A1-EFF8-4EF2-B762-5D6368039629}" type="sibTrans" cxnId="{2D720D27-4DEA-437C-8EB5-49FB3E25A81C}">
      <dgm:prSet/>
      <dgm:spPr/>
      <dgm:t>
        <a:bodyPr/>
        <a:lstStyle/>
        <a:p>
          <a:endParaRPr lang="en-US"/>
        </a:p>
      </dgm:t>
    </dgm:pt>
    <dgm:pt modelId="{3047A93B-1B86-4D68-8011-B3DC50BD44D3}">
      <dgm:prSet custT="1"/>
      <dgm:spPr/>
      <dgm:t>
        <a:bodyPr/>
        <a:lstStyle/>
        <a:p>
          <a:pPr rtl="0"/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Inregistrarea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&amp; </a:t>
          </a:r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Autentificare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	</a:t>
          </a:r>
        </a:p>
      </dgm:t>
    </dgm:pt>
    <dgm:pt modelId="{D2512F0C-91D8-40BF-A285-05C398EF3CF3}" type="parTrans" cxnId="{B494A953-EE28-41C8-A01F-0735B6622ED1}">
      <dgm:prSet/>
      <dgm:spPr/>
      <dgm:t>
        <a:bodyPr/>
        <a:lstStyle/>
        <a:p>
          <a:endParaRPr lang="en-US"/>
        </a:p>
      </dgm:t>
    </dgm:pt>
    <dgm:pt modelId="{BE6B2831-1CF5-4741-A01D-92BF807DB945}" type="sibTrans" cxnId="{B494A953-EE28-41C8-A01F-0735B6622ED1}">
      <dgm:prSet/>
      <dgm:spPr/>
      <dgm:t>
        <a:bodyPr/>
        <a:lstStyle/>
        <a:p>
          <a:endParaRPr lang="en-US"/>
        </a:p>
      </dgm:t>
    </dgm:pt>
    <dgm:pt modelId="{53B103D6-7B09-43A1-9AE8-4A857AE2A627}">
      <dgm:prSet custT="1"/>
      <dgm:spPr/>
      <dgm:t>
        <a:bodyPr/>
        <a:lstStyle/>
        <a:p>
          <a:pPr rtl="0"/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Directii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de </a:t>
          </a:r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dezvoltare</a:t>
          </a:r>
          <a:endParaRPr lang="en-US" sz="3000" b="0" dirty="0">
            <a:latin typeface="Segoe UI" panose="020B0502040204020203" pitchFamily="34" charset="0"/>
            <a:ea typeface="Germano" panose="020B0306030504020204" pitchFamily="34" charset="0"/>
            <a:cs typeface="Segoe UI" panose="020B0502040204020203" pitchFamily="34" charset="0"/>
          </a:endParaRPr>
        </a:p>
      </dgm:t>
    </dgm:pt>
    <dgm:pt modelId="{8781E4CB-F99D-4F5B-BD0D-E532EDB994C6}" type="parTrans" cxnId="{3BB7F6DB-B24C-45E1-9A5B-C0AFB6D0EDF3}">
      <dgm:prSet/>
      <dgm:spPr/>
      <dgm:t>
        <a:bodyPr/>
        <a:lstStyle/>
        <a:p>
          <a:endParaRPr lang="en-US"/>
        </a:p>
      </dgm:t>
    </dgm:pt>
    <dgm:pt modelId="{8C75F1FA-A056-4E79-93B9-47FF5EFC130B}" type="sibTrans" cxnId="{3BB7F6DB-B24C-45E1-9A5B-C0AFB6D0EDF3}">
      <dgm:prSet/>
      <dgm:spPr/>
      <dgm:t>
        <a:bodyPr/>
        <a:lstStyle/>
        <a:p>
          <a:endParaRPr lang="en-US"/>
        </a:p>
      </dgm:t>
    </dgm:pt>
    <dgm:pt modelId="{4D04C002-FD7C-42C7-A1C4-449E53FA6304}">
      <dgm:prSet phldr="0" custT="1"/>
      <dgm:spPr/>
      <dgm:t>
        <a:bodyPr/>
        <a:lstStyle/>
        <a:p>
          <a:r>
            <a:rPr lang="en-US" sz="3000" b="0" dirty="0" err="1">
              <a:latin typeface="Segoe UI" panose="020B0502040204020203" pitchFamily="34" charset="0"/>
              <a:cs typeface="Segoe UI" panose="020B0502040204020203" pitchFamily="34" charset="0"/>
            </a:rPr>
            <a:t>Concluzii</a:t>
          </a:r>
          <a:endParaRPr lang="en-US" sz="30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81B1D53F-D5AC-4EB2-87E1-E8FF0C8FD195}" type="parTrans" cxnId="{12E21CA6-BBBB-4A82-A078-176289E2B8B7}">
      <dgm:prSet/>
      <dgm:spPr/>
      <dgm:t>
        <a:bodyPr/>
        <a:lstStyle/>
        <a:p>
          <a:endParaRPr lang="ro-RO"/>
        </a:p>
      </dgm:t>
    </dgm:pt>
    <dgm:pt modelId="{C5B67004-81C7-4159-9B67-4A339C5DFFCF}" type="sibTrans" cxnId="{12E21CA6-BBBB-4A82-A078-176289E2B8B7}">
      <dgm:prSet/>
      <dgm:spPr/>
      <dgm:t>
        <a:bodyPr/>
        <a:lstStyle/>
        <a:p>
          <a:endParaRPr lang="ro-RO"/>
        </a:p>
      </dgm:t>
    </dgm:pt>
    <dgm:pt modelId="{57164BAC-3121-4D82-AC4D-99AF2CE6FCF8}">
      <dgm:prSet phldr="0" custT="1"/>
      <dgm:spPr/>
      <dgm:t>
        <a:bodyPr/>
        <a:lstStyle/>
        <a:p>
          <a:r>
            <a:rPr lang="ro-RO" sz="3000" b="0" dirty="0">
              <a:latin typeface="Segoe UI" panose="020B0502040204020203" pitchFamily="34" charset="0"/>
              <a:cs typeface="Segoe UI" panose="020B0502040204020203" pitchFamily="34" charset="0"/>
            </a:rPr>
            <a:t>Bibliografie</a:t>
          </a:r>
          <a:endParaRPr lang="en-US" sz="3000" b="0" dirty="0">
            <a:latin typeface="Segoe UI" panose="020B0502040204020203" pitchFamily="34" charset="0"/>
            <a:cs typeface="Segoe UI" panose="020B0502040204020203" pitchFamily="34" charset="0"/>
          </a:endParaRPr>
        </a:p>
      </dgm:t>
    </dgm:pt>
    <dgm:pt modelId="{90A8B2BC-AB16-4249-BFAC-50651AA9048A}" type="parTrans" cxnId="{935024E5-72D8-4381-AED6-F19D318DD4A3}">
      <dgm:prSet/>
      <dgm:spPr/>
      <dgm:t>
        <a:bodyPr/>
        <a:lstStyle/>
        <a:p>
          <a:endParaRPr lang="ro-RO"/>
        </a:p>
      </dgm:t>
    </dgm:pt>
    <dgm:pt modelId="{0A57040C-F435-4F43-BE94-CFF09E98B20F}" type="sibTrans" cxnId="{935024E5-72D8-4381-AED6-F19D318DD4A3}">
      <dgm:prSet/>
      <dgm:spPr/>
      <dgm:t>
        <a:bodyPr/>
        <a:lstStyle/>
        <a:p>
          <a:endParaRPr lang="ro-RO"/>
        </a:p>
      </dgm:t>
    </dgm:pt>
    <dgm:pt modelId="{D25A409B-FDD7-4C77-8E36-C904BAC79791}">
      <dgm:prSet custT="1"/>
      <dgm:spPr/>
      <dgm:t>
        <a:bodyPr/>
        <a:lstStyle/>
        <a:p>
          <a:pPr rtl="0"/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Proprietati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de Securitate</a:t>
          </a:r>
        </a:p>
      </dgm:t>
    </dgm:pt>
    <dgm:pt modelId="{6CA889DA-5F9A-4015-99FC-D1455065C236}" type="parTrans" cxnId="{903C7256-B696-428F-A4DA-B3255E8831A4}">
      <dgm:prSet/>
      <dgm:spPr/>
      <dgm:t>
        <a:bodyPr/>
        <a:lstStyle/>
        <a:p>
          <a:endParaRPr lang="ro-RO"/>
        </a:p>
      </dgm:t>
    </dgm:pt>
    <dgm:pt modelId="{BA18CE5A-52AF-4511-AB9D-3DE6642E437A}" type="sibTrans" cxnId="{903C7256-B696-428F-A4DA-B3255E8831A4}">
      <dgm:prSet/>
      <dgm:spPr/>
      <dgm:t>
        <a:bodyPr/>
        <a:lstStyle/>
        <a:p>
          <a:endParaRPr lang="ro-RO"/>
        </a:p>
      </dgm:t>
    </dgm:pt>
    <dgm:pt modelId="{A497C743-4700-4D44-9FF1-1BBBF2C4C1D5}">
      <dgm:prSet custT="1"/>
      <dgm:spPr/>
      <dgm:t>
        <a:bodyPr/>
        <a:lstStyle/>
        <a:p>
          <a:pPr rtl="0"/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Validare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si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rezultate</a:t>
          </a:r>
          <a:endParaRPr lang="en-US" sz="3000" b="0" dirty="0">
            <a:latin typeface="Segoe UI" panose="020B0502040204020203" pitchFamily="34" charset="0"/>
            <a:ea typeface="Germano" panose="020B0306030504020204" pitchFamily="34" charset="0"/>
            <a:cs typeface="Segoe UI" panose="020B0502040204020203" pitchFamily="34" charset="0"/>
          </a:endParaRPr>
        </a:p>
      </dgm:t>
    </dgm:pt>
    <dgm:pt modelId="{A0BEFE36-EBED-488D-8416-23BFDE9CD192}" type="parTrans" cxnId="{4AAD3387-DC3A-4739-A303-88E5F08F58BA}">
      <dgm:prSet/>
      <dgm:spPr/>
      <dgm:t>
        <a:bodyPr/>
        <a:lstStyle/>
        <a:p>
          <a:endParaRPr lang="ro-RO"/>
        </a:p>
      </dgm:t>
    </dgm:pt>
    <dgm:pt modelId="{0E8E7E2E-A1CC-43F4-8FD1-5C8E1F2AC6BA}" type="sibTrans" cxnId="{4AAD3387-DC3A-4739-A303-88E5F08F58BA}">
      <dgm:prSet/>
      <dgm:spPr/>
      <dgm:t>
        <a:bodyPr/>
        <a:lstStyle/>
        <a:p>
          <a:endParaRPr lang="ro-RO"/>
        </a:p>
      </dgm:t>
    </dgm:pt>
    <dgm:pt modelId="{9200CE98-B25D-47F2-9E98-2B703A3D4B32}">
      <dgm:prSet custT="1"/>
      <dgm:spPr/>
      <dgm:t>
        <a:bodyPr/>
        <a:lstStyle/>
        <a:p>
          <a:pPr rtl="0"/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Evaluarea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perfomantei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(</a:t>
          </a:r>
          <a:r>
            <a:rPr lang="en-US" sz="3000" b="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comparatii</a:t>
          </a:r>
          <a:r>
            <a:rPr lang="en-US" sz="3000" b="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)</a:t>
          </a:r>
        </a:p>
      </dgm:t>
    </dgm:pt>
    <dgm:pt modelId="{A230F39C-E611-4D7C-8B22-127411010E97}" type="parTrans" cxnId="{F0305A2E-F551-4773-95E4-E3C3D962A732}">
      <dgm:prSet/>
      <dgm:spPr/>
      <dgm:t>
        <a:bodyPr/>
        <a:lstStyle/>
        <a:p>
          <a:endParaRPr lang="ro-RO"/>
        </a:p>
      </dgm:t>
    </dgm:pt>
    <dgm:pt modelId="{DD06A4B6-AAF3-441D-B8D9-6465F826A0C8}" type="sibTrans" cxnId="{F0305A2E-F551-4773-95E4-E3C3D962A732}">
      <dgm:prSet/>
      <dgm:spPr/>
      <dgm:t>
        <a:bodyPr/>
        <a:lstStyle/>
        <a:p>
          <a:endParaRPr lang="ro-RO"/>
        </a:p>
      </dgm:t>
    </dgm:pt>
    <dgm:pt modelId="{B53A9CF1-E24E-4B25-827F-C1251C2CFC3D}">
      <dgm:prSet custT="1"/>
      <dgm:spPr/>
      <dgm:t>
        <a:bodyPr/>
        <a:lstStyle/>
        <a:p>
          <a:r>
            <a:rPr lang="en-US" sz="3000" b="0" dirty="0">
              <a:latin typeface="Segoe UI" panose="020B0502040204020203" pitchFamily="34" charset="0"/>
              <a:cs typeface="Segoe UI" panose="020B0502040204020203" pitchFamily="34" charset="0"/>
            </a:rPr>
            <a:t>Schnorr</a:t>
          </a:r>
        </a:p>
      </dgm:t>
    </dgm:pt>
    <dgm:pt modelId="{7DE5889E-882D-45BE-AE0D-DFCCBF6ECA8F}" type="parTrans" cxnId="{EE868888-CD02-443A-9A03-CC3CAEB62695}">
      <dgm:prSet/>
      <dgm:spPr/>
      <dgm:t>
        <a:bodyPr/>
        <a:lstStyle/>
        <a:p>
          <a:endParaRPr lang="ro-RO"/>
        </a:p>
      </dgm:t>
    </dgm:pt>
    <dgm:pt modelId="{6517CEB6-67A5-4337-A7AE-6D7B1424C1B9}" type="sibTrans" cxnId="{EE868888-CD02-443A-9A03-CC3CAEB62695}">
      <dgm:prSet/>
      <dgm:spPr/>
      <dgm:t>
        <a:bodyPr/>
        <a:lstStyle/>
        <a:p>
          <a:endParaRPr lang="ro-RO"/>
        </a:p>
      </dgm:t>
    </dgm:pt>
    <dgm:pt modelId="{C71BD923-6004-41EA-99F0-96E34D189658}" type="pres">
      <dgm:prSet presAssocID="{E63BB8D6-27BC-4CD0-978C-8090523D0705}" presName="vert0" presStyleCnt="0">
        <dgm:presLayoutVars>
          <dgm:dir/>
          <dgm:animOne val="branch"/>
          <dgm:animLvl val="lvl"/>
        </dgm:presLayoutVars>
      </dgm:prSet>
      <dgm:spPr/>
    </dgm:pt>
    <dgm:pt modelId="{A7A7D111-7312-4FF1-90D0-A5A302055B02}" type="pres">
      <dgm:prSet presAssocID="{DCB301B6-A1CC-4E04-931E-2CAECBDF93BF}" presName="thickLine" presStyleLbl="alignNode1" presStyleIdx="0" presStyleCnt="11"/>
      <dgm:spPr/>
    </dgm:pt>
    <dgm:pt modelId="{095401FA-B62A-4221-81C4-A775C041D3E5}" type="pres">
      <dgm:prSet presAssocID="{DCB301B6-A1CC-4E04-931E-2CAECBDF93BF}" presName="horz1" presStyleCnt="0"/>
      <dgm:spPr/>
    </dgm:pt>
    <dgm:pt modelId="{23FF3258-61C4-4868-8061-476911F0F613}" type="pres">
      <dgm:prSet presAssocID="{DCB301B6-A1CC-4E04-931E-2CAECBDF93BF}" presName="tx1" presStyleLbl="revTx" presStyleIdx="0" presStyleCnt="11"/>
      <dgm:spPr/>
    </dgm:pt>
    <dgm:pt modelId="{71E8AA07-5E9E-4E0E-B3A1-24CCAA6F26BF}" type="pres">
      <dgm:prSet presAssocID="{DCB301B6-A1CC-4E04-931E-2CAECBDF93BF}" presName="vert1" presStyleCnt="0"/>
      <dgm:spPr/>
    </dgm:pt>
    <dgm:pt modelId="{D6F322F4-78C7-4AC1-BD06-2240BE727109}" type="pres">
      <dgm:prSet presAssocID="{FFB776E6-23F7-4E85-9B3F-BAD987A2B497}" presName="thickLine" presStyleLbl="alignNode1" presStyleIdx="1" presStyleCnt="11"/>
      <dgm:spPr/>
    </dgm:pt>
    <dgm:pt modelId="{8466E06B-DDB5-4ED7-8A4D-9BA994AAF30D}" type="pres">
      <dgm:prSet presAssocID="{FFB776E6-23F7-4E85-9B3F-BAD987A2B497}" presName="horz1" presStyleCnt="0"/>
      <dgm:spPr/>
    </dgm:pt>
    <dgm:pt modelId="{BF05A64E-5684-4BCC-9BB3-559046A67930}" type="pres">
      <dgm:prSet presAssocID="{FFB776E6-23F7-4E85-9B3F-BAD987A2B497}" presName="tx1" presStyleLbl="revTx" presStyleIdx="1" presStyleCnt="11"/>
      <dgm:spPr/>
    </dgm:pt>
    <dgm:pt modelId="{2212CC0B-24DE-4349-874E-7D4009641B56}" type="pres">
      <dgm:prSet presAssocID="{FFB776E6-23F7-4E85-9B3F-BAD987A2B497}" presName="vert1" presStyleCnt="0"/>
      <dgm:spPr/>
    </dgm:pt>
    <dgm:pt modelId="{29966794-10E0-4AA1-80B2-81E9C8B802AA}" type="pres">
      <dgm:prSet presAssocID="{E899FDE9-8023-4C52-8C9F-5F0317A1A3C0}" presName="thickLine" presStyleLbl="alignNode1" presStyleIdx="2" presStyleCnt="11"/>
      <dgm:spPr/>
    </dgm:pt>
    <dgm:pt modelId="{8FEB853A-B3B6-45C7-A4F1-3B3DCA381117}" type="pres">
      <dgm:prSet presAssocID="{E899FDE9-8023-4C52-8C9F-5F0317A1A3C0}" presName="horz1" presStyleCnt="0"/>
      <dgm:spPr/>
    </dgm:pt>
    <dgm:pt modelId="{F97AA83C-E7E0-416C-973A-C9B90077CEC1}" type="pres">
      <dgm:prSet presAssocID="{E899FDE9-8023-4C52-8C9F-5F0317A1A3C0}" presName="tx1" presStyleLbl="revTx" presStyleIdx="2" presStyleCnt="11"/>
      <dgm:spPr/>
    </dgm:pt>
    <dgm:pt modelId="{293E329F-A54A-4403-A4E8-35E472C6B156}" type="pres">
      <dgm:prSet presAssocID="{E899FDE9-8023-4C52-8C9F-5F0317A1A3C0}" presName="vert1" presStyleCnt="0"/>
      <dgm:spPr/>
    </dgm:pt>
    <dgm:pt modelId="{80D8D5A4-B595-4A87-BFC5-B13A15CF4E83}" type="pres">
      <dgm:prSet presAssocID="{B53A9CF1-E24E-4B25-827F-C1251C2CFC3D}" presName="thickLine" presStyleLbl="alignNode1" presStyleIdx="3" presStyleCnt="11"/>
      <dgm:spPr/>
    </dgm:pt>
    <dgm:pt modelId="{6ED62D2D-7F11-4A2E-B5E0-20E215891721}" type="pres">
      <dgm:prSet presAssocID="{B53A9CF1-E24E-4B25-827F-C1251C2CFC3D}" presName="horz1" presStyleCnt="0"/>
      <dgm:spPr/>
    </dgm:pt>
    <dgm:pt modelId="{213E0E29-8346-490A-AA7C-3E960918E73B}" type="pres">
      <dgm:prSet presAssocID="{B53A9CF1-E24E-4B25-827F-C1251C2CFC3D}" presName="tx1" presStyleLbl="revTx" presStyleIdx="3" presStyleCnt="11"/>
      <dgm:spPr/>
    </dgm:pt>
    <dgm:pt modelId="{0AFE87F3-B6E6-492C-9055-5EEFA050732D}" type="pres">
      <dgm:prSet presAssocID="{B53A9CF1-E24E-4B25-827F-C1251C2CFC3D}" presName="vert1" presStyleCnt="0"/>
      <dgm:spPr/>
    </dgm:pt>
    <dgm:pt modelId="{2D278BD5-264D-44A7-9058-97C2848A1A4E}" type="pres">
      <dgm:prSet presAssocID="{3047A93B-1B86-4D68-8011-B3DC50BD44D3}" presName="thickLine" presStyleLbl="alignNode1" presStyleIdx="4" presStyleCnt="11"/>
      <dgm:spPr/>
    </dgm:pt>
    <dgm:pt modelId="{6C8212A7-3EDC-4748-85A3-AE07F2D36678}" type="pres">
      <dgm:prSet presAssocID="{3047A93B-1B86-4D68-8011-B3DC50BD44D3}" presName="horz1" presStyleCnt="0"/>
      <dgm:spPr/>
    </dgm:pt>
    <dgm:pt modelId="{7CD43AEC-AE41-45C3-9DCD-7D23CFFA63EC}" type="pres">
      <dgm:prSet presAssocID="{3047A93B-1B86-4D68-8011-B3DC50BD44D3}" presName="tx1" presStyleLbl="revTx" presStyleIdx="4" presStyleCnt="11"/>
      <dgm:spPr/>
    </dgm:pt>
    <dgm:pt modelId="{58B2B29E-F313-4C4C-83FC-BC3E7D7FBBD5}" type="pres">
      <dgm:prSet presAssocID="{3047A93B-1B86-4D68-8011-B3DC50BD44D3}" presName="vert1" presStyleCnt="0"/>
      <dgm:spPr/>
    </dgm:pt>
    <dgm:pt modelId="{03D85220-6B72-40D1-9AE1-E6DE691DCF53}" type="pres">
      <dgm:prSet presAssocID="{D25A409B-FDD7-4C77-8E36-C904BAC79791}" presName="thickLine" presStyleLbl="alignNode1" presStyleIdx="5" presStyleCnt="11"/>
      <dgm:spPr/>
    </dgm:pt>
    <dgm:pt modelId="{912DF252-457D-4BCA-92AF-2B61E785BECB}" type="pres">
      <dgm:prSet presAssocID="{D25A409B-FDD7-4C77-8E36-C904BAC79791}" presName="horz1" presStyleCnt="0"/>
      <dgm:spPr/>
    </dgm:pt>
    <dgm:pt modelId="{0FD42244-56A0-444D-9090-5D72D345B73D}" type="pres">
      <dgm:prSet presAssocID="{D25A409B-FDD7-4C77-8E36-C904BAC79791}" presName="tx1" presStyleLbl="revTx" presStyleIdx="5" presStyleCnt="11"/>
      <dgm:spPr/>
    </dgm:pt>
    <dgm:pt modelId="{31A6294D-296A-4071-98BC-E49A4946BC73}" type="pres">
      <dgm:prSet presAssocID="{D25A409B-FDD7-4C77-8E36-C904BAC79791}" presName="vert1" presStyleCnt="0"/>
      <dgm:spPr/>
    </dgm:pt>
    <dgm:pt modelId="{312C5543-FB1D-4BA3-BFDC-D97216303EB2}" type="pres">
      <dgm:prSet presAssocID="{A497C743-4700-4D44-9FF1-1BBBF2C4C1D5}" presName="thickLine" presStyleLbl="alignNode1" presStyleIdx="6" presStyleCnt="11"/>
      <dgm:spPr/>
    </dgm:pt>
    <dgm:pt modelId="{EB06F142-7977-4CC5-AC2E-2FA83E628AFC}" type="pres">
      <dgm:prSet presAssocID="{A497C743-4700-4D44-9FF1-1BBBF2C4C1D5}" presName="horz1" presStyleCnt="0"/>
      <dgm:spPr/>
    </dgm:pt>
    <dgm:pt modelId="{93660068-CD76-4C56-9900-C56998D89469}" type="pres">
      <dgm:prSet presAssocID="{A497C743-4700-4D44-9FF1-1BBBF2C4C1D5}" presName="tx1" presStyleLbl="revTx" presStyleIdx="6" presStyleCnt="11"/>
      <dgm:spPr/>
    </dgm:pt>
    <dgm:pt modelId="{FE216362-F2D1-4BD1-AAB8-A789F73F4FD0}" type="pres">
      <dgm:prSet presAssocID="{A497C743-4700-4D44-9FF1-1BBBF2C4C1D5}" presName="vert1" presStyleCnt="0"/>
      <dgm:spPr/>
    </dgm:pt>
    <dgm:pt modelId="{E23CAE4E-217A-4E65-BE49-BD09F611744B}" type="pres">
      <dgm:prSet presAssocID="{9200CE98-B25D-47F2-9E98-2B703A3D4B32}" presName="thickLine" presStyleLbl="alignNode1" presStyleIdx="7" presStyleCnt="11"/>
      <dgm:spPr/>
    </dgm:pt>
    <dgm:pt modelId="{305502A7-0B6F-4516-A1A5-A1EB38B64E75}" type="pres">
      <dgm:prSet presAssocID="{9200CE98-B25D-47F2-9E98-2B703A3D4B32}" presName="horz1" presStyleCnt="0"/>
      <dgm:spPr/>
    </dgm:pt>
    <dgm:pt modelId="{84B9C954-FC2E-489F-A370-BB72E4735FEC}" type="pres">
      <dgm:prSet presAssocID="{9200CE98-B25D-47F2-9E98-2B703A3D4B32}" presName="tx1" presStyleLbl="revTx" presStyleIdx="7" presStyleCnt="11"/>
      <dgm:spPr/>
    </dgm:pt>
    <dgm:pt modelId="{D12F30A7-7865-40B2-87FD-9132E4C403DA}" type="pres">
      <dgm:prSet presAssocID="{9200CE98-B25D-47F2-9E98-2B703A3D4B32}" presName="vert1" presStyleCnt="0"/>
      <dgm:spPr/>
    </dgm:pt>
    <dgm:pt modelId="{3F343F96-43EA-40FC-B2BA-B69B4EF995B9}" type="pres">
      <dgm:prSet presAssocID="{53B103D6-7B09-43A1-9AE8-4A857AE2A627}" presName="thickLine" presStyleLbl="alignNode1" presStyleIdx="8" presStyleCnt="11"/>
      <dgm:spPr/>
    </dgm:pt>
    <dgm:pt modelId="{70E33DC6-344C-429F-A111-03D84CEB0C51}" type="pres">
      <dgm:prSet presAssocID="{53B103D6-7B09-43A1-9AE8-4A857AE2A627}" presName="horz1" presStyleCnt="0"/>
      <dgm:spPr/>
    </dgm:pt>
    <dgm:pt modelId="{86C55E10-C902-4759-9013-797BE9EBBC55}" type="pres">
      <dgm:prSet presAssocID="{53B103D6-7B09-43A1-9AE8-4A857AE2A627}" presName="tx1" presStyleLbl="revTx" presStyleIdx="8" presStyleCnt="11"/>
      <dgm:spPr/>
    </dgm:pt>
    <dgm:pt modelId="{243CF328-381A-47D8-A0DA-FE54980BB980}" type="pres">
      <dgm:prSet presAssocID="{53B103D6-7B09-43A1-9AE8-4A857AE2A627}" presName="vert1" presStyleCnt="0"/>
      <dgm:spPr/>
    </dgm:pt>
    <dgm:pt modelId="{7AB99CC0-51C0-4483-85AC-3059D5EF841C}" type="pres">
      <dgm:prSet presAssocID="{4D04C002-FD7C-42C7-A1C4-449E53FA6304}" presName="thickLine" presStyleLbl="alignNode1" presStyleIdx="9" presStyleCnt="11"/>
      <dgm:spPr/>
    </dgm:pt>
    <dgm:pt modelId="{62B7C738-E260-440A-8002-A32418E1EC5B}" type="pres">
      <dgm:prSet presAssocID="{4D04C002-FD7C-42C7-A1C4-449E53FA6304}" presName="horz1" presStyleCnt="0"/>
      <dgm:spPr/>
    </dgm:pt>
    <dgm:pt modelId="{B0306898-844E-41ED-A58A-D2AA898F0110}" type="pres">
      <dgm:prSet presAssocID="{4D04C002-FD7C-42C7-A1C4-449E53FA6304}" presName="tx1" presStyleLbl="revTx" presStyleIdx="9" presStyleCnt="11"/>
      <dgm:spPr/>
    </dgm:pt>
    <dgm:pt modelId="{3FBA7C3C-E07F-4406-9003-739561A49FB3}" type="pres">
      <dgm:prSet presAssocID="{4D04C002-FD7C-42C7-A1C4-449E53FA6304}" presName="vert1" presStyleCnt="0"/>
      <dgm:spPr/>
    </dgm:pt>
    <dgm:pt modelId="{9DAEC4B7-B31B-4213-A64B-E8D32906A0A1}" type="pres">
      <dgm:prSet presAssocID="{57164BAC-3121-4D82-AC4D-99AF2CE6FCF8}" presName="thickLine" presStyleLbl="alignNode1" presStyleIdx="10" presStyleCnt="11"/>
      <dgm:spPr/>
    </dgm:pt>
    <dgm:pt modelId="{A041E22C-AE10-46C3-8671-353C5B8893F0}" type="pres">
      <dgm:prSet presAssocID="{57164BAC-3121-4D82-AC4D-99AF2CE6FCF8}" presName="horz1" presStyleCnt="0"/>
      <dgm:spPr/>
    </dgm:pt>
    <dgm:pt modelId="{5DD4EEAF-965B-43EB-9AB6-10A7DD397D93}" type="pres">
      <dgm:prSet presAssocID="{57164BAC-3121-4D82-AC4D-99AF2CE6FCF8}" presName="tx1" presStyleLbl="revTx" presStyleIdx="10" presStyleCnt="11"/>
      <dgm:spPr/>
    </dgm:pt>
    <dgm:pt modelId="{D6871868-2DDD-4F44-A2D4-A00DADC4B44C}" type="pres">
      <dgm:prSet presAssocID="{57164BAC-3121-4D82-AC4D-99AF2CE6FCF8}" presName="vert1" presStyleCnt="0"/>
      <dgm:spPr/>
    </dgm:pt>
  </dgm:ptLst>
  <dgm:cxnLst>
    <dgm:cxn modelId="{2039271B-4B8A-4875-8465-A633823A4E6E}" srcId="{E63BB8D6-27BC-4CD0-978C-8090523D0705}" destId="{FFB776E6-23F7-4E85-9B3F-BAD987A2B497}" srcOrd="1" destOrd="0" parTransId="{3082F0D9-2BB2-46E7-A418-458C1C3EAAEB}" sibTransId="{409834EE-169C-4C59-B1A9-A63DFF462395}"/>
    <dgm:cxn modelId="{DAFB951C-260B-4225-85A8-F3A7829ECF62}" type="presOf" srcId="{A497C743-4700-4D44-9FF1-1BBBF2C4C1D5}" destId="{93660068-CD76-4C56-9900-C56998D89469}" srcOrd="0" destOrd="0" presId="urn:microsoft.com/office/officeart/2008/layout/LinedList"/>
    <dgm:cxn modelId="{0DA4F71E-959A-424D-B27B-92784029048A}" type="presOf" srcId="{FFB776E6-23F7-4E85-9B3F-BAD987A2B497}" destId="{BF05A64E-5684-4BCC-9BB3-559046A67930}" srcOrd="0" destOrd="0" presId="urn:microsoft.com/office/officeart/2008/layout/LinedList"/>
    <dgm:cxn modelId="{2D720D27-4DEA-437C-8EB5-49FB3E25A81C}" srcId="{E63BB8D6-27BC-4CD0-978C-8090523D0705}" destId="{E899FDE9-8023-4C52-8C9F-5F0317A1A3C0}" srcOrd="2" destOrd="0" parTransId="{0946872C-DE66-47EF-98B7-31F770ABDAD5}" sibTransId="{0C2B48A1-EFF8-4EF2-B762-5D6368039629}"/>
    <dgm:cxn modelId="{F0305A2E-F551-4773-95E4-E3C3D962A732}" srcId="{E63BB8D6-27BC-4CD0-978C-8090523D0705}" destId="{9200CE98-B25D-47F2-9E98-2B703A3D4B32}" srcOrd="7" destOrd="0" parTransId="{A230F39C-E611-4D7C-8B22-127411010E97}" sibTransId="{DD06A4B6-AAF3-441D-B8D9-6465F826A0C8}"/>
    <dgm:cxn modelId="{F048A637-4897-4920-9F41-D58B6B60C7CF}" srcId="{E63BB8D6-27BC-4CD0-978C-8090523D0705}" destId="{DCB301B6-A1CC-4E04-931E-2CAECBDF93BF}" srcOrd="0" destOrd="0" parTransId="{C179F3CE-E489-4C1C-86D0-B0218C2C182C}" sibTransId="{22379FF5-8661-4E61-B250-DF4A76537C51}"/>
    <dgm:cxn modelId="{9C121D67-496A-491B-B169-5890510E0D3B}" type="presOf" srcId="{E899FDE9-8023-4C52-8C9F-5F0317A1A3C0}" destId="{F97AA83C-E7E0-416C-973A-C9B90077CEC1}" srcOrd="0" destOrd="0" presId="urn:microsoft.com/office/officeart/2008/layout/LinedList"/>
    <dgm:cxn modelId="{B494A953-EE28-41C8-A01F-0735B6622ED1}" srcId="{E63BB8D6-27BC-4CD0-978C-8090523D0705}" destId="{3047A93B-1B86-4D68-8011-B3DC50BD44D3}" srcOrd="4" destOrd="0" parTransId="{D2512F0C-91D8-40BF-A285-05C398EF3CF3}" sibTransId="{BE6B2831-1CF5-4741-A01D-92BF807DB945}"/>
    <dgm:cxn modelId="{2F35BB54-3D98-458F-B9B0-5CA2C4D648C4}" type="presOf" srcId="{3047A93B-1B86-4D68-8011-B3DC50BD44D3}" destId="{7CD43AEC-AE41-45C3-9DCD-7D23CFFA63EC}" srcOrd="0" destOrd="0" presId="urn:microsoft.com/office/officeart/2008/layout/LinedList"/>
    <dgm:cxn modelId="{903C7256-B696-428F-A4DA-B3255E8831A4}" srcId="{E63BB8D6-27BC-4CD0-978C-8090523D0705}" destId="{D25A409B-FDD7-4C77-8E36-C904BAC79791}" srcOrd="5" destOrd="0" parTransId="{6CA889DA-5F9A-4015-99FC-D1455065C236}" sibTransId="{BA18CE5A-52AF-4511-AB9D-3DE6642E437A}"/>
    <dgm:cxn modelId="{4AAD3387-DC3A-4739-A303-88E5F08F58BA}" srcId="{E63BB8D6-27BC-4CD0-978C-8090523D0705}" destId="{A497C743-4700-4D44-9FF1-1BBBF2C4C1D5}" srcOrd="6" destOrd="0" parTransId="{A0BEFE36-EBED-488D-8416-23BFDE9CD192}" sibTransId="{0E8E7E2E-A1CC-43F4-8FD1-5C8E1F2AC6BA}"/>
    <dgm:cxn modelId="{BC15F587-D3C4-4370-BF6E-C314EC2701A6}" type="presOf" srcId="{9200CE98-B25D-47F2-9E98-2B703A3D4B32}" destId="{84B9C954-FC2E-489F-A370-BB72E4735FEC}" srcOrd="0" destOrd="0" presId="urn:microsoft.com/office/officeart/2008/layout/LinedList"/>
    <dgm:cxn modelId="{EE868888-CD02-443A-9A03-CC3CAEB62695}" srcId="{E63BB8D6-27BC-4CD0-978C-8090523D0705}" destId="{B53A9CF1-E24E-4B25-827F-C1251C2CFC3D}" srcOrd="3" destOrd="0" parTransId="{7DE5889E-882D-45BE-AE0D-DFCCBF6ECA8F}" sibTransId="{6517CEB6-67A5-4337-A7AE-6D7B1424C1B9}"/>
    <dgm:cxn modelId="{3AFC218D-9B47-407C-A7F4-866BEB639E2A}" type="presOf" srcId="{57164BAC-3121-4D82-AC4D-99AF2CE6FCF8}" destId="{5DD4EEAF-965B-43EB-9AB6-10A7DD397D93}" srcOrd="0" destOrd="0" presId="urn:microsoft.com/office/officeart/2008/layout/LinedList"/>
    <dgm:cxn modelId="{495D9A92-03EE-4C22-A404-207FA7776554}" type="presOf" srcId="{D25A409B-FDD7-4C77-8E36-C904BAC79791}" destId="{0FD42244-56A0-444D-9090-5D72D345B73D}" srcOrd="0" destOrd="0" presId="urn:microsoft.com/office/officeart/2008/layout/LinedList"/>
    <dgm:cxn modelId="{E06FD092-BB9E-459F-82D3-A2918268633E}" type="presOf" srcId="{4D04C002-FD7C-42C7-A1C4-449E53FA6304}" destId="{B0306898-844E-41ED-A58A-D2AA898F0110}" srcOrd="0" destOrd="0" presId="urn:microsoft.com/office/officeart/2008/layout/LinedList"/>
    <dgm:cxn modelId="{12E21CA6-BBBB-4A82-A078-176289E2B8B7}" srcId="{E63BB8D6-27BC-4CD0-978C-8090523D0705}" destId="{4D04C002-FD7C-42C7-A1C4-449E53FA6304}" srcOrd="9" destOrd="0" parTransId="{81B1D53F-D5AC-4EB2-87E1-E8FF0C8FD195}" sibTransId="{C5B67004-81C7-4159-9B67-4A339C5DFFCF}"/>
    <dgm:cxn modelId="{C32912C2-3C46-4F22-8174-08DBA902E60D}" type="presOf" srcId="{DCB301B6-A1CC-4E04-931E-2CAECBDF93BF}" destId="{23FF3258-61C4-4868-8061-476911F0F613}" srcOrd="0" destOrd="0" presId="urn:microsoft.com/office/officeart/2008/layout/LinedList"/>
    <dgm:cxn modelId="{C577A5C8-646E-4A9E-A054-E9F8A0342FE4}" type="presOf" srcId="{B53A9CF1-E24E-4B25-827F-C1251C2CFC3D}" destId="{213E0E29-8346-490A-AA7C-3E960918E73B}" srcOrd="0" destOrd="0" presId="urn:microsoft.com/office/officeart/2008/layout/LinedList"/>
    <dgm:cxn modelId="{3BB7F6DB-B24C-45E1-9A5B-C0AFB6D0EDF3}" srcId="{E63BB8D6-27BC-4CD0-978C-8090523D0705}" destId="{53B103D6-7B09-43A1-9AE8-4A857AE2A627}" srcOrd="8" destOrd="0" parTransId="{8781E4CB-F99D-4F5B-BD0D-E532EDB994C6}" sibTransId="{8C75F1FA-A056-4E79-93B9-47FF5EFC130B}"/>
    <dgm:cxn modelId="{DEC6ABDC-605F-44AE-8F95-6E0B70417767}" type="presOf" srcId="{53B103D6-7B09-43A1-9AE8-4A857AE2A627}" destId="{86C55E10-C902-4759-9013-797BE9EBBC55}" srcOrd="0" destOrd="0" presId="urn:microsoft.com/office/officeart/2008/layout/LinedList"/>
    <dgm:cxn modelId="{935024E5-72D8-4381-AED6-F19D318DD4A3}" srcId="{E63BB8D6-27BC-4CD0-978C-8090523D0705}" destId="{57164BAC-3121-4D82-AC4D-99AF2CE6FCF8}" srcOrd="10" destOrd="0" parTransId="{90A8B2BC-AB16-4249-BFAC-50651AA9048A}" sibTransId="{0A57040C-F435-4F43-BE94-CFF09E98B20F}"/>
    <dgm:cxn modelId="{7CA714F9-144E-4C33-BAA4-83092E2352C2}" type="presOf" srcId="{E63BB8D6-27BC-4CD0-978C-8090523D0705}" destId="{C71BD923-6004-41EA-99F0-96E34D189658}" srcOrd="0" destOrd="0" presId="urn:microsoft.com/office/officeart/2008/layout/LinedList"/>
    <dgm:cxn modelId="{9375F6DB-0B1C-480E-B0AB-AFD28DC1C9E5}" type="presParOf" srcId="{C71BD923-6004-41EA-99F0-96E34D189658}" destId="{A7A7D111-7312-4FF1-90D0-A5A302055B02}" srcOrd="0" destOrd="0" presId="urn:microsoft.com/office/officeart/2008/layout/LinedList"/>
    <dgm:cxn modelId="{B31792FC-87C6-4C44-BC8B-C00F3E88F443}" type="presParOf" srcId="{C71BD923-6004-41EA-99F0-96E34D189658}" destId="{095401FA-B62A-4221-81C4-A775C041D3E5}" srcOrd="1" destOrd="0" presId="urn:microsoft.com/office/officeart/2008/layout/LinedList"/>
    <dgm:cxn modelId="{EE51D69B-A3B2-42DA-8D2D-EF3E36F63DFC}" type="presParOf" srcId="{095401FA-B62A-4221-81C4-A775C041D3E5}" destId="{23FF3258-61C4-4868-8061-476911F0F613}" srcOrd="0" destOrd="0" presId="urn:microsoft.com/office/officeart/2008/layout/LinedList"/>
    <dgm:cxn modelId="{3B343715-6473-4C79-886F-8E873B48016C}" type="presParOf" srcId="{095401FA-B62A-4221-81C4-A775C041D3E5}" destId="{71E8AA07-5E9E-4E0E-B3A1-24CCAA6F26BF}" srcOrd="1" destOrd="0" presId="urn:microsoft.com/office/officeart/2008/layout/LinedList"/>
    <dgm:cxn modelId="{15AA08D2-7E5C-4C9E-A2AC-21B5D1BC684F}" type="presParOf" srcId="{C71BD923-6004-41EA-99F0-96E34D189658}" destId="{D6F322F4-78C7-4AC1-BD06-2240BE727109}" srcOrd="2" destOrd="0" presId="urn:microsoft.com/office/officeart/2008/layout/LinedList"/>
    <dgm:cxn modelId="{87FF9796-5E86-4839-A959-5F7E5D1D658A}" type="presParOf" srcId="{C71BD923-6004-41EA-99F0-96E34D189658}" destId="{8466E06B-DDB5-4ED7-8A4D-9BA994AAF30D}" srcOrd="3" destOrd="0" presId="urn:microsoft.com/office/officeart/2008/layout/LinedList"/>
    <dgm:cxn modelId="{5F7A70C7-8052-42DE-BC12-96B6C90B4729}" type="presParOf" srcId="{8466E06B-DDB5-4ED7-8A4D-9BA994AAF30D}" destId="{BF05A64E-5684-4BCC-9BB3-559046A67930}" srcOrd="0" destOrd="0" presId="urn:microsoft.com/office/officeart/2008/layout/LinedList"/>
    <dgm:cxn modelId="{44C38AE6-72AC-4926-97B9-B6AF393DCD85}" type="presParOf" srcId="{8466E06B-DDB5-4ED7-8A4D-9BA994AAF30D}" destId="{2212CC0B-24DE-4349-874E-7D4009641B56}" srcOrd="1" destOrd="0" presId="urn:microsoft.com/office/officeart/2008/layout/LinedList"/>
    <dgm:cxn modelId="{4CB3DB51-98DC-4FE9-82FE-D5C0F673F861}" type="presParOf" srcId="{C71BD923-6004-41EA-99F0-96E34D189658}" destId="{29966794-10E0-4AA1-80B2-81E9C8B802AA}" srcOrd="4" destOrd="0" presId="urn:microsoft.com/office/officeart/2008/layout/LinedList"/>
    <dgm:cxn modelId="{FEFA90F9-6EE2-43F0-B5BC-CF8912ECF3BD}" type="presParOf" srcId="{C71BD923-6004-41EA-99F0-96E34D189658}" destId="{8FEB853A-B3B6-45C7-A4F1-3B3DCA381117}" srcOrd="5" destOrd="0" presId="urn:microsoft.com/office/officeart/2008/layout/LinedList"/>
    <dgm:cxn modelId="{ED9FAF7A-1654-47DF-AB60-4ACD3F2FFA4B}" type="presParOf" srcId="{8FEB853A-B3B6-45C7-A4F1-3B3DCA381117}" destId="{F97AA83C-E7E0-416C-973A-C9B90077CEC1}" srcOrd="0" destOrd="0" presId="urn:microsoft.com/office/officeart/2008/layout/LinedList"/>
    <dgm:cxn modelId="{60C782C2-9768-4B12-A44D-9CD9DEDC2FC3}" type="presParOf" srcId="{8FEB853A-B3B6-45C7-A4F1-3B3DCA381117}" destId="{293E329F-A54A-4403-A4E8-35E472C6B156}" srcOrd="1" destOrd="0" presId="urn:microsoft.com/office/officeart/2008/layout/LinedList"/>
    <dgm:cxn modelId="{BD1501B6-B5E1-43A4-AB25-B70483DBCF99}" type="presParOf" srcId="{C71BD923-6004-41EA-99F0-96E34D189658}" destId="{80D8D5A4-B595-4A87-BFC5-B13A15CF4E83}" srcOrd="6" destOrd="0" presId="urn:microsoft.com/office/officeart/2008/layout/LinedList"/>
    <dgm:cxn modelId="{26A77DE4-ACBA-416E-A797-ACE1E5A404A1}" type="presParOf" srcId="{C71BD923-6004-41EA-99F0-96E34D189658}" destId="{6ED62D2D-7F11-4A2E-B5E0-20E215891721}" srcOrd="7" destOrd="0" presId="urn:microsoft.com/office/officeart/2008/layout/LinedList"/>
    <dgm:cxn modelId="{77D69B80-3DA1-4CE0-9691-123DB265A9BF}" type="presParOf" srcId="{6ED62D2D-7F11-4A2E-B5E0-20E215891721}" destId="{213E0E29-8346-490A-AA7C-3E960918E73B}" srcOrd="0" destOrd="0" presId="urn:microsoft.com/office/officeart/2008/layout/LinedList"/>
    <dgm:cxn modelId="{C31F9E43-4B21-400F-8E77-ADC4B0432FAF}" type="presParOf" srcId="{6ED62D2D-7F11-4A2E-B5E0-20E215891721}" destId="{0AFE87F3-B6E6-492C-9055-5EEFA050732D}" srcOrd="1" destOrd="0" presId="urn:microsoft.com/office/officeart/2008/layout/LinedList"/>
    <dgm:cxn modelId="{59AE561E-2D65-4D6B-BC4D-390F057F0A00}" type="presParOf" srcId="{C71BD923-6004-41EA-99F0-96E34D189658}" destId="{2D278BD5-264D-44A7-9058-97C2848A1A4E}" srcOrd="8" destOrd="0" presId="urn:microsoft.com/office/officeart/2008/layout/LinedList"/>
    <dgm:cxn modelId="{32D4CABD-66BE-4602-A568-A6CC1F76D1C0}" type="presParOf" srcId="{C71BD923-6004-41EA-99F0-96E34D189658}" destId="{6C8212A7-3EDC-4748-85A3-AE07F2D36678}" srcOrd="9" destOrd="0" presId="urn:microsoft.com/office/officeart/2008/layout/LinedList"/>
    <dgm:cxn modelId="{829E3A6D-3A92-4993-A29B-4D34190BEB3A}" type="presParOf" srcId="{6C8212A7-3EDC-4748-85A3-AE07F2D36678}" destId="{7CD43AEC-AE41-45C3-9DCD-7D23CFFA63EC}" srcOrd="0" destOrd="0" presId="urn:microsoft.com/office/officeart/2008/layout/LinedList"/>
    <dgm:cxn modelId="{B66A8215-4F17-45F9-B1FD-9883084D27F1}" type="presParOf" srcId="{6C8212A7-3EDC-4748-85A3-AE07F2D36678}" destId="{58B2B29E-F313-4C4C-83FC-BC3E7D7FBBD5}" srcOrd="1" destOrd="0" presId="urn:microsoft.com/office/officeart/2008/layout/LinedList"/>
    <dgm:cxn modelId="{69FE291F-E0F6-45A5-A6BF-58FE29E70784}" type="presParOf" srcId="{C71BD923-6004-41EA-99F0-96E34D189658}" destId="{03D85220-6B72-40D1-9AE1-E6DE691DCF53}" srcOrd="10" destOrd="0" presId="urn:microsoft.com/office/officeart/2008/layout/LinedList"/>
    <dgm:cxn modelId="{7FF18CA0-080B-4F33-ABF4-E43FB0837E4A}" type="presParOf" srcId="{C71BD923-6004-41EA-99F0-96E34D189658}" destId="{912DF252-457D-4BCA-92AF-2B61E785BECB}" srcOrd="11" destOrd="0" presId="urn:microsoft.com/office/officeart/2008/layout/LinedList"/>
    <dgm:cxn modelId="{BF5C59FB-5CF1-4DB0-A36A-7525B72C91E3}" type="presParOf" srcId="{912DF252-457D-4BCA-92AF-2B61E785BECB}" destId="{0FD42244-56A0-444D-9090-5D72D345B73D}" srcOrd="0" destOrd="0" presId="urn:microsoft.com/office/officeart/2008/layout/LinedList"/>
    <dgm:cxn modelId="{6154ED4C-D223-4853-9E08-CD0C97716B10}" type="presParOf" srcId="{912DF252-457D-4BCA-92AF-2B61E785BECB}" destId="{31A6294D-296A-4071-98BC-E49A4946BC73}" srcOrd="1" destOrd="0" presId="urn:microsoft.com/office/officeart/2008/layout/LinedList"/>
    <dgm:cxn modelId="{5F4072C0-3BD4-4423-967B-59B92134B54C}" type="presParOf" srcId="{C71BD923-6004-41EA-99F0-96E34D189658}" destId="{312C5543-FB1D-4BA3-BFDC-D97216303EB2}" srcOrd="12" destOrd="0" presId="urn:microsoft.com/office/officeart/2008/layout/LinedList"/>
    <dgm:cxn modelId="{ABEC3898-D4F6-4E78-A96E-BA5BB78700DF}" type="presParOf" srcId="{C71BD923-6004-41EA-99F0-96E34D189658}" destId="{EB06F142-7977-4CC5-AC2E-2FA83E628AFC}" srcOrd="13" destOrd="0" presId="urn:microsoft.com/office/officeart/2008/layout/LinedList"/>
    <dgm:cxn modelId="{8251648D-9C61-4A4A-A96B-7BD835AB353B}" type="presParOf" srcId="{EB06F142-7977-4CC5-AC2E-2FA83E628AFC}" destId="{93660068-CD76-4C56-9900-C56998D89469}" srcOrd="0" destOrd="0" presId="urn:microsoft.com/office/officeart/2008/layout/LinedList"/>
    <dgm:cxn modelId="{0AAC823E-35F1-48B0-9272-9C75FED9955C}" type="presParOf" srcId="{EB06F142-7977-4CC5-AC2E-2FA83E628AFC}" destId="{FE216362-F2D1-4BD1-AAB8-A789F73F4FD0}" srcOrd="1" destOrd="0" presId="urn:microsoft.com/office/officeart/2008/layout/LinedList"/>
    <dgm:cxn modelId="{5862AB3D-2058-4DB1-8A5F-7E0E52694EA5}" type="presParOf" srcId="{C71BD923-6004-41EA-99F0-96E34D189658}" destId="{E23CAE4E-217A-4E65-BE49-BD09F611744B}" srcOrd="14" destOrd="0" presId="urn:microsoft.com/office/officeart/2008/layout/LinedList"/>
    <dgm:cxn modelId="{06CD103D-84E5-41C0-A814-37D663CCEDDF}" type="presParOf" srcId="{C71BD923-6004-41EA-99F0-96E34D189658}" destId="{305502A7-0B6F-4516-A1A5-A1EB38B64E75}" srcOrd="15" destOrd="0" presId="urn:microsoft.com/office/officeart/2008/layout/LinedList"/>
    <dgm:cxn modelId="{83C31764-29BC-4191-BFF8-A4242D6B81CE}" type="presParOf" srcId="{305502A7-0B6F-4516-A1A5-A1EB38B64E75}" destId="{84B9C954-FC2E-489F-A370-BB72E4735FEC}" srcOrd="0" destOrd="0" presId="urn:microsoft.com/office/officeart/2008/layout/LinedList"/>
    <dgm:cxn modelId="{79A04CD0-332E-425A-AAB2-7AA2E8C2553D}" type="presParOf" srcId="{305502A7-0B6F-4516-A1A5-A1EB38B64E75}" destId="{D12F30A7-7865-40B2-87FD-9132E4C403DA}" srcOrd="1" destOrd="0" presId="urn:microsoft.com/office/officeart/2008/layout/LinedList"/>
    <dgm:cxn modelId="{0AFB4DAF-FDF6-4A1B-9C98-D3252182FBD3}" type="presParOf" srcId="{C71BD923-6004-41EA-99F0-96E34D189658}" destId="{3F343F96-43EA-40FC-B2BA-B69B4EF995B9}" srcOrd="16" destOrd="0" presId="urn:microsoft.com/office/officeart/2008/layout/LinedList"/>
    <dgm:cxn modelId="{3F4695AF-3657-4209-AA54-4CA5289742CA}" type="presParOf" srcId="{C71BD923-6004-41EA-99F0-96E34D189658}" destId="{70E33DC6-344C-429F-A111-03D84CEB0C51}" srcOrd="17" destOrd="0" presId="urn:microsoft.com/office/officeart/2008/layout/LinedList"/>
    <dgm:cxn modelId="{42D87C5B-6A96-48E7-9D27-0AD619E8203C}" type="presParOf" srcId="{70E33DC6-344C-429F-A111-03D84CEB0C51}" destId="{86C55E10-C902-4759-9013-797BE9EBBC55}" srcOrd="0" destOrd="0" presId="urn:microsoft.com/office/officeart/2008/layout/LinedList"/>
    <dgm:cxn modelId="{7BA7F1D2-18DF-44FA-87CB-84537177391C}" type="presParOf" srcId="{70E33DC6-344C-429F-A111-03D84CEB0C51}" destId="{243CF328-381A-47D8-A0DA-FE54980BB980}" srcOrd="1" destOrd="0" presId="urn:microsoft.com/office/officeart/2008/layout/LinedList"/>
    <dgm:cxn modelId="{06231A0C-6741-46BF-9C71-FBEECB7CC7D4}" type="presParOf" srcId="{C71BD923-6004-41EA-99F0-96E34D189658}" destId="{7AB99CC0-51C0-4483-85AC-3059D5EF841C}" srcOrd="18" destOrd="0" presId="urn:microsoft.com/office/officeart/2008/layout/LinedList"/>
    <dgm:cxn modelId="{850011FD-25F0-49CC-B52E-B88AE21B92AA}" type="presParOf" srcId="{C71BD923-6004-41EA-99F0-96E34D189658}" destId="{62B7C738-E260-440A-8002-A32418E1EC5B}" srcOrd="19" destOrd="0" presId="urn:microsoft.com/office/officeart/2008/layout/LinedList"/>
    <dgm:cxn modelId="{65DCE12C-BD71-4362-A218-E9B300A559FE}" type="presParOf" srcId="{62B7C738-E260-440A-8002-A32418E1EC5B}" destId="{B0306898-844E-41ED-A58A-D2AA898F0110}" srcOrd="0" destOrd="0" presId="urn:microsoft.com/office/officeart/2008/layout/LinedList"/>
    <dgm:cxn modelId="{E545CD3A-B396-4FEA-BDAF-94F8FAB4BB29}" type="presParOf" srcId="{62B7C738-E260-440A-8002-A32418E1EC5B}" destId="{3FBA7C3C-E07F-4406-9003-739561A49FB3}" srcOrd="1" destOrd="0" presId="urn:microsoft.com/office/officeart/2008/layout/LinedList"/>
    <dgm:cxn modelId="{BB5399DA-A1CC-48C2-9F3C-03085620B11D}" type="presParOf" srcId="{C71BD923-6004-41EA-99F0-96E34D189658}" destId="{9DAEC4B7-B31B-4213-A64B-E8D32906A0A1}" srcOrd="20" destOrd="0" presId="urn:microsoft.com/office/officeart/2008/layout/LinedList"/>
    <dgm:cxn modelId="{AEBF2684-7512-4D5B-A010-B888827FC053}" type="presParOf" srcId="{C71BD923-6004-41EA-99F0-96E34D189658}" destId="{A041E22C-AE10-46C3-8671-353C5B8893F0}" srcOrd="21" destOrd="0" presId="urn:microsoft.com/office/officeart/2008/layout/LinedList"/>
    <dgm:cxn modelId="{5EDC21C1-23CC-4600-9B04-E45FF20D545D}" type="presParOf" srcId="{A041E22C-AE10-46C3-8671-353C5B8893F0}" destId="{5DD4EEAF-965B-43EB-9AB6-10A7DD397D93}" srcOrd="0" destOrd="0" presId="urn:microsoft.com/office/officeart/2008/layout/LinedList"/>
    <dgm:cxn modelId="{69BDE853-8D9B-48BC-A551-6B5BFFA9643D}" type="presParOf" srcId="{A041E22C-AE10-46C3-8671-353C5B8893F0}" destId="{D6871868-2DDD-4F44-A2D4-A00DADC4B4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7D111-7312-4FF1-90D0-A5A302055B02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F3258-61C4-4868-8061-476911F0F613}">
      <dsp:nvSpPr>
        <dsp:cNvPr id="0" name=""/>
        <dsp:cNvSpPr/>
      </dsp:nvSpPr>
      <dsp:spPr>
        <a:xfrm>
          <a:off x="0" y="2703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>
              <a:latin typeface="Segoe UI" panose="020B0502040204020203" pitchFamily="34" charset="0"/>
              <a:cs typeface="Segoe UI" panose="020B0502040204020203" pitchFamily="34" charset="0"/>
            </a:rPr>
            <a:t>Introducere</a:t>
          </a:r>
        </a:p>
      </dsp:txBody>
      <dsp:txXfrm>
        <a:off x="0" y="2703"/>
        <a:ext cx="6900512" cy="502794"/>
      </dsp:txXfrm>
    </dsp:sp>
    <dsp:sp modelId="{D6F322F4-78C7-4AC1-BD06-2240BE727109}">
      <dsp:nvSpPr>
        <dsp:cNvPr id="0" name=""/>
        <dsp:cNvSpPr/>
      </dsp:nvSpPr>
      <dsp:spPr>
        <a:xfrm>
          <a:off x="0" y="505497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4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05A64E-5684-4BCC-9BB3-559046A67930}">
      <dsp:nvSpPr>
        <dsp:cNvPr id="0" name=""/>
        <dsp:cNvSpPr/>
      </dsp:nvSpPr>
      <dsp:spPr>
        <a:xfrm>
          <a:off x="0" y="505497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b="0" kern="1200" dirty="0">
              <a:latin typeface="Segoe UI" panose="020B0502040204020203" pitchFamily="34" charset="0"/>
              <a:cs typeface="Segoe UI" panose="020B0502040204020203" pitchFamily="34" charset="0"/>
            </a:rPr>
            <a:t>Tehnologii</a:t>
          </a:r>
          <a:endParaRPr lang="en-US" sz="30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505497"/>
        <a:ext cx="6900512" cy="502794"/>
      </dsp:txXfrm>
    </dsp:sp>
    <dsp:sp modelId="{29966794-10E0-4AA1-80B2-81E9C8B802AA}">
      <dsp:nvSpPr>
        <dsp:cNvPr id="0" name=""/>
        <dsp:cNvSpPr/>
      </dsp:nvSpPr>
      <dsp:spPr>
        <a:xfrm>
          <a:off x="0" y="1008291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8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8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7AA83C-E7E0-416C-973A-C9B90077CEC1}">
      <dsp:nvSpPr>
        <dsp:cNvPr id="0" name=""/>
        <dsp:cNvSpPr/>
      </dsp:nvSpPr>
      <dsp:spPr>
        <a:xfrm>
          <a:off x="0" y="1008291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>
              <a:latin typeface="Segoe UI" panose="020B0502040204020203" pitchFamily="34" charset="0"/>
              <a:cs typeface="Segoe UI" panose="020B0502040204020203" pitchFamily="34" charset="0"/>
            </a:rPr>
            <a:t>A</a:t>
          </a:r>
          <a:r>
            <a:rPr lang="ro-RO" sz="3000" b="0" kern="1200" dirty="0">
              <a:latin typeface="Segoe UI" panose="020B0502040204020203" pitchFamily="34" charset="0"/>
              <a:cs typeface="Segoe UI" panose="020B0502040204020203" pitchFamily="34" charset="0"/>
            </a:rPr>
            <a:t>r</a:t>
          </a:r>
          <a:r>
            <a:rPr lang="en-US" sz="3000" b="0" kern="1200" dirty="0" err="1">
              <a:latin typeface="Segoe UI" panose="020B0502040204020203" pitchFamily="34" charset="0"/>
              <a:cs typeface="Segoe UI" panose="020B0502040204020203" pitchFamily="34" charset="0"/>
            </a:rPr>
            <a:t>hitectur</a:t>
          </a:r>
          <a:r>
            <a:rPr lang="ro-RO" sz="3000" b="0" kern="1200" dirty="0">
              <a:latin typeface="Segoe UI" panose="020B0502040204020203" pitchFamily="34" charset="0"/>
              <a:cs typeface="Segoe UI" panose="020B0502040204020203" pitchFamily="34" charset="0"/>
            </a:rPr>
            <a:t>ă</a:t>
          </a:r>
          <a:endParaRPr lang="en-US" sz="30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1008291"/>
        <a:ext cx="6900512" cy="502794"/>
      </dsp:txXfrm>
    </dsp:sp>
    <dsp:sp modelId="{80D8D5A4-B595-4A87-BFC5-B13A15CF4E83}">
      <dsp:nvSpPr>
        <dsp:cNvPr id="0" name=""/>
        <dsp:cNvSpPr/>
      </dsp:nvSpPr>
      <dsp:spPr>
        <a:xfrm>
          <a:off x="0" y="1511085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12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2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E0E29-8346-490A-AA7C-3E960918E73B}">
      <dsp:nvSpPr>
        <dsp:cNvPr id="0" name=""/>
        <dsp:cNvSpPr/>
      </dsp:nvSpPr>
      <dsp:spPr>
        <a:xfrm>
          <a:off x="0" y="1511085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>
              <a:latin typeface="Segoe UI" panose="020B0502040204020203" pitchFamily="34" charset="0"/>
              <a:cs typeface="Segoe UI" panose="020B0502040204020203" pitchFamily="34" charset="0"/>
            </a:rPr>
            <a:t>Schnorr</a:t>
          </a:r>
        </a:p>
      </dsp:txBody>
      <dsp:txXfrm>
        <a:off x="0" y="1511085"/>
        <a:ext cx="6900512" cy="502794"/>
      </dsp:txXfrm>
    </dsp:sp>
    <dsp:sp modelId="{2D278BD5-264D-44A7-9058-97C2848A1A4E}">
      <dsp:nvSpPr>
        <dsp:cNvPr id="0" name=""/>
        <dsp:cNvSpPr/>
      </dsp:nvSpPr>
      <dsp:spPr>
        <a:xfrm>
          <a:off x="0" y="2013879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16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16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43AEC-AE41-45C3-9DCD-7D23CFFA63EC}">
      <dsp:nvSpPr>
        <dsp:cNvPr id="0" name=""/>
        <dsp:cNvSpPr/>
      </dsp:nvSpPr>
      <dsp:spPr>
        <a:xfrm>
          <a:off x="0" y="2013879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Inregistrarea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&amp; </a:t>
          </a: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Autentificare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	</a:t>
          </a:r>
        </a:p>
      </dsp:txBody>
      <dsp:txXfrm>
        <a:off x="0" y="2013879"/>
        <a:ext cx="6900512" cy="502794"/>
      </dsp:txXfrm>
    </dsp:sp>
    <dsp:sp modelId="{03D85220-6B72-40D1-9AE1-E6DE691DCF53}">
      <dsp:nvSpPr>
        <dsp:cNvPr id="0" name=""/>
        <dsp:cNvSpPr/>
      </dsp:nvSpPr>
      <dsp:spPr>
        <a:xfrm>
          <a:off x="0" y="2516673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42244-56A0-444D-9090-5D72D345B73D}">
      <dsp:nvSpPr>
        <dsp:cNvPr id="0" name=""/>
        <dsp:cNvSpPr/>
      </dsp:nvSpPr>
      <dsp:spPr>
        <a:xfrm>
          <a:off x="0" y="2516673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Proprietati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de Securitate</a:t>
          </a:r>
        </a:p>
      </dsp:txBody>
      <dsp:txXfrm>
        <a:off x="0" y="2516673"/>
        <a:ext cx="6900512" cy="502794"/>
      </dsp:txXfrm>
    </dsp:sp>
    <dsp:sp modelId="{312C5543-FB1D-4BA3-BFDC-D97216303EB2}">
      <dsp:nvSpPr>
        <dsp:cNvPr id="0" name=""/>
        <dsp:cNvSpPr/>
      </dsp:nvSpPr>
      <dsp:spPr>
        <a:xfrm>
          <a:off x="0" y="3019467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4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4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60068-CD76-4C56-9900-C56998D89469}">
      <dsp:nvSpPr>
        <dsp:cNvPr id="0" name=""/>
        <dsp:cNvSpPr/>
      </dsp:nvSpPr>
      <dsp:spPr>
        <a:xfrm>
          <a:off x="0" y="3019467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Validare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si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rezultate</a:t>
          </a:r>
          <a:endParaRPr lang="en-US" sz="3000" b="0" kern="1200" dirty="0">
            <a:latin typeface="Segoe UI" panose="020B0502040204020203" pitchFamily="34" charset="0"/>
            <a:ea typeface="Germano" panose="020B0306030504020204" pitchFamily="34" charset="0"/>
            <a:cs typeface="Segoe UI" panose="020B0502040204020203" pitchFamily="34" charset="0"/>
          </a:endParaRPr>
        </a:p>
      </dsp:txBody>
      <dsp:txXfrm>
        <a:off x="0" y="3019467"/>
        <a:ext cx="6900512" cy="502794"/>
      </dsp:txXfrm>
    </dsp:sp>
    <dsp:sp modelId="{E23CAE4E-217A-4E65-BE49-BD09F611744B}">
      <dsp:nvSpPr>
        <dsp:cNvPr id="0" name=""/>
        <dsp:cNvSpPr/>
      </dsp:nvSpPr>
      <dsp:spPr>
        <a:xfrm>
          <a:off x="0" y="3522261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28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8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9C954-FC2E-489F-A370-BB72E4735FEC}">
      <dsp:nvSpPr>
        <dsp:cNvPr id="0" name=""/>
        <dsp:cNvSpPr/>
      </dsp:nvSpPr>
      <dsp:spPr>
        <a:xfrm>
          <a:off x="0" y="3522261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Evaluarea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</a:t>
          </a: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perfomantei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(</a:t>
          </a: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comparatii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)</a:t>
          </a:r>
        </a:p>
      </dsp:txBody>
      <dsp:txXfrm>
        <a:off x="0" y="3522261"/>
        <a:ext cx="6900512" cy="502794"/>
      </dsp:txXfrm>
    </dsp:sp>
    <dsp:sp modelId="{3F343F96-43EA-40FC-B2BA-B69B4EF995B9}">
      <dsp:nvSpPr>
        <dsp:cNvPr id="0" name=""/>
        <dsp:cNvSpPr/>
      </dsp:nvSpPr>
      <dsp:spPr>
        <a:xfrm>
          <a:off x="0" y="4025055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32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2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55E10-C902-4759-9013-797BE9EBBC55}">
      <dsp:nvSpPr>
        <dsp:cNvPr id="0" name=""/>
        <dsp:cNvSpPr/>
      </dsp:nvSpPr>
      <dsp:spPr>
        <a:xfrm>
          <a:off x="0" y="4025055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Directii</a:t>
          </a:r>
          <a:r>
            <a:rPr lang="en-US" sz="3000" b="0" kern="12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 de </a:t>
          </a:r>
          <a:r>
            <a:rPr lang="en-US" sz="3000" b="0" kern="1200" dirty="0" err="1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rPr>
            <a:t>dezvoltare</a:t>
          </a:r>
          <a:endParaRPr lang="en-US" sz="3000" b="0" kern="1200" dirty="0">
            <a:latin typeface="Segoe UI" panose="020B0502040204020203" pitchFamily="34" charset="0"/>
            <a:ea typeface="Germano" panose="020B0306030504020204" pitchFamily="34" charset="0"/>
            <a:cs typeface="Segoe UI" panose="020B0502040204020203" pitchFamily="34" charset="0"/>
          </a:endParaRPr>
        </a:p>
      </dsp:txBody>
      <dsp:txXfrm>
        <a:off x="0" y="4025055"/>
        <a:ext cx="6900512" cy="502794"/>
      </dsp:txXfrm>
    </dsp:sp>
    <dsp:sp modelId="{7AB99CC0-51C0-4483-85AC-3059D5EF841C}">
      <dsp:nvSpPr>
        <dsp:cNvPr id="0" name=""/>
        <dsp:cNvSpPr/>
      </dsp:nvSpPr>
      <dsp:spPr>
        <a:xfrm>
          <a:off x="0" y="4527849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36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36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06898-844E-41ED-A58A-D2AA898F0110}">
      <dsp:nvSpPr>
        <dsp:cNvPr id="0" name=""/>
        <dsp:cNvSpPr/>
      </dsp:nvSpPr>
      <dsp:spPr>
        <a:xfrm>
          <a:off x="0" y="4527849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kern="1200" dirty="0" err="1">
              <a:latin typeface="Segoe UI" panose="020B0502040204020203" pitchFamily="34" charset="0"/>
              <a:cs typeface="Segoe UI" panose="020B0502040204020203" pitchFamily="34" charset="0"/>
            </a:rPr>
            <a:t>Concluzii</a:t>
          </a:r>
          <a:endParaRPr lang="en-US" sz="30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4527849"/>
        <a:ext cx="6900512" cy="502794"/>
      </dsp:txXfrm>
    </dsp:sp>
    <dsp:sp modelId="{9DAEC4B7-B31B-4213-A64B-E8D32906A0A1}">
      <dsp:nvSpPr>
        <dsp:cNvPr id="0" name=""/>
        <dsp:cNvSpPr/>
      </dsp:nvSpPr>
      <dsp:spPr>
        <a:xfrm>
          <a:off x="0" y="5030643"/>
          <a:ext cx="6900512" cy="0"/>
        </a:xfrm>
        <a:prstGeom prst="lin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4EEAF-965B-43EB-9AB6-10A7DD397D93}">
      <dsp:nvSpPr>
        <dsp:cNvPr id="0" name=""/>
        <dsp:cNvSpPr/>
      </dsp:nvSpPr>
      <dsp:spPr>
        <a:xfrm>
          <a:off x="0" y="5030643"/>
          <a:ext cx="6900512" cy="502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000" b="0" kern="1200" dirty="0">
              <a:latin typeface="Segoe UI" panose="020B0502040204020203" pitchFamily="34" charset="0"/>
              <a:cs typeface="Segoe UI" panose="020B0502040204020203" pitchFamily="34" charset="0"/>
            </a:rPr>
            <a:t>Bibliografie</a:t>
          </a:r>
          <a:endParaRPr lang="en-US" sz="3000" b="0" kern="1200" dirty="0">
            <a:latin typeface="Segoe UI" panose="020B0502040204020203" pitchFamily="34" charset="0"/>
            <a:cs typeface="Segoe UI" panose="020B0502040204020203" pitchFamily="34" charset="0"/>
          </a:endParaRPr>
        </a:p>
      </dsp:txBody>
      <dsp:txXfrm>
        <a:off x="0" y="5030643"/>
        <a:ext cx="6900512" cy="502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6/19/2026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53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 de </a:t>
            </a:r>
            <a:r>
              <a:rPr lang="en-US" dirty="0" err="1"/>
              <a:t>astazi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data de </a:t>
            </a:r>
            <a:r>
              <a:rPr lang="en-US" dirty="0" err="1"/>
              <a:t>nevoia</a:t>
            </a:r>
            <a:r>
              <a:rPr lang="en-US" dirty="0"/>
              <a:t> de </a:t>
            </a:r>
            <a:r>
              <a:rPr lang="en-US" dirty="0" err="1"/>
              <a:t>informatie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unei</a:t>
            </a:r>
            <a:r>
              <a:rPr lang="en-US" dirty="0"/>
              <a:t> </a:t>
            </a:r>
            <a:r>
              <a:rPr lang="en-US" dirty="0" err="1"/>
              <a:t>interactiuni</a:t>
            </a:r>
            <a:r>
              <a:rPr lang="en-US" dirty="0"/>
              <a:t> cu o </a:t>
            </a:r>
            <a:r>
              <a:rPr lang="en-US" dirty="0" err="1"/>
              <a:t>tranzactie</a:t>
            </a:r>
            <a:r>
              <a:rPr lang="en-US" dirty="0"/>
              <a:t> auto....</a:t>
            </a:r>
          </a:p>
          <a:p>
            <a:r>
              <a:rPr lang="en-US" dirty="0"/>
              <a:t>Definitie blockchain, la </a:t>
            </a:r>
            <a:r>
              <a:rPr lang="en-US" dirty="0" err="1"/>
              <a:t>ce</a:t>
            </a:r>
            <a:r>
              <a:rPr lang="en-US" dirty="0"/>
              <a:t> e </a:t>
            </a:r>
            <a:r>
              <a:rPr lang="en-US" dirty="0" err="1"/>
              <a:t>folosit</a:t>
            </a:r>
            <a:r>
              <a:rPr lang="en-US" dirty="0"/>
              <a:t>, </a:t>
            </a:r>
            <a:r>
              <a:rPr lang="en-US" dirty="0" err="1"/>
              <a:t>domenii</a:t>
            </a:r>
            <a:r>
              <a:rPr lang="en-US" dirty="0"/>
              <a:t>, </a:t>
            </a:r>
            <a:r>
              <a:rPr lang="en-US" dirty="0" err="1"/>
              <a:t>contracte</a:t>
            </a:r>
            <a:r>
              <a:rPr lang="en-US" dirty="0"/>
              <a:t> </a:t>
            </a:r>
            <a:r>
              <a:rPr lang="en-US" dirty="0" err="1"/>
              <a:t>inteligente</a:t>
            </a:r>
            <a:r>
              <a:rPr lang="en-US" dirty="0"/>
              <a:t>  pe </a:t>
            </a:r>
            <a:r>
              <a:rPr lang="en-US" dirty="0" err="1"/>
              <a:t>retea</a:t>
            </a:r>
            <a:r>
              <a:rPr lang="en-US" dirty="0"/>
              <a:t> </a:t>
            </a:r>
            <a:r>
              <a:rPr lang="en-US" dirty="0" err="1"/>
              <a:t>evm</a:t>
            </a:r>
            <a:r>
              <a:rPr lang="en-US" dirty="0"/>
              <a:t> -&gt; </a:t>
            </a:r>
            <a:r>
              <a:rPr lang="en-US" dirty="0" err="1"/>
              <a:t>metoda</a:t>
            </a:r>
            <a:r>
              <a:rPr lang="en-US" dirty="0"/>
              <a:t> de </a:t>
            </a:r>
            <a:r>
              <a:rPr lang="en-US" dirty="0" err="1"/>
              <a:t>stocare</a:t>
            </a:r>
            <a:r>
              <a:rPr lang="en-US" dirty="0"/>
              <a:t>, </a:t>
            </a:r>
            <a:r>
              <a:rPr lang="en-US" dirty="0" err="1"/>
              <a:t>folosita</a:t>
            </a:r>
            <a:r>
              <a:rPr lang="en-US" dirty="0"/>
              <a:t> </a:t>
            </a:r>
            <a:r>
              <a:rPr lang="en-US" dirty="0" err="1"/>
              <a:t>si</a:t>
            </a:r>
            <a:r>
              <a:rPr lang="en-US" dirty="0"/>
              <a:t> in </a:t>
            </a:r>
            <a:r>
              <a:rPr lang="en-US" dirty="0" err="1"/>
              <a:t>cazul</a:t>
            </a:r>
            <a:r>
              <a:rPr lang="en-US" dirty="0"/>
              <a:t> </a:t>
            </a:r>
            <a:r>
              <a:rPr lang="en-US" dirty="0" err="1"/>
              <a:t>lanturilor</a:t>
            </a:r>
            <a:r>
              <a:rPr lang="en-US" dirty="0"/>
              <a:t> de </a:t>
            </a:r>
            <a:r>
              <a:rPr lang="en-US" dirty="0" err="1"/>
              <a:t>aprovizionare</a:t>
            </a:r>
            <a:endParaRPr lang="en-US" dirty="0"/>
          </a:p>
          <a:p>
            <a:r>
              <a:rPr lang="en-US" dirty="0" err="1"/>
              <a:t>Inteligenta</a:t>
            </a:r>
            <a:r>
              <a:rPr lang="en-US" dirty="0"/>
              <a:t> </a:t>
            </a:r>
            <a:r>
              <a:rPr lang="en-US" dirty="0" err="1"/>
              <a:t>artificala</a:t>
            </a:r>
            <a:r>
              <a:rPr lang="en-US" dirty="0"/>
              <a:t> </a:t>
            </a:r>
            <a:r>
              <a:rPr lang="en-US" dirty="0" err="1"/>
              <a:t>este</a:t>
            </a:r>
            <a:r>
              <a:rPr lang="en-US" dirty="0"/>
              <a:t> de o </a:t>
            </a:r>
            <a:r>
              <a:rPr lang="en-US" dirty="0" err="1"/>
              <a:t>perioada</a:t>
            </a:r>
            <a:r>
              <a:rPr lang="en-US" dirty="0"/>
              <a:t> buna de </a:t>
            </a:r>
            <a:r>
              <a:rPr lang="en-US" dirty="0" err="1"/>
              <a:t>timp</a:t>
            </a:r>
            <a:r>
              <a:rPr lang="en-US" dirty="0"/>
              <a:t> </a:t>
            </a:r>
            <a:r>
              <a:rPr lang="en-US" dirty="0" err="1"/>
              <a:t>prin</a:t>
            </a:r>
            <a:r>
              <a:rPr lang="en-US" dirty="0"/>
              <a:t> </a:t>
            </a:r>
            <a:r>
              <a:rPr lang="en-US" dirty="0" err="1"/>
              <a:t>preajma</a:t>
            </a:r>
            <a:r>
              <a:rPr lang="en-US" dirty="0"/>
              <a:t>,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incearca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invete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ofere</a:t>
            </a:r>
            <a:r>
              <a:rPr lang="en-US" dirty="0"/>
              <a:t> </a:t>
            </a:r>
            <a:r>
              <a:rPr lang="en-US" dirty="0" err="1"/>
              <a:t>raspunsuri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umane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dirty="0" err="1"/>
              <a:t>seturi</a:t>
            </a:r>
            <a:r>
              <a:rPr lang="en-US" dirty="0"/>
              <a:t> de date. Ai a </a:t>
            </a:r>
            <a:r>
              <a:rPr lang="en-US" dirty="0" err="1"/>
              <a:t>ajuns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aiba</a:t>
            </a:r>
            <a:r>
              <a:rPr lang="en-US" dirty="0"/>
              <a:t> diverse </a:t>
            </a:r>
            <a:r>
              <a:rPr lang="en-US" dirty="0" err="1"/>
              <a:t>aplicatii</a:t>
            </a:r>
            <a:r>
              <a:rPr lang="en-US" dirty="0"/>
              <a:t> precum </a:t>
            </a:r>
            <a:r>
              <a:rPr lang="en-US" dirty="0" err="1"/>
              <a:t>diagnosticele</a:t>
            </a:r>
            <a:r>
              <a:rPr lang="en-US" dirty="0"/>
              <a:t> </a:t>
            </a:r>
            <a:r>
              <a:rPr lang="en-US" dirty="0" err="1"/>
              <a:t>medicale</a:t>
            </a:r>
            <a:r>
              <a:rPr lang="en-US" dirty="0"/>
              <a:t>, </a:t>
            </a:r>
            <a:r>
              <a:rPr lang="en-US" dirty="0" err="1"/>
              <a:t>asistenti</a:t>
            </a:r>
            <a:r>
              <a:rPr lang="en-US" dirty="0"/>
              <a:t> </a:t>
            </a:r>
            <a:r>
              <a:rPr lang="en-US" dirty="0" err="1"/>
              <a:t>virtuali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navigare</a:t>
            </a:r>
            <a:r>
              <a:rPr lang="en-US" dirty="0"/>
              <a:t> </a:t>
            </a:r>
            <a:r>
              <a:rPr lang="en-US" dirty="0" err="1"/>
              <a:t>virtuala</a:t>
            </a:r>
            <a:r>
              <a:rPr lang="en-US" dirty="0"/>
              <a:t>, in </a:t>
            </a:r>
            <a:r>
              <a:rPr lang="en-US" dirty="0" err="1"/>
              <a:t>cazul</a:t>
            </a:r>
            <a:r>
              <a:rPr lang="en-US" dirty="0"/>
              <a:t> de fata, am </a:t>
            </a:r>
            <a:r>
              <a:rPr lang="en-US" dirty="0" err="1"/>
              <a:t>incercat</a:t>
            </a:r>
            <a:r>
              <a:rPr lang="en-US" dirty="0"/>
              <a:t> </a:t>
            </a:r>
            <a:r>
              <a:rPr lang="en-US" dirty="0" err="1"/>
              <a:t>folosirea</a:t>
            </a:r>
            <a:r>
              <a:rPr lang="en-US" dirty="0"/>
              <a:t> </a:t>
            </a:r>
            <a:r>
              <a:rPr lang="en-US" dirty="0" err="1"/>
              <a:t>retelelor</a:t>
            </a:r>
            <a:r>
              <a:rPr lang="en-US" dirty="0"/>
              <a:t> </a:t>
            </a:r>
            <a:r>
              <a:rPr lang="en-US" dirty="0" err="1"/>
              <a:t>neuronale</a:t>
            </a:r>
            <a:r>
              <a:rPr lang="en-US" dirty="0"/>
              <a:t> in </a:t>
            </a:r>
            <a:r>
              <a:rPr lang="en-US" dirty="0" err="1"/>
              <a:t>clasificiarea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seturi</a:t>
            </a:r>
            <a:r>
              <a:rPr lang="en-US" dirty="0"/>
              <a:t> de date.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76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Angular – client side application</a:t>
            </a:r>
          </a:p>
          <a:p>
            <a:r>
              <a:rPr lang="en-US" dirty="0"/>
              <a:t>Python:</a:t>
            </a:r>
          </a:p>
          <a:p>
            <a:r>
              <a:rPr lang="en-US" dirty="0" err="1"/>
              <a:t>Solidty</a:t>
            </a:r>
            <a:r>
              <a:rPr lang="en-US" dirty="0"/>
              <a:t>: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Inspirat</a:t>
            </a:r>
            <a:r>
              <a:rPr lang="en-US" dirty="0"/>
              <a:t> din C/C++, Python, Java. </a:t>
            </a:r>
            <a:r>
              <a:rPr lang="en-US" dirty="0" err="1"/>
              <a:t>Acesta</a:t>
            </a:r>
            <a:r>
              <a:rPr lang="en-US" dirty="0"/>
              <a:t> are </a:t>
            </a:r>
            <a:r>
              <a:rPr lang="en-US" dirty="0" err="1"/>
              <a:t>Tipuri</a:t>
            </a:r>
            <a:r>
              <a:rPr lang="en-US" dirty="0"/>
              <a:t> de date definite de </a:t>
            </a:r>
            <a:r>
              <a:rPr lang="en-US" dirty="0" err="1"/>
              <a:t>utilizator</a:t>
            </a:r>
            <a:r>
              <a:rPr lang="en-US" dirty="0"/>
              <a:t> ( struct, </a:t>
            </a:r>
            <a:r>
              <a:rPr lang="en-US" dirty="0" err="1"/>
              <a:t>enum</a:t>
            </a:r>
            <a:r>
              <a:rPr lang="en-US" dirty="0"/>
              <a:t>, contract) </a:t>
            </a:r>
            <a:r>
              <a:rPr lang="en-US" dirty="0" err="1"/>
              <a:t>si</a:t>
            </a:r>
            <a:r>
              <a:rPr lang="en-US" dirty="0"/>
              <a:t> </a:t>
            </a:r>
            <a:r>
              <a:rPr lang="en-US" dirty="0" err="1"/>
              <a:t>structuri</a:t>
            </a:r>
            <a:r>
              <a:rPr lang="en-US" dirty="0"/>
              <a:t> de control, </a:t>
            </a:r>
            <a:r>
              <a:rPr lang="en-US" dirty="0" err="1"/>
              <a:t>etc</a:t>
            </a:r>
            <a:r>
              <a:rPr lang="en-US" dirty="0"/>
              <a:t> </a:t>
            </a:r>
            <a:r>
              <a:rPr lang="en-US" dirty="0" err="1"/>
              <a:t>asemanator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limbaj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orientat</a:t>
            </a:r>
            <a:r>
              <a:rPr lang="en-US" dirty="0"/>
              <a:t> pe </a:t>
            </a:r>
            <a:r>
              <a:rPr lang="en-US" dirty="0" err="1"/>
              <a:t>obiect</a:t>
            </a:r>
            <a:r>
              <a:rPr lang="en-US" dirty="0"/>
              <a:t>.</a:t>
            </a:r>
          </a:p>
          <a:p>
            <a:r>
              <a:rPr lang="en-US" dirty="0">
                <a:ea typeface="Calibri"/>
                <a:cs typeface="Calibri"/>
              </a:rPr>
              <a:t>Ganache – blockchain </a:t>
            </a:r>
            <a:r>
              <a:rPr lang="en-US" dirty="0" err="1">
                <a:ea typeface="Calibri"/>
                <a:cs typeface="Calibri"/>
              </a:rPr>
              <a:t>simulat</a:t>
            </a:r>
            <a:r>
              <a:rPr lang="en-US" dirty="0">
                <a:ea typeface="Calibri"/>
                <a:cs typeface="Calibri"/>
              </a:rPr>
              <a:t> cu un </a:t>
            </a:r>
            <a:r>
              <a:rPr lang="en-US" dirty="0" err="1">
                <a:ea typeface="Calibri"/>
                <a:cs typeface="Calibri"/>
              </a:rPr>
              <a:t>singur</a:t>
            </a:r>
            <a:r>
              <a:rPr lang="en-US" dirty="0">
                <a:ea typeface="Calibri"/>
                <a:cs typeface="Calibri"/>
              </a:rPr>
              <a:t> nod, </a:t>
            </a:r>
            <a:r>
              <a:rPr lang="en-US" dirty="0" err="1">
                <a:ea typeface="Calibri"/>
                <a:cs typeface="Calibri"/>
              </a:rPr>
              <a:t>ofera</a:t>
            </a:r>
            <a:r>
              <a:rPr lang="en-US" dirty="0">
                <a:ea typeface="Calibri"/>
                <a:cs typeface="Calibri"/>
              </a:rPr>
              <a:t> 10 </a:t>
            </a:r>
            <a:r>
              <a:rPr lang="en-US" dirty="0" err="1">
                <a:ea typeface="Calibri"/>
                <a:cs typeface="Calibri"/>
              </a:rPr>
              <a:t>conturi</a:t>
            </a:r>
            <a:r>
              <a:rPr lang="en-US" dirty="0">
                <a:ea typeface="Calibri"/>
                <a:cs typeface="Calibri"/>
              </a:rPr>
              <a:t> pe default cu un sold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252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Intrega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arhitectura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aplicatiei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bazeaza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una</a:t>
            </a:r>
            <a:r>
              <a:rPr lang="en-US" dirty="0">
                <a:ea typeface="Calibri"/>
                <a:cs typeface="Calibri"/>
              </a:rPr>
              <a:t> de tip 3 tier: </a:t>
            </a:r>
            <a:r>
              <a:rPr lang="en-US" dirty="0" err="1">
                <a:ea typeface="Calibri"/>
                <a:cs typeface="Calibri"/>
              </a:rPr>
              <a:t>mai</a:t>
            </a:r>
            <a:r>
              <a:rPr lang="en-US" dirty="0">
                <a:ea typeface="Calibri"/>
                <a:cs typeface="Calibri"/>
              </a:rPr>
              <a:t> exact </a:t>
            </a:r>
            <a:r>
              <a:rPr lang="en-US" dirty="0" err="1">
                <a:ea typeface="Calibri"/>
                <a:cs typeface="Calibri"/>
              </a:rPr>
              <a:t>layere</a:t>
            </a:r>
            <a:r>
              <a:rPr lang="en-US" dirty="0">
                <a:ea typeface="Calibri"/>
                <a:cs typeface="Calibri"/>
              </a:rPr>
              <a:t> de presentation , application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data</a:t>
            </a:r>
          </a:p>
          <a:p>
            <a:r>
              <a:rPr lang="en-US" dirty="0" err="1">
                <a:ea typeface="Calibri"/>
                <a:cs typeface="Calibri"/>
              </a:rPr>
              <a:t>Nivelul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prezentare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reprezentat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totalitate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serverul</a:t>
            </a:r>
            <a:r>
              <a:rPr lang="en-US" dirty="0">
                <a:ea typeface="Calibri"/>
                <a:cs typeface="Calibri"/>
              </a:rPr>
              <a:t> de angular care are </a:t>
            </a:r>
            <a:r>
              <a:rPr lang="en-US" dirty="0" err="1">
                <a:ea typeface="Calibri"/>
                <a:cs typeface="Calibri"/>
              </a:rPr>
              <a:t>grija</a:t>
            </a:r>
            <a:r>
              <a:rPr lang="en-US" dirty="0">
                <a:ea typeface="Calibri"/>
                <a:cs typeface="Calibri"/>
              </a:rPr>
              <a:t> de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cererile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modificare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datelor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vizualizeze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aceste</a:t>
            </a:r>
            <a:r>
              <a:rPr lang="en-US" dirty="0">
                <a:ea typeface="Calibri"/>
                <a:cs typeface="Calibri"/>
              </a:rPr>
              <a:t> date. </a:t>
            </a:r>
            <a:r>
              <a:rPr lang="en-US" dirty="0" err="1">
                <a:ea typeface="Calibri"/>
                <a:cs typeface="Calibri"/>
              </a:rPr>
              <a:t>Deoarece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utilizatorii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autentificati</a:t>
            </a:r>
            <a:r>
              <a:rPr lang="en-US" dirty="0">
                <a:ea typeface="Calibri"/>
                <a:cs typeface="Calibri"/>
              </a:rPr>
              <a:t> pot </a:t>
            </a:r>
            <a:r>
              <a:rPr lang="en-US" dirty="0" err="1">
                <a:ea typeface="Calibri"/>
                <a:cs typeface="Calibri"/>
              </a:rPr>
              <a:t>dispune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diferite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nevoie</a:t>
            </a:r>
            <a:r>
              <a:rPr lang="en-US" dirty="0">
                <a:ea typeface="Calibri"/>
                <a:cs typeface="Calibri"/>
              </a:rPr>
              <a:t> ca </a:t>
            </a:r>
            <a:r>
              <a:rPr lang="en-US" dirty="0" err="1">
                <a:ea typeface="Calibri"/>
                <a:cs typeface="Calibri"/>
              </a:rPr>
              <a:t>interfata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grafica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accesibila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orice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</a:t>
            </a:r>
            <a:r>
              <a:rPr lang="en-US" dirty="0">
                <a:ea typeface="Calibri"/>
                <a:cs typeface="Calibri"/>
              </a:rPr>
              <a:t>, de </a:t>
            </a:r>
            <a:r>
              <a:rPr lang="en-US" dirty="0" err="1">
                <a:ea typeface="Calibri"/>
                <a:cs typeface="Calibri"/>
              </a:rPr>
              <a:t>aceea</a:t>
            </a:r>
            <a:r>
              <a:rPr lang="en-US" dirty="0">
                <a:ea typeface="Calibri"/>
                <a:cs typeface="Calibri"/>
              </a:rPr>
              <a:t> s-a </a:t>
            </a:r>
            <a:r>
              <a:rPr lang="en-US" dirty="0" err="1">
                <a:ea typeface="Calibri"/>
                <a:cs typeface="Calibri"/>
              </a:rPr>
              <a:t>implementat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cateva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caracteristicii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responsivness</a:t>
            </a:r>
            <a:endParaRPr lang="en-US" dirty="0" err="1"/>
          </a:p>
          <a:p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applicatie</a:t>
            </a:r>
            <a:r>
              <a:rPr lang="en-US" dirty="0"/>
              <a:t>, 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 de backend </a:t>
            </a:r>
            <a:r>
              <a:rPr lang="en-US" dirty="0" err="1"/>
              <a:t>este</a:t>
            </a:r>
            <a:r>
              <a:rPr lang="en-US" dirty="0"/>
              <a:t> </a:t>
            </a:r>
            <a:r>
              <a:rPr lang="en-US" dirty="0" err="1"/>
              <a:t>conturat</a:t>
            </a:r>
            <a:r>
              <a:rPr lang="en-US" dirty="0"/>
              <a:t> de framework-</a:t>
            </a:r>
            <a:r>
              <a:rPr lang="en-US" dirty="0" err="1"/>
              <a:t>ul</a:t>
            </a:r>
            <a:r>
              <a:rPr lang="en-US" dirty="0"/>
              <a:t> flask, care </a:t>
            </a:r>
            <a:r>
              <a:rPr lang="en-US" dirty="0" err="1"/>
              <a:t>defineste</a:t>
            </a:r>
            <a:r>
              <a:rPr lang="en-US" dirty="0"/>
              <a:t> 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  </a:t>
            </a:r>
            <a:r>
              <a:rPr lang="en-US" dirty="0" err="1"/>
              <a:t>stratul</a:t>
            </a:r>
            <a:r>
              <a:rPr lang="en-US" dirty="0"/>
              <a:t> de </a:t>
            </a:r>
            <a:r>
              <a:rPr lang="en-US" dirty="0" err="1"/>
              <a:t>prezentare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aplicatie</a:t>
            </a:r>
            <a:r>
              <a:rPr lang="en-US" dirty="0"/>
              <a:t>, </a:t>
            </a:r>
            <a:r>
              <a:rPr lang="en-US" dirty="0" err="1"/>
              <a:t>punand</a:t>
            </a:r>
            <a:r>
              <a:rPr lang="en-US" dirty="0"/>
              <a:t> la </a:t>
            </a:r>
            <a:r>
              <a:rPr lang="en-US" dirty="0" err="1"/>
              <a:t>dispozitie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endpoint-</a:t>
            </a:r>
            <a:r>
              <a:rPr lang="en-US" dirty="0" err="1"/>
              <a:t>urilor</a:t>
            </a:r>
            <a:r>
              <a:rPr lang="en-US" dirty="0"/>
              <a:t>. Prin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endpoints, 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colaboram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librarii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obtine</a:t>
            </a:r>
            <a:r>
              <a:rPr lang="en-US" dirty="0"/>
              <a:t> </a:t>
            </a:r>
            <a:r>
              <a:rPr lang="en-US" dirty="0" err="1"/>
              <a:t>rezultate</a:t>
            </a:r>
            <a:r>
              <a:rPr lang="en-US" dirty="0"/>
              <a:t> precum, </a:t>
            </a:r>
            <a:r>
              <a:rPr lang="en-US" dirty="0" err="1"/>
              <a:t>identificare</a:t>
            </a:r>
            <a:r>
              <a:rPr lang="en-US" dirty="0"/>
              <a:t>/</a:t>
            </a:r>
            <a:r>
              <a:rPr lang="en-US" dirty="0" err="1"/>
              <a:t>autorizare</a:t>
            </a:r>
            <a:r>
              <a:rPr lang="en-US" dirty="0"/>
              <a:t>/</a:t>
            </a:r>
            <a:r>
              <a:rPr lang="en-US" dirty="0" err="1"/>
              <a:t>manangement</a:t>
            </a:r>
            <a:r>
              <a:rPr lang="en-US" dirty="0"/>
              <a:t> a </a:t>
            </a:r>
            <a:r>
              <a:rPr lang="en-US" dirty="0" err="1"/>
              <a:t>userilor</a:t>
            </a:r>
            <a:r>
              <a:rPr lang="en-US" dirty="0"/>
              <a:t>, </a:t>
            </a:r>
            <a:r>
              <a:rPr lang="en-US" dirty="0" err="1"/>
              <a:t>preluare</a:t>
            </a:r>
            <a:r>
              <a:rPr lang="en-US" dirty="0"/>
              <a:t>/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date.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RPC, care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dispuse</a:t>
            </a:r>
            <a:r>
              <a:rPr lang="en-US" dirty="0"/>
              <a:t> de blockchain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0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8F3D8-05B0-9CD2-A719-245FB567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5BE0A-DBA6-108E-30DE-35EC35BAF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8E6FC-CDCA-2EA7-C9C1-FBB459E20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Intrega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arhitectura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aplicatiei</a:t>
            </a:r>
            <a:r>
              <a:rPr lang="en-US" dirty="0">
                <a:ea typeface="Calibri"/>
                <a:cs typeface="Calibri"/>
              </a:rPr>
              <a:t> se </a:t>
            </a:r>
            <a:r>
              <a:rPr lang="en-US" dirty="0" err="1">
                <a:ea typeface="Calibri"/>
                <a:cs typeface="Calibri"/>
              </a:rPr>
              <a:t>bazeaza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una</a:t>
            </a:r>
            <a:r>
              <a:rPr lang="en-US" dirty="0">
                <a:ea typeface="Calibri"/>
                <a:cs typeface="Calibri"/>
              </a:rPr>
              <a:t> de tip 3 tier: </a:t>
            </a:r>
            <a:r>
              <a:rPr lang="en-US" dirty="0" err="1">
                <a:ea typeface="Calibri"/>
                <a:cs typeface="Calibri"/>
              </a:rPr>
              <a:t>mai</a:t>
            </a:r>
            <a:r>
              <a:rPr lang="en-US" dirty="0">
                <a:ea typeface="Calibri"/>
                <a:cs typeface="Calibri"/>
              </a:rPr>
              <a:t> exact </a:t>
            </a:r>
            <a:r>
              <a:rPr lang="en-US" dirty="0" err="1">
                <a:ea typeface="Calibri"/>
                <a:cs typeface="Calibri"/>
              </a:rPr>
              <a:t>layere</a:t>
            </a:r>
            <a:r>
              <a:rPr lang="en-US" dirty="0">
                <a:ea typeface="Calibri"/>
                <a:cs typeface="Calibri"/>
              </a:rPr>
              <a:t> de presentation , application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data</a:t>
            </a:r>
          </a:p>
          <a:p>
            <a:r>
              <a:rPr lang="en-US" dirty="0" err="1">
                <a:ea typeface="Calibri"/>
                <a:cs typeface="Calibri"/>
              </a:rPr>
              <a:t>Nivelul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prezentare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reprezentat</a:t>
            </a:r>
            <a:r>
              <a:rPr lang="en-US" dirty="0">
                <a:ea typeface="Calibri"/>
                <a:cs typeface="Calibri"/>
              </a:rPr>
              <a:t> in </a:t>
            </a:r>
            <a:r>
              <a:rPr lang="en-US" dirty="0" err="1">
                <a:ea typeface="Calibri"/>
                <a:cs typeface="Calibri"/>
              </a:rPr>
              <a:t>totalitate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serverul</a:t>
            </a:r>
            <a:r>
              <a:rPr lang="en-US" dirty="0">
                <a:ea typeface="Calibri"/>
                <a:cs typeface="Calibri"/>
              </a:rPr>
              <a:t> de angular care are </a:t>
            </a:r>
            <a:r>
              <a:rPr lang="en-US" dirty="0" err="1">
                <a:ea typeface="Calibri"/>
                <a:cs typeface="Calibri"/>
              </a:rPr>
              <a:t>grija</a:t>
            </a:r>
            <a:r>
              <a:rPr lang="en-US" dirty="0">
                <a:ea typeface="Calibri"/>
                <a:cs typeface="Calibri"/>
              </a:rPr>
              <a:t> de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cererile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modificare</a:t>
            </a:r>
            <a:r>
              <a:rPr lang="en-US" dirty="0">
                <a:ea typeface="Calibri"/>
                <a:cs typeface="Calibri"/>
              </a:rPr>
              <a:t> a </a:t>
            </a:r>
            <a:r>
              <a:rPr lang="en-US" dirty="0" err="1">
                <a:ea typeface="Calibri"/>
                <a:cs typeface="Calibri"/>
              </a:rPr>
              <a:t>datelor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</a:t>
            </a:r>
            <a:r>
              <a:rPr lang="en-US" dirty="0">
                <a:ea typeface="Calibri"/>
                <a:cs typeface="Calibri"/>
              </a:rPr>
              <a:t> cine 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doar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vizualizeze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aceste</a:t>
            </a:r>
            <a:r>
              <a:rPr lang="en-US" dirty="0">
                <a:ea typeface="Calibri"/>
                <a:cs typeface="Calibri"/>
              </a:rPr>
              <a:t> date. </a:t>
            </a:r>
            <a:r>
              <a:rPr lang="en-US" dirty="0" err="1">
                <a:ea typeface="Calibri"/>
                <a:cs typeface="Calibri"/>
              </a:rPr>
              <a:t>Deoarece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utilizatorii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autentificati</a:t>
            </a:r>
            <a:r>
              <a:rPr lang="en-US" dirty="0">
                <a:ea typeface="Calibri"/>
                <a:cs typeface="Calibri"/>
              </a:rPr>
              <a:t> pot </a:t>
            </a:r>
            <a:r>
              <a:rPr lang="en-US" dirty="0" err="1">
                <a:ea typeface="Calibri"/>
                <a:cs typeface="Calibri"/>
              </a:rPr>
              <a:t>dispune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diferite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este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nevoie</a:t>
            </a:r>
            <a:r>
              <a:rPr lang="en-US" dirty="0">
                <a:ea typeface="Calibri"/>
                <a:cs typeface="Calibri"/>
              </a:rPr>
              <a:t> ca </a:t>
            </a:r>
            <a:r>
              <a:rPr lang="en-US" dirty="0" err="1">
                <a:ea typeface="Calibri"/>
                <a:cs typeface="Calibri"/>
              </a:rPr>
              <a:t>interfata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grafica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</a:t>
            </a:r>
            <a:r>
              <a:rPr lang="en-US" dirty="0">
                <a:ea typeface="Calibri"/>
                <a:cs typeface="Calibri"/>
              </a:rPr>
              <a:t> </a:t>
            </a:r>
            <a:r>
              <a:rPr lang="en-US" dirty="0" err="1">
                <a:ea typeface="Calibri"/>
                <a:cs typeface="Calibri"/>
              </a:rPr>
              <a:t>poate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fii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accesibila</a:t>
            </a:r>
            <a:r>
              <a:rPr lang="en-US" dirty="0">
                <a:ea typeface="Calibri"/>
                <a:cs typeface="Calibri"/>
              </a:rPr>
              <a:t> pe </a:t>
            </a:r>
            <a:r>
              <a:rPr lang="en-US" dirty="0" err="1">
                <a:ea typeface="Calibri"/>
                <a:cs typeface="Calibri"/>
              </a:rPr>
              <a:t>orice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dispozitiv</a:t>
            </a:r>
            <a:r>
              <a:rPr lang="en-US" dirty="0">
                <a:ea typeface="Calibri"/>
                <a:cs typeface="Calibri"/>
              </a:rPr>
              <a:t>, de </a:t>
            </a:r>
            <a:r>
              <a:rPr lang="en-US" dirty="0" err="1">
                <a:ea typeface="Calibri"/>
                <a:cs typeface="Calibri"/>
              </a:rPr>
              <a:t>aceea</a:t>
            </a:r>
            <a:r>
              <a:rPr lang="en-US" dirty="0">
                <a:ea typeface="Calibri"/>
                <a:cs typeface="Calibri"/>
              </a:rPr>
              <a:t> s-a </a:t>
            </a:r>
            <a:r>
              <a:rPr lang="en-US" dirty="0" err="1">
                <a:ea typeface="Calibri"/>
                <a:cs typeface="Calibri"/>
              </a:rPr>
              <a:t>implementat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cateva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caracteristicii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responsivness</a:t>
            </a:r>
            <a:endParaRPr lang="en-US" dirty="0" err="1"/>
          </a:p>
          <a:p>
            <a:r>
              <a:rPr lang="en-US" dirty="0" err="1"/>
              <a:t>Nivelul</a:t>
            </a:r>
            <a:r>
              <a:rPr lang="en-US" dirty="0"/>
              <a:t> de </a:t>
            </a:r>
            <a:r>
              <a:rPr lang="en-US" dirty="0" err="1"/>
              <a:t>applicatie</a:t>
            </a:r>
            <a:r>
              <a:rPr lang="en-US" dirty="0"/>
              <a:t>, </a:t>
            </a:r>
            <a:r>
              <a:rPr lang="en-US" dirty="0" err="1"/>
              <a:t>adica</a:t>
            </a:r>
            <a:r>
              <a:rPr lang="en-US" dirty="0"/>
              <a:t> </a:t>
            </a:r>
            <a:r>
              <a:rPr lang="en-US" dirty="0" err="1"/>
              <a:t>serverul</a:t>
            </a:r>
            <a:r>
              <a:rPr lang="en-US" dirty="0"/>
              <a:t> de backend </a:t>
            </a:r>
            <a:r>
              <a:rPr lang="en-US" dirty="0" err="1"/>
              <a:t>este</a:t>
            </a:r>
            <a:r>
              <a:rPr lang="en-US" dirty="0"/>
              <a:t> </a:t>
            </a:r>
            <a:r>
              <a:rPr lang="en-US" dirty="0" err="1"/>
              <a:t>conturat</a:t>
            </a:r>
            <a:r>
              <a:rPr lang="en-US" dirty="0"/>
              <a:t> de framework-</a:t>
            </a:r>
            <a:r>
              <a:rPr lang="en-US" dirty="0" err="1"/>
              <a:t>ul</a:t>
            </a:r>
            <a:r>
              <a:rPr lang="en-US" dirty="0"/>
              <a:t> flask, care </a:t>
            </a:r>
            <a:r>
              <a:rPr lang="en-US" dirty="0" err="1"/>
              <a:t>defineste</a:t>
            </a:r>
            <a:r>
              <a:rPr lang="en-US" dirty="0"/>
              <a:t> </a:t>
            </a:r>
            <a:r>
              <a:rPr lang="en-US" dirty="0" err="1"/>
              <a:t>comunicarea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  </a:t>
            </a:r>
            <a:r>
              <a:rPr lang="en-US" dirty="0" err="1"/>
              <a:t>stratul</a:t>
            </a:r>
            <a:r>
              <a:rPr lang="en-US" dirty="0"/>
              <a:t> de </a:t>
            </a:r>
            <a:r>
              <a:rPr lang="en-US" dirty="0" err="1"/>
              <a:t>prezentare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aplicatie</a:t>
            </a:r>
            <a:r>
              <a:rPr lang="en-US" dirty="0"/>
              <a:t>, </a:t>
            </a:r>
            <a:r>
              <a:rPr lang="en-US" dirty="0" err="1"/>
              <a:t>punand</a:t>
            </a:r>
            <a:r>
              <a:rPr lang="en-US" dirty="0"/>
              <a:t> la </a:t>
            </a:r>
            <a:r>
              <a:rPr lang="en-US" dirty="0" err="1"/>
              <a:t>dispozitie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functionalitati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endpoint-</a:t>
            </a:r>
            <a:r>
              <a:rPr lang="en-US" dirty="0" err="1"/>
              <a:t>urilor</a:t>
            </a:r>
            <a:r>
              <a:rPr lang="en-US" dirty="0"/>
              <a:t>. Prin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cereri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endpoints, 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colaboram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librarii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obtine</a:t>
            </a:r>
            <a:r>
              <a:rPr lang="en-US" dirty="0"/>
              <a:t> </a:t>
            </a:r>
            <a:r>
              <a:rPr lang="en-US" dirty="0" err="1"/>
              <a:t>rezultate</a:t>
            </a:r>
            <a:r>
              <a:rPr lang="en-US" dirty="0"/>
              <a:t> precum, </a:t>
            </a:r>
            <a:r>
              <a:rPr lang="en-US" dirty="0" err="1"/>
              <a:t>identificare</a:t>
            </a:r>
            <a:r>
              <a:rPr lang="en-US" dirty="0"/>
              <a:t>/</a:t>
            </a:r>
            <a:r>
              <a:rPr lang="en-US" dirty="0" err="1"/>
              <a:t>autorizare</a:t>
            </a:r>
            <a:r>
              <a:rPr lang="en-US" dirty="0"/>
              <a:t>/</a:t>
            </a:r>
            <a:r>
              <a:rPr lang="en-US" dirty="0" err="1"/>
              <a:t>manangement</a:t>
            </a:r>
            <a:r>
              <a:rPr lang="en-US" dirty="0"/>
              <a:t> a </a:t>
            </a:r>
            <a:r>
              <a:rPr lang="en-US" dirty="0" err="1"/>
              <a:t>userilor</a:t>
            </a:r>
            <a:r>
              <a:rPr lang="en-US" dirty="0"/>
              <a:t>, </a:t>
            </a:r>
            <a:r>
              <a:rPr lang="en-US" dirty="0" err="1"/>
              <a:t>preluare</a:t>
            </a:r>
            <a:r>
              <a:rPr lang="en-US" dirty="0"/>
              <a:t>/</a:t>
            </a:r>
            <a:r>
              <a:rPr lang="en-US" dirty="0" err="1"/>
              <a:t>modificare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clasificare</a:t>
            </a:r>
            <a:r>
              <a:rPr lang="en-US" dirty="0"/>
              <a:t> date.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intermediul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RPC, care </a:t>
            </a:r>
            <a:r>
              <a:rPr lang="en-US" dirty="0" err="1"/>
              <a:t>apeleaza</a:t>
            </a:r>
            <a:r>
              <a:rPr lang="en-US" dirty="0"/>
              <a:t> </a:t>
            </a:r>
            <a:r>
              <a:rPr lang="en-US" dirty="0" err="1"/>
              <a:t>functiile</a:t>
            </a:r>
            <a:r>
              <a:rPr lang="en-US" dirty="0"/>
              <a:t> </a:t>
            </a:r>
            <a:r>
              <a:rPr lang="en-US" dirty="0" err="1"/>
              <a:t>dispuse</a:t>
            </a:r>
            <a:r>
              <a:rPr lang="en-US" dirty="0"/>
              <a:t> de blockchain 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EBEED-1887-7183-B53B-F805F734B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465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2880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825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508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816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56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6386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8D0E63-0F6A-47B0-8BD1-6E95B004C872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92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552069 w 10515600"/>
              <a:gd name="connsiteY1" fmla="*/ 0 h 27432"/>
              <a:gd name="connsiteX2" fmla="*/ 893826 w 10515600"/>
              <a:gd name="connsiteY2" fmla="*/ 0 h 27432"/>
              <a:gd name="connsiteX3" fmla="*/ 1761363 w 10515600"/>
              <a:gd name="connsiteY3" fmla="*/ 0 h 27432"/>
              <a:gd name="connsiteX4" fmla="*/ 2313432 w 10515600"/>
              <a:gd name="connsiteY4" fmla="*/ 0 h 27432"/>
              <a:gd name="connsiteX5" fmla="*/ 2865501 w 10515600"/>
              <a:gd name="connsiteY5" fmla="*/ 0 h 27432"/>
              <a:gd name="connsiteX6" fmla="*/ 3733038 w 10515600"/>
              <a:gd name="connsiteY6" fmla="*/ 0 h 27432"/>
              <a:gd name="connsiteX7" fmla="*/ 4179951 w 10515600"/>
              <a:gd name="connsiteY7" fmla="*/ 0 h 27432"/>
              <a:gd name="connsiteX8" fmla="*/ 5047488 w 10515600"/>
              <a:gd name="connsiteY8" fmla="*/ 0 h 27432"/>
              <a:gd name="connsiteX9" fmla="*/ 5915025 w 10515600"/>
              <a:gd name="connsiteY9" fmla="*/ 0 h 27432"/>
              <a:gd name="connsiteX10" fmla="*/ 6572250 w 10515600"/>
              <a:gd name="connsiteY10" fmla="*/ 0 h 27432"/>
              <a:gd name="connsiteX11" fmla="*/ 7439787 w 10515600"/>
              <a:gd name="connsiteY11" fmla="*/ 0 h 27432"/>
              <a:gd name="connsiteX12" fmla="*/ 7991856 w 10515600"/>
              <a:gd name="connsiteY12" fmla="*/ 0 h 27432"/>
              <a:gd name="connsiteX13" fmla="*/ 8543925 w 10515600"/>
              <a:gd name="connsiteY13" fmla="*/ 0 h 27432"/>
              <a:gd name="connsiteX14" fmla="*/ 9306306 w 10515600"/>
              <a:gd name="connsiteY14" fmla="*/ 0 h 27432"/>
              <a:gd name="connsiteX15" fmla="*/ 9858375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9753219 w 10515600"/>
              <a:gd name="connsiteY18" fmla="*/ 27432 h 27432"/>
              <a:gd name="connsiteX19" fmla="*/ 9411462 w 10515600"/>
              <a:gd name="connsiteY19" fmla="*/ 27432 h 27432"/>
              <a:gd name="connsiteX20" fmla="*/ 8964549 w 10515600"/>
              <a:gd name="connsiteY20" fmla="*/ 27432 h 27432"/>
              <a:gd name="connsiteX21" fmla="*/ 8097012 w 10515600"/>
              <a:gd name="connsiteY21" fmla="*/ 27432 h 27432"/>
              <a:gd name="connsiteX22" fmla="*/ 7439787 w 10515600"/>
              <a:gd name="connsiteY22" fmla="*/ 27432 h 27432"/>
              <a:gd name="connsiteX23" fmla="*/ 6992874 w 10515600"/>
              <a:gd name="connsiteY23" fmla="*/ 27432 h 27432"/>
              <a:gd name="connsiteX24" fmla="*/ 6335649 w 10515600"/>
              <a:gd name="connsiteY24" fmla="*/ 27432 h 27432"/>
              <a:gd name="connsiteX25" fmla="*/ 5993892 w 10515600"/>
              <a:gd name="connsiteY25" fmla="*/ 27432 h 27432"/>
              <a:gd name="connsiteX26" fmla="*/ 5652135 w 10515600"/>
              <a:gd name="connsiteY26" fmla="*/ 27432 h 27432"/>
              <a:gd name="connsiteX27" fmla="*/ 4994910 w 10515600"/>
              <a:gd name="connsiteY27" fmla="*/ 27432 h 27432"/>
              <a:gd name="connsiteX28" fmla="*/ 4547997 w 10515600"/>
              <a:gd name="connsiteY28" fmla="*/ 27432 h 27432"/>
              <a:gd name="connsiteX29" fmla="*/ 3785616 w 10515600"/>
              <a:gd name="connsiteY29" fmla="*/ 27432 h 27432"/>
              <a:gd name="connsiteX30" fmla="*/ 3338703 w 10515600"/>
              <a:gd name="connsiteY30" fmla="*/ 27432 h 27432"/>
              <a:gd name="connsiteX31" fmla="*/ 2576322 w 10515600"/>
              <a:gd name="connsiteY31" fmla="*/ 27432 h 27432"/>
              <a:gd name="connsiteX32" fmla="*/ 2234565 w 10515600"/>
              <a:gd name="connsiteY32" fmla="*/ 27432 h 27432"/>
              <a:gd name="connsiteX33" fmla="*/ 1472184 w 10515600"/>
              <a:gd name="connsiteY33" fmla="*/ 27432 h 27432"/>
              <a:gd name="connsiteX34" fmla="*/ 1025271 w 10515600"/>
              <a:gd name="connsiteY34" fmla="*/ 27432 h 27432"/>
              <a:gd name="connsiteX35" fmla="*/ 683514 w 10515600"/>
              <a:gd name="connsiteY35" fmla="*/ 27432 h 27432"/>
              <a:gd name="connsiteX36" fmla="*/ 0 w 10515600"/>
              <a:gd name="connsiteY36" fmla="*/ 27432 h 27432"/>
              <a:gd name="connsiteX37" fmla="*/ 0 w 10515600"/>
              <a:gd name="connsiteY37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Name</a:t>
            </a:r>
          </a:p>
          <a:p>
            <a:pPr lvl="1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onnsiteX0" fmla="*/ 0 w 3877056"/>
              <a:gd name="connsiteY0" fmla="*/ 0 h 27432"/>
              <a:gd name="connsiteX1" fmla="*/ 723717 w 3877056"/>
              <a:gd name="connsiteY1" fmla="*/ 0 h 27432"/>
              <a:gd name="connsiteX2" fmla="*/ 1408664 w 3877056"/>
              <a:gd name="connsiteY2" fmla="*/ 0 h 27432"/>
              <a:gd name="connsiteX3" fmla="*/ 2093610 w 3877056"/>
              <a:gd name="connsiteY3" fmla="*/ 0 h 27432"/>
              <a:gd name="connsiteX4" fmla="*/ 2623475 w 3877056"/>
              <a:gd name="connsiteY4" fmla="*/ 0 h 27432"/>
              <a:gd name="connsiteX5" fmla="*/ 3192109 w 3877056"/>
              <a:gd name="connsiteY5" fmla="*/ 0 h 27432"/>
              <a:gd name="connsiteX6" fmla="*/ 3877056 w 3877056"/>
              <a:gd name="connsiteY6" fmla="*/ 0 h 27432"/>
              <a:gd name="connsiteX7" fmla="*/ 3877056 w 3877056"/>
              <a:gd name="connsiteY7" fmla="*/ 27432 h 27432"/>
              <a:gd name="connsiteX8" fmla="*/ 3230880 w 3877056"/>
              <a:gd name="connsiteY8" fmla="*/ 27432 h 27432"/>
              <a:gd name="connsiteX9" fmla="*/ 2701016 w 3877056"/>
              <a:gd name="connsiteY9" fmla="*/ 27432 h 27432"/>
              <a:gd name="connsiteX10" fmla="*/ 2171151 w 3877056"/>
              <a:gd name="connsiteY10" fmla="*/ 27432 h 27432"/>
              <a:gd name="connsiteX11" fmla="*/ 1486205 w 3877056"/>
              <a:gd name="connsiteY11" fmla="*/ 27432 h 27432"/>
              <a:gd name="connsiteX12" fmla="*/ 917570 w 3877056"/>
              <a:gd name="connsiteY12" fmla="*/ 27432 h 27432"/>
              <a:gd name="connsiteX13" fmla="*/ 0 w 3877056"/>
              <a:gd name="connsiteY13" fmla="*/ 27432 h 27432"/>
              <a:gd name="connsiteX14" fmla="*/ 0 w 3877056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52652-7F16-594D-3FF8-DA3C1A30C5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33250" y="6672580"/>
            <a:ext cx="347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ro-RO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ED8E54F9-849C-4865-8C5E-FD967B81D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91AE6B3-1D2D-4C67-A4DB-888635B52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443" y="1655558"/>
            <a:ext cx="10024065" cy="1773442"/>
          </a:xfrm>
        </p:spPr>
        <p:txBody>
          <a:bodyPr>
            <a:noAutofit/>
          </a:bodyPr>
          <a:lstStyle/>
          <a:p>
            <a:r>
              <a:rPr lang="ro-RO" sz="4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Protocol de autentificare OAuth cu Schnorr ZKP: Securitate fără partajare de secrete</a:t>
            </a:r>
            <a:endParaRPr lang="en-US" sz="4000" b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2D86-784C-417D-9AD4-AF18311FB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0" y="3854887"/>
            <a:ext cx="9144000" cy="16265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Autor: Matei </a:t>
            </a:r>
            <a:r>
              <a:rPr lang="en-US" dirty="0" err="1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Rar</a:t>
            </a:r>
            <a:r>
              <a:rPr lang="ro-RO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eș</a:t>
            </a:r>
            <a:endParaRPr lang="en-US" dirty="0">
              <a:solidFill>
                <a:schemeClr val="tx1"/>
              </a:solidFill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 </a:t>
            </a:r>
            <a:r>
              <a:rPr lang="en-US" sz="2400" dirty="0" err="1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Coordonator</a:t>
            </a:r>
            <a:r>
              <a:rPr lang="en-US" sz="24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: </a:t>
            </a:r>
            <a:r>
              <a:rPr lang="ro-RO" sz="24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Ș</a:t>
            </a:r>
            <a:r>
              <a:rPr lang="en-US" sz="24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.l.dr.inf. </a:t>
            </a:r>
            <a:r>
              <a:rPr lang="ro-RO" sz="2400" dirty="0">
                <a:solidFill>
                  <a:schemeClr val="tx1"/>
                </a:solidFill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Silviu Pavăl</a:t>
            </a:r>
            <a:endParaRPr lang="en-US" sz="2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D86A2-82CE-48F4-B78A-8B9CA7BA2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3542284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F7962E0-01F2-14CC-F2FC-B38CCB9DDAA7}"/>
              </a:ext>
            </a:extLst>
          </p:cNvPr>
          <p:cNvSpPr txBox="1">
            <a:spLocks/>
          </p:cNvSpPr>
          <p:nvPr/>
        </p:nvSpPr>
        <p:spPr>
          <a:xfrm>
            <a:off x="101600" y="96861"/>
            <a:ext cx="12000753" cy="14454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UNIVERSITATEA TEHNIC</a:t>
            </a:r>
            <a:r>
              <a:rPr lang="ro-RO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Ă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"GHEORGHE ASACHI" </a:t>
            </a:r>
            <a:r>
              <a:rPr lang="ro-RO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DIN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IA</a:t>
            </a:r>
            <a:r>
              <a:rPr lang="ro-RO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Ș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</a:t>
            </a:r>
          </a:p>
          <a:p>
            <a:pPr algn="l"/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FACULTATEA DE AUTOMATIC</a:t>
            </a:r>
            <a:r>
              <a:rPr lang="ro-RO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Ă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o-RO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Ș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CALCULATOARE</a:t>
            </a:r>
          </a:p>
          <a:p>
            <a:pPr algn="l"/>
            <a:r>
              <a:rPr lang="ro-RO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MASTER</a:t>
            </a:r>
            <a:r>
              <a:rPr lang="en-US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SECURITATEA SPA</a:t>
            </a:r>
            <a:r>
              <a:rPr lang="ro-RO" sz="22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ȚIULUI CIBERNETIC</a:t>
            </a:r>
            <a:endParaRPr lang="en-US" sz="22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900F76-CD7C-E1FB-AB7C-A99781E180B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64A1D1-DD07-4DD2-A527-4B1F52D6A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89" y="637426"/>
            <a:ext cx="2392679" cy="5583148"/>
          </a:xfrm>
        </p:spPr>
        <p:txBody>
          <a:bodyPr anchor="ctr">
            <a:normAutofit/>
          </a:bodyPr>
          <a:lstStyle/>
          <a:p>
            <a:pPr algn="ctr"/>
            <a:r>
              <a:rPr lang="ro-RO" sz="4000" dirty="0">
                <a:latin typeface="Segoe UI" panose="020B0502040204020203" pitchFamily="34" charset="0"/>
                <a:cs typeface="Segoe UI" panose="020B0502040204020203" pitchFamily="34" charset="0"/>
              </a:rPr>
              <a:t>SUMAR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6622B23-9721-51A9-FC31-71F24C920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06457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53E8B74-5BC1-671F-D62B-51567D1DE314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42842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0BD06-8C44-4B53-4427-3B713EC40D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0955" y="273559"/>
            <a:ext cx="5186635" cy="11560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190068-9E36-6FAF-0341-CF54233563E0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3/1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9729FF-5975-FD7C-789A-1AEE76333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272" y="1131829"/>
            <a:ext cx="5804747" cy="4534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62ECF6-A819-3E9E-1093-2F6C2AAE4784}"/>
              </a:ext>
            </a:extLst>
          </p:cNvPr>
          <p:cNvSpPr txBox="1"/>
          <p:nvPr/>
        </p:nvSpPr>
        <p:spPr>
          <a:xfrm>
            <a:off x="4225780" y="1801538"/>
            <a:ext cx="737667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endParaRPr lang="ro-RO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Autentificarea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Oauth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clasica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: secret partajat transmis către server</a:t>
            </a:r>
          </a:p>
          <a:p>
            <a:pPr lvl="0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HTTPS: reduce interceptarea, nu elimină vulnerabilitățile structurale (breșe DB, reutilizare parole,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SNDL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endParaRPr lang="ro-RO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o-RO" b="1" dirty="0">
                <a:latin typeface="Segoe UI" panose="020B0502040204020203" pitchFamily="34" charset="0"/>
                <a:cs typeface="Segoe UI" panose="020B0502040204020203" pitchFamily="34" charset="0"/>
              </a:rPr>
              <a:t>S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olutie</a:t>
            </a:r>
            <a:r>
              <a:rPr lang="ro-RO" b="1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Protocol de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autentificare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f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ără transmiterea parolei către server.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Schnorr</a:t>
            </a:r>
          </a:p>
          <a:p>
            <a:pPr lvl="0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Mapare ZKP peste OAuth: angajament → inițiere cerere, provocare → nonce sesiune, răspuns → autentificare client</a:t>
            </a:r>
          </a:p>
          <a:p>
            <a:pPr lvl="0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Referință: 3 fluxuri OAuth clasice + evaluare comparativă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protocoale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ZKP (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SRP-6a, zk-SNARK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endParaRPr lang="ro-RO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62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C17DE74-01C9-4859-B65A-85CF999E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68C0432-0E90-4CC1-8CD3-D44A90DF0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4136B-9F2E-13CB-B5EB-9DFB5BE99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000" dirty="0">
                <a:solidFill>
                  <a:schemeClr val="accent1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TEHNOLOGII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DBC7A7E-4787-9817-5E5A-4C05B537B66D}"/>
              </a:ext>
            </a:extLst>
          </p:cNvPr>
          <p:cNvSpPr/>
          <p:nvPr/>
        </p:nvSpPr>
        <p:spPr>
          <a:xfrm>
            <a:off x="6545797" y="2791731"/>
            <a:ext cx="4808002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28" name="Picture 27" descr="A blue and yellow snake logo&#10;&#10;Description automatically generated">
            <a:extLst>
              <a:ext uri="{FF2B5EF4-FFF2-40B4-BE49-F238E27FC236}">
                <a16:creationId xmlns:a16="http://schemas.microsoft.com/office/drawing/2014/main" id="{0A3897FA-F6FE-056B-B963-533A3AD6A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729" y="2923258"/>
            <a:ext cx="767252" cy="78080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0897546-D232-D941-A3A2-E8F99ABF53F3}"/>
              </a:ext>
            </a:extLst>
          </p:cNvPr>
          <p:cNvSpPr txBox="1"/>
          <p:nvPr/>
        </p:nvSpPr>
        <p:spPr>
          <a:xfrm>
            <a:off x="7373803" y="4057342"/>
            <a:ext cx="337310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Python ( Flask, Locust )</a:t>
            </a:r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r>
              <a:rPr lang="ro-RO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L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imbaj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flexibil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pentru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ro-RO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î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mbinarea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mai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multor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biblioteci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,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iterare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rapida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32EB53D-23CC-A904-55E9-013C593195F3}"/>
              </a:ext>
            </a:extLst>
          </p:cNvPr>
          <p:cNvSpPr txBox="1"/>
          <p:nvPr/>
        </p:nvSpPr>
        <p:spPr>
          <a:xfrm>
            <a:off x="1273963" y="4052706"/>
            <a:ext cx="419471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Javascript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, HTML, CSS</a:t>
            </a:r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endParaRPr lang="ro-RO" sz="2400" dirty="0">
              <a:latin typeface="Segoe UI" panose="020B0502040204020203" pitchFamily="34" charset="0"/>
              <a:ea typeface="+mn-lt"/>
              <a:cs typeface="Segoe UI" panose="020B0502040204020203" pitchFamily="34" charset="0"/>
            </a:endParaRPr>
          </a:p>
          <a:p>
            <a:pPr algn="ctr"/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Compatibilitate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si</a:t>
            </a:r>
            <a:r>
              <a:rPr lang="en-US" sz="2400" dirty="0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 </a:t>
            </a:r>
            <a:r>
              <a:rPr lang="en-US" sz="2400" dirty="0" err="1">
                <a:latin typeface="Segoe UI" panose="020B0502040204020203" pitchFamily="34" charset="0"/>
                <a:ea typeface="+mn-lt"/>
                <a:cs typeface="Segoe UI" panose="020B0502040204020203" pitchFamily="34" charset="0"/>
              </a:rPr>
              <a:t>standardizare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03485B-B9BB-9B8E-1BDF-27DA42EEFACD}"/>
              </a:ext>
            </a:extLst>
          </p:cNvPr>
          <p:cNvSpPr txBox="1"/>
          <p:nvPr/>
        </p:nvSpPr>
        <p:spPr>
          <a:xfrm>
            <a:off x="9745884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4/1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5" name="Picture 4" descr="A yellow rectangular sign with black letters&#10;&#10;AI-generated content may be incorrect.">
            <a:extLst>
              <a:ext uri="{FF2B5EF4-FFF2-40B4-BE49-F238E27FC236}">
                <a16:creationId xmlns:a16="http://schemas.microsoft.com/office/drawing/2014/main" id="{EEAF6460-3DE8-BDF4-089C-C1D1042D6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1000" y="2942478"/>
            <a:ext cx="705732" cy="705732"/>
          </a:xfrm>
          <a:prstGeom prst="rect">
            <a:avLst/>
          </a:prstGeom>
        </p:spPr>
      </p:pic>
      <p:pic>
        <p:nvPicPr>
          <p:cNvPr id="7" name="Picture 6" descr="A logo of a software company&#10;&#10;AI-generated content may be incorrect.">
            <a:extLst>
              <a:ext uri="{FF2B5EF4-FFF2-40B4-BE49-F238E27FC236}">
                <a16:creationId xmlns:a16="http://schemas.microsoft.com/office/drawing/2014/main" id="{2852E522-DF8E-37E4-FC35-15A070334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019" y="2954646"/>
            <a:ext cx="718035" cy="71803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4D29EE-93B4-79A9-23BA-9FBD793BB775}"/>
              </a:ext>
            </a:extLst>
          </p:cNvPr>
          <p:cNvSpPr/>
          <p:nvPr/>
        </p:nvSpPr>
        <p:spPr>
          <a:xfrm>
            <a:off x="868898" y="2791731"/>
            <a:ext cx="4808002" cy="3612775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pic>
        <p:nvPicPr>
          <p:cNvPr id="13" name="Picture 12" descr="A blue and white logo&#10;&#10;AI-generated content may be incorrect.">
            <a:extLst>
              <a:ext uri="{FF2B5EF4-FFF2-40B4-BE49-F238E27FC236}">
                <a16:creationId xmlns:a16="http://schemas.microsoft.com/office/drawing/2014/main" id="{8A4422DF-FFD6-3855-F13D-FB0FE6DEB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7341" y="2954646"/>
            <a:ext cx="718035" cy="71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70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683CD-059C-4A3C-8337-1053A066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14" y="891176"/>
            <a:ext cx="4215543" cy="125505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ARHITECTURA</a:t>
            </a:r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environment</a:t>
            </a:r>
          </a:p>
        </p:txBody>
      </p:sp>
      <p:pic>
        <p:nvPicPr>
          <p:cNvPr id="32" name="Graphic 31" descr="Smart Phone with solid fill">
            <a:extLst>
              <a:ext uri="{FF2B5EF4-FFF2-40B4-BE49-F238E27FC236}">
                <a16:creationId xmlns:a16="http://schemas.microsoft.com/office/drawing/2014/main" id="{DF2E0BCD-417C-98ED-9C0D-D48265E98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6757" y="469050"/>
            <a:ext cx="914400" cy="914400"/>
          </a:xfrm>
          <a:prstGeom prst="rect">
            <a:avLst/>
          </a:prstGeom>
        </p:spPr>
      </p:pic>
      <p:pic>
        <p:nvPicPr>
          <p:cNvPr id="33" name="Graphic 32" descr="Laptop with solid fill">
            <a:extLst>
              <a:ext uri="{FF2B5EF4-FFF2-40B4-BE49-F238E27FC236}">
                <a16:creationId xmlns:a16="http://schemas.microsoft.com/office/drawing/2014/main" id="{4DC2E59C-1C9D-285F-FAE2-A5DDEAF791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2824" y="468578"/>
            <a:ext cx="914400" cy="914400"/>
          </a:xfrm>
          <a:prstGeom prst="rect">
            <a:avLst/>
          </a:prstGeom>
        </p:spPr>
      </p:pic>
      <p:pic>
        <p:nvPicPr>
          <p:cNvPr id="34" name="Graphic 33" descr="Computer with solid fill">
            <a:extLst>
              <a:ext uri="{FF2B5EF4-FFF2-40B4-BE49-F238E27FC236}">
                <a16:creationId xmlns:a16="http://schemas.microsoft.com/office/drawing/2014/main" id="{EECC5E2E-78D0-014C-055B-B25C821D54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21051" y="468107"/>
            <a:ext cx="914400" cy="914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79A313-4809-C65C-0797-CE09770F07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9662" y="4452323"/>
            <a:ext cx="477592" cy="56244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F645EE-B320-AB28-01EE-1E034DE44506}"/>
              </a:ext>
            </a:extLst>
          </p:cNvPr>
          <p:cNvSpPr/>
          <p:nvPr/>
        </p:nvSpPr>
        <p:spPr>
          <a:xfrm>
            <a:off x="6786281" y="263648"/>
            <a:ext cx="3729316" cy="125505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0771D1-672D-73F5-7413-AA8C8B7A6730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5/1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75D82D-108A-B56B-6A71-B6FBC2CB3D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014" y="337319"/>
            <a:ext cx="4531360" cy="3540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E6D6C0-065E-9F10-2577-57843F2AA1EA}"/>
              </a:ext>
            </a:extLst>
          </p:cNvPr>
          <p:cNvSpPr txBox="1"/>
          <p:nvPr/>
        </p:nvSpPr>
        <p:spPr>
          <a:xfrm>
            <a:off x="188044" y="2859216"/>
            <a:ext cx="659823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 b="1" dirty="0">
                <a:latin typeface="Segoe UI" panose="020B0502040204020203" pitchFamily="34" charset="0"/>
                <a:cs typeface="Segoe UI" panose="020B0502040204020203" pitchFamily="34" charset="0"/>
              </a:rPr>
              <a:t>Prezentare: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 interfață web statică, calcule ZKP locale, monitor rețea</a:t>
            </a:r>
          </a:p>
          <a:p>
            <a:r>
              <a:rPr lang="ro-RO" b="1" dirty="0">
                <a:latin typeface="Segoe UI" panose="020B0502040204020203" pitchFamily="34" charset="0"/>
                <a:cs typeface="Segoe UI" panose="020B0502040204020203" pitchFamily="34" charset="0"/>
              </a:rPr>
              <a:t>Aplicație (Flask):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 validare subgrup (is_subgroup_member), emitere JWT, legare canal (Session Binding)</a:t>
            </a:r>
          </a:p>
          <a:p>
            <a:r>
              <a:rPr lang="ro-RO" b="1" dirty="0">
                <a:latin typeface="Segoe UI" panose="020B0502040204020203" pitchFamily="34" charset="0"/>
                <a:cs typeface="Segoe UI" panose="020B0502040204020203" pitchFamily="34" charset="0"/>
              </a:rPr>
              <a:t>Date (SQLite):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 User (secret_y), AuthToken, PersoData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F684CE-C9F1-F93A-D6AA-B4485B0A07C3}"/>
              </a:ext>
            </a:extLst>
          </p:cNvPr>
          <p:cNvSpPr txBox="1"/>
          <p:nvPr/>
        </p:nvSpPr>
        <p:spPr>
          <a:xfrm>
            <a:off x="51735" y="4540593"/>
            <a:ext cx="6836734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**Diagramă arhitectură 3 niveluri: Client ↔ Flask ↔ SQLite**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D88D8D8-46AF-EEA9-D5B9-EE9F7114BCCF}"/>
              </a:ext>
            </a:extLst>
          </p:cNvPr>
          <p:cNvCxnSpPr>
            <a:stCxn id="9" idx="2"/>
          </p:cNvCxnSpPr>
          <p:nvPr/>
        </p:nvCxnSpPr>
        <p:spPr>
          <a:xfrm>
            <a:off x="8650939" y="1518706"/>
            <a:ext cx="922907" cy="1764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B8416F-BB84-3F70-9FF6-48A9C8728502}"/>
              </a:ext>
            </a:extLst>
          </p:cNvPr>
          <p:cNvCxnSpPr>
            <a:cxnSpLocks/>
            <a:stCxn id="24" idx="2"/>
            <a:endCxn id="6" idx="0"/>
          </p:cNvCxnSpPr>
          <p:nvPr/>
        </p:nvCxnSpPr>
        <p:spPr>
          <a:xfrm>
            <a:off x="9688121" y="4013489"/>
            <a:ext cx="90337" cy="438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18451E82-5D06-D5A8-211B-AE8D2F5404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9846" y="3292392"/>
            <a:ext cx="747223" cy="7210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D9DDDE-5CE8-FA19-6A86-8857E68059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4509" y="3292392"/>
            <a:ext cx="747223" cy="721097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F0B8E5-44FC-08C3-2FD0-A9DA8674B2FD}"/>
              </a:ext>
            </a:extLst>
          </p:cNvPr>
          <p:cNvCxnSpPr>
            <a:cxnSpLocks/>
            <a:stCxn id="9" idx="2"/>
            <a:endCxn id="23" idx="0"/>
          </p:cNvCxnSpPr>
          <p:nvPr/>
        </p:nvCxnSpPr>
        <p:spPr>
          <a:xfrm flipH="1">
            <a:off x="7753458" y="1518706"/>
            <a:ext cx="897481" cy="17736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DF2D47-20BF-57CA-E08D-5E17925999E0}"/>
              </a:ext>
            </a:extLst>
          </p:cNvPr>
          <p:cNvCxnSpPr>
            <a:cxnSpLocks/>
            <a:stCxn id="23" idx="2"/>
            <a:endCxn id="30" idx="0"/>
          </p:cNvCxnSpPr>
          <p:nvPr/>
        </p:nvCxnSpPr>
        <p:spPr>
          <a:xfrm>
            <a:off x="7753458" y="4013489"/>
            <a:ext cx="17699" cy="393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CC5BD977-222C-2EA5-1895-700A70FEB5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32361" y="4406543"/>
            <a:ext cx="477592" cy="562441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A62A02-D5C8-0CA9-396D-D4393953EC2E}"/>
              </a:ext>
            </a:extLst>
          </p:cNvPr>
          <p:cNvSpPr/>
          <p:nvPr/>
        </p:nvSpPr>
        <p:spPr>
          <a:xfrm>
            <a:off x="9090195" y="2904021"/>
            <a:ext cx="1288227" cy="125505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23BD85-5681-835A-7EA3-4B26BDB0206E}"/>
              </a:ext>
            </a:extLst>
          </p:cNvPr>
          <p:cNvSpPr txBox="1"/>
          <p:nvPr/>
        </p:nvSpPr>
        <p:spPr>
          <a:xfrm>
            <a:off x="9369263" y="2914078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Auth </a:t>
            </a:r>
            <a:endParaRPr lang="ro-RO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63534E-8172-D47F-B6D6-02418F375ECC}"/>
              </a:ext>
            </a:extLst>
          </p:cNvPr>
          <p:cNvSpPr txBox="1"/>
          <p:nvPr/>
        </p:nvSpPr>
        <p:spPr>
          <a:xfrm>
            <a:off x="7174748" y="2941459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Resource </a:t>
            </a:r>
            <a:endParaRPr lang="ro-RO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3BAF630-C997-1CE1-A907-07AC1771F849}"/>
              </a:ext>
            </a:extLst>
          </p:cNvPr>
          <p:cNvSpPr/>
          <p:nvPr/>
        </p:nvSpPr>
        <p:spPr>
          <a:xfrm>
            <a:off x="7105295" y="2914078"/>
            <a:ext cx="1288227" cy="125505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he Hand Black Mate" panose="02010606010101020104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6F48FA-9049-C4CD-6C83-F16B6ADA4FD9}"/>
              </a:ext>
            </a:extLst>
          </p:cNvPr>
          <p:cNvSpPr txBox="1"/>
          <p:nvPr/>
        </p:nvSpPr>
        <p:spPr>
          <a:xfrm>
            <a:off x="7479510" y="2161732"/>
            <a:ext cx="84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</a:t>
            </a:r>
            <a:endParaRPr lang="ro-RO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106221-A891-8DFD-1DAC-157207D1DA97}"/>
              </a:ext>
            </a:extLst>
          </p:cNvPr>
          <p:cNvSpPr txBox="1"/>
          <p:nvPr/>
        </p:nvSpPr>
        <p:spPr>
          <a:xfrm>
            <a:off x="9124746" y="2156914"/>
            <a:ext cx="847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</a:t>
            </a:r>
            <a:endParaRPr lang="ro-RO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F16CF1-E1E3-05AD-8DCF-CC23A0A567AF}"/>
              </a:ext>
            </a:extLst>
          </p:cNvPr>
          <p:cNvSpPr txBox="1"/>
          <p:nvPr/>
        </p:nvSpPr>
        <p:spPr>
          <a:xfrm>
            <a:off x="8202738" y="27776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391978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204D3A-EBED-77BA-58C5-5D8A98EF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14CC-2555-1229-BBFC-641DF8A01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15" y="891177"/>
            <a:ext cx="3922776" cy="91089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Schnorr</a:t>
            </a:r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  <a:t>interactive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FFF37B-4DC4-DEB7-F000-5113EFCF13F6}"/>
              </a:ext>
            </a:extLst>
          </p:cNvPr>
          <p:cNvSpPr txBox="1"/>
          <p:nvPr/>
        </p:nvSpPr>
        <p:spPr>
          <a:xfrm>
            <a:off x="469095" y="2977053"/>
            <a:ext cx="56272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Fundament: problema logaritmului discret (DLP)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prim sigur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P = 2Q + 1, G = h² mod P, G ≠ 1, G^Q mod P =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=</a:t>
            </a:r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 1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, h in [0,P]</a:t>
            </a:r>
            <a:endParaRPr lang="ro-RO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46B01F-EFB9-F1EB-C18A-55A837CA67D6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5/1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7E5D28-DA20-97BD-168A-FC81F1B24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52" y="2358543"/>
            <a:ext cx="4531360" cy="3540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3C7C1D-3CB7-2FCB-EE86-BDDE6C6DCB3F}"/>
              </a:ext>
            </a:extLst>
          </p:cNvPr>
          <p:cNvSpPr txBox="1"/>
          <p:nvPr/>
        </p:nvSpPr>
        <p:spPr>
          <a:xfrm>
            <a:off x="6209974" y="1310537"/>
            <a:ext cx="6097772" cy="2804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Chei: y = G^x mod P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Angajament: t = G^r mod P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Provocare: c ← aleatoriu din Z_Q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Răspuns: s = (r + c * x) mod Q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Verificare: G^s ≡ t * y^c (mod P)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Corectitudine: G^s = G^(r+c</a:t>
            </a:r>
            <a:r>
              <a:rPr lang="ro-RO" sz="1800" i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x) = G^r * G^(c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x) = t * y^c mod P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2630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700142" y="105012"/>
            <a:ext cx="234077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Inregistrarea</a:t>
            </a:r>
            <a:endParaRPr lang="en-US" sz="3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46635A-8682-59FF-E3BD-780B5327C9CD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6/1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3BA8C525-CB70-5211-F2C5-3611B8CBA7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64F9AC-1A88-237E-F326-180BA0E7A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8" y="1382375"/>
            <a:ext cx="11993392" cy="3291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89FDEC-995C-81BE-524F-21E8A84A3E4E}"/>
              </a:ext>
            </a:extLst>
          </p:cNvPr>
          <p:cNvSpPr txBox="1"/>
          <p:nvPr/>
        </p:nvSpPr>
        <p:spPr>
          <a:xfrm>
            <a:off x="145312" y="2162616"/>
            <a:ext cx="3144965" cy="2940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4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Client: derivare locală x din parolă (scrypt + salt unic)</a:t>
            </a:r>
            <a:endParaRPr lang="ro-RO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4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Calcul: y = G^x mod P</a:t>
            </a:r>
            <a:endParaRPr lang="ro-RO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4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Transmis → server: exclusiv y</a:t>
            </a:r>
            <a:endParaRPr lang="ro-RO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4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Server: validare y^Q mod P = 1, y </a:t>
            </a:r>
            <a:r>
              <a:rPr lang="ro-RO" sz="1400" kern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∉</a:t>
            </a:r>
            <a:r>
              <a:rPr lang="ro-RO" sz="14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{0, 1, -1, P-1} → stocare</a:t>
            </a:r>
            <a:endParaRPr lang="ro-RO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4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Parolă + cheie privată: nu părăsesc dispozitivul</a:t>
            </a:r>
            <a:endParaRPr lang="ro-RO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4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Compromitere DB: y → x = DLP pe 2048 biți (nefezabil)</a:t>
            </a:r>
            <a:endParaRPr lang="ro-RO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ED352B-1402-6FCE-054D-C6766DCF3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9331" y="0"/>
            <a:ext cx="98668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35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1372-6395-69E3-BED3-27CC790E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7ECF2727-B90F-1564-DDED-7943C2847F98}"/>
              </a:ext>
            </a:extLst>
          </p:cNvPr>
          <p:cNvSpPr txBox="1">
            <a:spLocks/>
          </p:cNvSpPr>
          <p:nvPr/>
        </p:nvSpPr>
        <p:spPr>
          <a:xfrm>
            <a:off x="700142" y="105012"/>
            <a:ext cx="234077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Autentificare</a:t>
            </a:r>
            <a:endParaRPr lang="en-US" sz="3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commit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EAEE6A-27B3-F414-F6E2-502EC060713E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6/1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7585E611-8627-7454-1E6D-A3FC3AB2BD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8E2FF4-2BA1-DC4D-F9AD-D5A7C3F2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8" y="1382375"/>
            <a:ext cx="11993392" cy="3291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6B16AC-3E09-8828-9BF5-DBDF4622FC8A}"/>
              </a:ext>
            </a:extLst>
          </p:cNvPr>
          <p:cNvSpPr txBox="1"/>
          <p:nvPr/>
        </p:nvSpPr>
        <p:spPr>
          <a:xfrm>
            <a:off x="212558" y="2334555"/>
            <a:ext cx="61030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Client → t, client_id (r aleatoriu, window.crypto.getRandomValues)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Server → c, session_id (validare subgrup t, TTL = 5s, mutex)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Client → s = (r + c * x) mod Q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Server: G^s ≡ t * y^c (mod P) → JWT (channel binding)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Sesiune invalidată imediat după consum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8150F-556B-DDBB-8577-1DA305AF9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956" y="74001"/>
            <a:ext cx="8284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1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025C9-96FD-1087-3BD7-F4579CCC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7E3122B3-6B08-52CB-C56A-B561BEA965B5}"/>
              </a:ext>
            </a:extLst>
          </p:cNvPr>
          <p:cNvSpPr txBox="1">
            <a:spLocks/>
          </p:cNvSpPr>
          <p:nvPr/>
        </p:nvSpPr>
        <p:spPr>
          <a:xfrm>
            <a:off x="700142" y="105012"/>
            <a:ext cx="234077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Autentificare</a:t>
            </a:r>
            <a:endParaRPr lang="en-US" sz="3000" dirty="0">
              <a:latin typeface="Segoe UI" panose="020B0502040204020203" pitchFamily="34" charset="0"/>
              <a:ea typeface="Germano" panose="020B0306030504020204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3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verify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2FC0FE-4730-29F1-040F-02A538621C6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6/1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521CA239-BB09-99B6-2184-363FF9885B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E68B7B-7943-3192-6452-FF58FE4D2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8" y="1382375"/>
            <a:ext cx="11993392" cy="3291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0DA9D8-15F3-F899-2B46-373A61C31D42}"/>
              </a:ext>
            </a:extLst>
          </p:cNvPr>
          <p:cNvSpPr txBox="1"/>
          <p:nvPr/>
        </p:nvSpPr>
        <p:spPr>
          <a:xfrm>
            <a:off x="212558" y="2334555"/>
            <a:ext cx="35153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Client → t, client_id (r aleatoriu, window.crypto.getRandomValues)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Server → c, session_id (validare subgrup t, TTL = 5s, mutex)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Client → s = (r + c * x) mod Q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Server: G^s ≡ t * y^c (mod P) → JWT (channel binding)</a:t>
            </a:r>
          </a:p>
          <a:p>
            <a:pPr lvl="0"/>
            <a:r>
              <a:rPr lang="ro-RO" dirty="0">
                <a:latin typeface="Segoe UI" panose="020B0502040204020203" pitchFamily="34" charset="0"/>
                <a:cs typeface="Segoe UI" panose="020B0502040204020203" pitchFamily="34" charset="0"/>
              </a:rPr>
              <a:t>Sesiune invalidată imediat după consum</a:t>
            </a:r>
          </a:p>
        </p:txBody>
      </p: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D84BB7B5-60BB-8ED2-88B1-ADD5D4F3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822" y="152400"/>
            <a:ext cx="9335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32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845B5-45BA-6730-6415-00B70A56C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504FE052-A460-175E-A178-927B46CADA66}"/>
              </a:ext>
            </a:extLst>
          </p:cNvPr>
          <p:cNvSpPr txBox="1">
            <a:spLocks/>
          </p:cNvSpPr>
          <p:nvPr/>
        </p:nvSpPr>
        <p:spPr>
          <a:xfrm>
            <a:off x="700142" y="105012"/>
            <a:ext cx="2340770" cy="11723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000" dirty="0" err="1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Consum</a:t>
            </a:r>
            <a:r>
              <a:rPr lang="en-US" sz="3000" dirty="0">
                <a:latin typeface="Segoe UI" panose="020B0502040204020203" pitchFamily="34" charset="0"/>
                <a:ea typeface="Germano" panose="020B0306030504020204" pitchFamily="34" charset="0"/>
                <a:cs typeface="Segoe UI" panose="020B0502040204020203" pitchFamily="34" charset="0"/>
              </a:rPr>
              <a:t> token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1D982F-A7D8-AAD4-5C9D-C022EED052FE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The Hand Black Mate" panose="02010606010101020104" pitchFamily="2" charset="0"/>
              </a:rPr>
              <a:t>6/1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sp>
        <p:nvSpPr>
          <p:cNvPr id="5" name="AutoShape 2" descr=", generat de AI">
            <a:extLst>
              <a:ext uri="{FF2B5EF4-FFF2-40B4-BE49-F238E27FC236}">
                <a16:creationId xmlns:a16="http://schemas.microsoft.com/office/drawing/2014/main" id="{14F74A77-0E26-5316-18BD-9564FB8757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7055D8-C082-ADDA-03F5-5F321CB91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8" y="1382375"/>
            <a:ext cx="11993392" cy="3291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CA7824-8DFA-E58C-00F6-4E4F94D55A07}"/>
              </a:ext>
            </a:extLst>
          </p:cNvPr>
          <p:cNvSpPr txBox="1"/>
          <p:nvPr/>
        </p:nvSpPr>
        <p:spPr>
          <a:xfrm>
            <a:off x="212558" y="2334555"/>
            <a:ext cx="6103088" cy="2688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Client: derivare locală x din parolă (scrypt + salt unic)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Calcul: y = G^x mod P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Transmis → server: exclusiv y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Server: validare y^Q mod P = 1, y ∉ {0, 1, -1, P-1} → stocare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Parolă + cheie privată: nu părăsesc dispozitivul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Compromitere DB: y → x = DLP pe 2048 biți (nefezabil)</a:t>
            </a:r>
            <a:endParaRPr lang="ro-RO" sz="2800" kern="100" dirty="0">
              <a:effectLst/>
              <a:latin typeface="Segoe UI" panose="020B0502040204020203" pitchFamily="34" charset="0"/>
              <a:ea typeface="Aptos" panose="020B0004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C424B6-ABAA-FE83-FA31-6E5D7DA2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459" y="1036034"/>
            <a:ext cx="9077244" cy="571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81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24" y="423283"/>
            <a:ext cx="5080576" cy="1620422"/>
          </a:xfrm>
        </p:spPr>
        <p:txBody>
          <a:bodyPr>
            <a:noAutofit/>
          </a:bodyPr>
          <a:lstStyle/>
          <a:p>
            <a:pPr algn="ctr"/>
            <a:r>
              <a:rPr lang="ro-RO" sz="4000" dirty="0">
                <a:latin typeface="Segoe UI" panose="020B0502040204020203" pitchFamily="34" charset="0"/>
                <a:cs typeface="Segoe UI" panose="020B0502040204020203" pitchFamily="34" charset="0"/>
              </a:rPr>
              <a:t>Proprietăți de securitate</a:t>
            </a:r>
            <a:endParaRPr lang="en-US" sz="4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BEAE43-FAD6-447A-2725-4B30C49BA14B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>
                <a:latin typeface="The Hand Black Mate" panose="02010606010101020104" pitchFamily="2" charset="0"/>
              </a:rPr>
              <a:t>7</a:t>
            </a:r>
            <a:r>
              <a:rPr lang="en-US" sz="2000" dirty="0">
                <a:latin typeface="The Hand Black Mate" panose="02010606010101020104" pitchFamily="2" charset="0"/>
              </a:rPr>
              <a:t>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1CF093-06DE-86DB-AB2F-1B1D61381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453710" y="2225911"/>
            <a:ext cx="4627218" cy="3615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917686-79AC-E52C-B5F5-481FDBFE5F24}"/>
              </a:ext>
            </a:extLst>
          </p:cNvPr>
          <p:cNvSpPr txBox="1"/>
          <p:nvPr/>
        </p:nvSpPr>
        <p:spPr>
          <a:xfrm>
            <a:off x="-196866" y="3868227"/>
            <a:ext cx="6099906" cy="2534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SNDL: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{t, c, s} efemere, r netransmis → reziliență interceptare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secret partajat: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server stochează doar y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Anti-replay: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c unic per sesiune, invalidare post-consum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Session Binding: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JWT ancorat la contextul HTTP al sesiunii ZKP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CCC18F-C346-E278-ED83-0EA70EDC226A}"/>
              </a:ext>
            </a:extLst>
          </p:cNvPr>
          <p:cNvSpPr txBox="1"/>
          <p:nvPr/>
        </p:nvSpPr>
        <p:spPr>
          <a:xfrm>
            <a:off x="5903040" y="5025221"/>
            <a:ext cx="6099906" cy="71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**Captură Wireshark: zero parolă/derivate în trafic HTTP**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5C2625-16F1-631B-8A99-C0BC0143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421" y="193503"/>
            <a:ext cx="8659433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7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05" y="496431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Validare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  <a:r>
              <a:rPr lang="en-US" sz="4600" dirty="0" err="1">
                <a:latin typeface="The Serif Hand Black Mate" panose="03070902030502020204" pitchFamily="66" charset="0"/>
              </a:rPr>
              <a:t>si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  <a:r>
              <a:rPr lang="en-US" sz="4600" dirty="0" err="1">
                <a:latin typeface="The Serif Hand Black Mate" panose="03070902030502020204" pitchFamily="66" charset="0"/>
              </a:rPr>
              <a:t>testare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6C8DE-15F6-1B6D-3AFE-C8C9130CA0C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>
                <a:latin typeface="The Hand Black Mate" panose="02010606010101020104" pitchFamily="2" charset="0"/>
              </a:rPr>
              <a:t>8</a:t>
            </a:r>
            <a:r>
              <a:rPr lang="en-US" sz="2000" dirty="0">
                <a:latin typeface="The Hand Black Mate" panose="02010606010101020104" pitchFamily="2" charset="0"/>
              </a:rPr>
              <a:t>/1</a:t>
            </a:r>
            <a:r>
              <a:rPr lang="ro-RO" sz="2000" dirty="0">
                <a:latin typeface="The Hand Black Mate" panose="02010606010101020104" pitchFamily="2" charset="0"/>
              </a:rPr>
              <a:t>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33D8F-9569-212D-CE7A-C74D625D4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3DFB8FF-8BCD-0924-17AB-872437AF06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447449"/>
              </p:ext>
            </p:extLst>
          </p:nvPr>
        </p:nvGraphicFramePr>
        <p:xfrm>
          <a:off x="6702792" y="909992"/>
          <a:ext cx="3932238" cy="21176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0746">
                  <a:extLst>
                    <a:ext uri="{9D8B030D-6E8A-4147-A177-3AD203B41FA5}">
                      <a16:colId xmlns:a16="http://schemas.microsoft.com/office/drawing/2014/main" val="2724873272"/>
                    </a:ext>
                  </a:extLst>
                </a:gridCol>
                <a:gridCol w="1310746">
                  <a:extLst>
                    <a:ext uri="{9D8B030D-6E8A-4147-A177-3AD203B41FA5}">
                      <a16:colId xmlns:a16="http://schemas.microsoft.com/office/drawing/2014/main" val="4133436232"/>
                    </a:ext>
                  </a:extLst>
                </a:gridCol>
                <a:gridCol w="1310746">
                  <a:extLst>
                    <a:ext uri="{9D8B030D-6E8A-4147-A177-3AD203B41FA5}">
                      <a16:colId xmlns:a16="http://schemas.microsoft.com/office/drawing/2014/main" val="3629466655"/>
                    </a:ext>
                  </a:extLst>
                </a:gridCol>
              </a:tblGrid>
              <a:tr h="2877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 cap="all" spc="75">
                          <a:effectLst/>
                        </a:rPr>
                        <a:t>Categorie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 cap="all" spc="75">
                          <a:effectLst/>
                        </a:rPr>
                        <a:t>Nr.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 cap="all" spc="75">
                          <a:effectLst/>
                        </a:rPr>
                        <a:t>Acoperire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extLst>
                  <a:ext uri="{0D108BD9-81ED-4DB2-BD59-A6C34878D82A}">
                    <a16:rowId xmlns:a16="http://schemas.microsoft.com/office/drawing/2014/main" val="3681737325"/>
                  </a:ext>
                </a:extLst>
              </a:tr>
              <a:tr h="3238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Pozitive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5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Absență parolă DB (plain/hash), flux complet, multi-user simultan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extLst>
                  <a:ext uri="{0D108BD9-81ED-4DB2-BD59-A6C34878D82A}">
                    <a16:rowId xmlns:a16="http://schemas.microsoft.com/office/drawing/2014/main" val="4083472207"/>
                  </a:ext>
                </a:extLst>
              </a:tr>
              <a:tr h="4307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Negative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5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Parolă greșită (y furat, fără x), replay, expirare sesiune, commit dublu (409), înregistrare duplicată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extLst>
                  <a:ext uri="{0D108BD9-81ED-4DB2-BD59-A6C34878D82A}">
                    <a16:rowId xmlns:a16="http://schemas.microsoft.com/office/drawing/2014/main" val="803173256"/>
                  </a:ext>
                </a:extLst>
              </a:tr>
              <a:tr h="5376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Limită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31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s ∉ Z_Q, y/t ∈ {0,1,-1,P-1}, 10 fire concurente (mutex), tipuri neconforme (float/string/null), lipsă X-Auth-Session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extLst>
                  <a:ext uri="{0D108BD9-81ED-4DB2-BD59-A6C34878D82A}">
                    <a16:rowId xmlns:a16="http://schemas.microsoft.com/office/drawing/2014/main" val="966870212"/>
                  </a:ext>
                </a:extLst>
              </a:tr>
              <a:tr h="5376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Securitate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>
                          <a:effectLst/>
                        </a:rPr>
                        <a:t>8</a:t>
                      </a:r>
                      <a:endParaRPr lang="ro-RO" sz="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600" kern="0" dirty="0">
                          <a:effectLst/>
                        </a:rPr>
                        <a:t>Simulator Schnorr (commitment binding), t=y, forgery fără x, off-by-one, izolare sesiuni, unicitate, y furat</a:t>
                      </a:r>
                      <a:endParaRPr lang="ro-RO" sz="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095" marR="58095" marT="58095" marB="58095" anchor="ctr"/>
                </a:tc>
                <a:extLst>
                  <a:ext uri="{0D108BD9-81ED-4DB2-BD59-A6C34878D82A}">
                    <a16:rowId xmlns:a16="http://schemas.microsoft.com/office/drawing/2014/main" val="121942119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DF522CE-01F3-1F35-1533-83D1160E7281}"/>
              </a:ext>
            </a:extLst>
          </p:cNvPr>
          <p:cNvSpPr txBox="1"/>
          <p:nvPr/>
        </p:nvSpPr>
        <p:spPr>
          <a:xfrm>
            <a:off x="606792" y="2831356"/>
            <a:ext cx="6096000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49 teste pytest, 100% succes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07F7D64-07E3-B4CC-E335-7D720A8AB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337400"/>
              </p:ext>
            </p:extLst>
          </p:nvPr>
        </p:nvGraphicFramePr>
        <p:xfrm>
          <a:off x="4905159" y="3346072"/>
          <a:ext cx="6514466" cy="28422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7233">
                  <a:extLst>
                    <a:ext uri="{9D8B030D-6E8A-4147-A177-3AD203B41FA5}">
                      <a16:colId xmlns:a16="http://schemas.microsoft.com/office/drawing/2014/main" val="3871418129"/>
                    </a:ext>
                  </a:extLst>
                </a:gridCol>
                <a:gridCol w="3257233">
                  <a:extLst>
                    <a:ext uri="{9D8B030D-6E8A-4147-A177-3AD203B41FA5}">
                      <a16:colId xmlns:a16="http://schemas.microsoft.com/office/drawing/2014/main" val="3988898016"/>
                    </a:ext>
                  </a:extLst>
                </a:gridCol>
              </a:tblGrid>
              <a:tr h="47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Atac simulat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Rezultat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65361061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Compromitere DB: s = (r + c*y) mod Q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HTTP 401: y ≠ x în spațiul exponenților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46435128"/>
                  </a:ext>
                </a:extLst>
              </a:tr>
              <a:tr h="47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Coliziune: 10.000 cereri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0 coliziuni c + session_id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678320812"/>
                  </a:ext>
                </a:extLst>
              </a:tr>
              <a:tr h="47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MitM parametri slabi: P=23, Q=11, G=4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HTTP 422: y/t respinse (subgrup invalid)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655297080"/>
                  </a:ext>
                </a:extLst>
              </a:tr>
              <a:tr h="476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Replay cross-sesiune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HTTP 401: G^s1 ≠ t2*y^c2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871810068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Brute-force session_id (256 biți)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</a:rPr>
                        <a:t>500 tentative → toate HTTP 404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598652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C3AB5FE-B706-3AF8-80F8-33F773DF0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407936"/>
              </p:ext>
            </p:extLst>
          </p:nvPr>
        </p:nvGraphicFramePr>
        <p:xfrm>
          <a:off x="226428" y="3429001"/>
          <a:ext cx="4009509" cy="25715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6503">
                  <a:extLst>
                    <a:ext uri="{9D8B030D-6E8A-4147-A177-3AD203B41FA5}">
                      <a16:colId xmlns:a16="http://schemas.microsoft.com/office/drawing/2014/main" val="3512485477"/>
                    </a:ext>
                  </a:extLst>
                </a:gridCol>
                <a:gridCol w="1336503">
                  <a:extLst>
                    <a:ext uri="{9D8B030D-6E8A-4147-A177-3AD203B41FA5}">
                      <a16:colId xmlns:a16="http://schemas.microsoft.com/office/drawing/2014/main" val="3440195343"/>
                    </a:ext>
                  </a:extLst>
                </a:gridCol>
                <a:gridCol w="1336503">
                  <a:extLst>
                    <a:ext uri="{9D8B030D-6E8A-4147-A177-3AD203B41FA5}">
                      <a16:colId xmlns:a16="http://schemas.microsoft.com/office/drawing/2014/main" val="41837585"/>
                    </a:ext>
                  </a:extLst>
                </a:gridCol>
              </a:tblGrid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Forță brută DLP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Biți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 dirty="0">
                          <a:effectLst/>
                        </a:rPr>
                        <a:t>Rezultat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091082106"/>
                  </a:ext>
                </a:extLst>
              </a:tr>
              <a:tr h="4388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8 biți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83 candidați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Rezolvat: 26 încercări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5923825"/>
                  </a:ext>
                </a:extLst>
              </a:tr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32 biți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~1,07 * 10^9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744M încercări (319s)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518799604"/>
                  </a:ext>
                </a:extLst>
              </a:tr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64 biți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~4,6 * 10^18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Timeout 1200s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21428847"/>
                  </a:ext>
                </a:extLst>
              </a:tr>
              <a:tr h="447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2048 biți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~5,87 * 10^153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</a:rPr>
                        <a:t>Nefezabil computațional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77798659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A0B34FBD-4725-E60F-21F3-EC43C00B2D62}"/>
              </a:ext>
            </a:extLst>
          </p:cNvPr>
          <p:cNvSpPr txBox="1"/>
          <p:nvPr/>
        </p:nvSpPr>
        <p:spPr>
          <a:xfrm>
            <a:off x="1039446" y="279787"/>
            <a:ext cx="6096000" cy="71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**Grafic escaladare exponențială forță brută (biți vs. timp)**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146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B5C7C3-EEAA-BCDE-2D44-B5BEA3E55AF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9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5634E24-599A-DF64-6D4B-ED204B5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205" y="496431"/>
            <a:ext cx="4714954" cy="1472395"/>
          </a:xfrm>
        </p:spPr>
        <p:txBody>
          <a:bodyPr>
            <a:no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Evaluare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  <a:r>
              <a:rPr lang="en-US" sz="4600" dirty="0" err="1">
                <a:latin typeface="The Serif Hand Black Mate" panose="03070902030502020204" pitchFamily="66" charset="0"/>
              </a:rPr>
              <a:t>performanta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534EBB-91D9-7712-BEE8-9D69FCAEC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83C36F-09C6-A1B7-AC45-F73283414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057012"/>
              </p:ext>
            </p:extLst>
          </p:nvPr>
        </p:nvGraphicFramePr>
        <p:xfrm>
          <a:off x="5067382" y="566466"/>
          <a:ext cx="6370320" cy="24461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4064">
                  <a:extLst>
                    <a:ext uri="{9D8B030D-6E8A-4147-A177-3AD203B41FA5}">
                      <a16:colId xmlns:a16="http://schemas.microsoft.com/office/drawing/2014/main" val="1158037151"/>
                    </a:ext>
                  </a:extLst>
                </a:gridCol>
                <a:gridCol w="1274064">
                  <a:extLst>
                    <a:ext uri="{9D8B030D-6E8A-4147-A177-3AD203B41FA5}">
                      <a16:colId xmlns:a16="http://schemas.microsoft.com/office/drawing/2014/main" val="2067992008"/>
                    </a:ext>
                  </a:extLst>
                </a:gridCol>
                <a:gridCol w="1274064">
                  <a:extLst>
                    <a:ext uri="{9D8B030D-6E8A-4147-A177-3AD203B41FA5}">
                      <a16:colId xmlns:a16="http://schemas.microsoft.com/office/drawing/2014/main" val="2241526527"/>
                    </a:ext>
                  </a:extLst>
                </a:gridCol>
                <a:gridCol w="1274064">
                  <a:extLst>
                    <a:ext uri="{9D8B030D-6E8A-4147-A177-3AD203B41FA5}">
                      <a16:colId xmlns:a16="http://schemas.microsoft.com/office/drawing/2014/main" val="4072668120"/>
                    </a:ext>
                  </a:extLst>
                </a:gridCol>
                <a:gridCol w="1274064">
                  <a:extLst>
                    <a:ext uri="{9D8B030D-6E8A-4147-A177-3AD203B41FA5}">
                      <a16:colId xmlns:a16="http://schemas.microsoft.com/office/drawing/2014/main" val="3081730017"/>
                    </a:ext>
                  </a:extLst>
                </a:gridCol>
              </a:tblGrid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Flux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Medie (ms)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Min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Max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P95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014874848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ZKP (commit + verify)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64,76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59,24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85,98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78,71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27314335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OAuth2 PKCE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2,23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1,81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22,21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1,58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905168519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OAuth2 Simple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2,19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1,82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14,23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2,72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604827717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Authlib PKCE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0,79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0,71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1,68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</a:rPr>
                        <a:t>0,95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7862568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9EEDEB-3860-ABA3-AE35-5DB9DEDBEB07}"/>
              </a:ext>
            </a:extLst>
          </p:cNvPr>
          <p:cNvSpPr txBox="1"/>
          <p:nvPr/>
        </p:nvSpPr>
        <p:spPr>
          <a:xfrm>
            <a:off x="6189784" y="3232696"/>
            <a:ext cx="6096000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Debit concurent (Locust, 8 fire, 60s)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8716676-ED69-31B3-2E37-C6A2F0CF6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954251"/>
              </p:ext>
            </p:extLst>
          </p:nvPr>
        </p:nvGraphicFramePr>
        <p:xfrm>
          <a:off x="5127893" y="3966955"/>
          <a:ext cx="6656705" cy="1741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1341">
                  <a:extLst>
                    <a:ext uri="{9D8B030D-6E8A-4147-A177-3AD203B41FA5}">
                      <a16:colId xmlns:a16="http://schemas.microsoft.com/office/drawing/2014/main" val="611621273"/>
                    </a:ext>
                  </a:extLst>
                </a:gridCol>
                <a:gridCol w="1331341">
                  <a:extLst>
                    <a:ext uri="{9D8B030D-6E8A-4147-A177-3AD203B41FA5}">
                      <a16:colId xmlns:a16="http://schemas.microsoft.com/office/drawing/2014/main" val="2891597447"/>
                    </a:ext>
                  </a:extLst>
                </a:gridCol>
                <a:gridCol w="1331341">
                  <a:extLst>
                    <a:ext uri="{9D8B030D-6E8A-4147-A177-3AD203B41FA5}">
                      <a16:colId xmlns:a16="http://schemas.microsoft.com/office/drawing/2014/main" val="3682109628"/>
                    </a:ext>
                  </a:extLst>
                </a:gridCol>
                <a:gridCol w="1331341">
                  <a:extLst>
                    <a:ext uri="{9D8B030D-6E8A-4147-A177-3AD203B41FA5}">
                      <a16:colId xmlns:a16="http://schemas.microsoft.com/office/drawing/2014/main" val="648754584"/>
                    </a:ext>
                  </a:extLst>
                </a:gridCol>
                <a:gridCol w="1331341">
                  <a:extLst>
                    <a:ext uri="{9D8B030D-6E8A-4147-A177-3AD203B41FA5}">
                      <a16:colId xmlns:a16="http://schemas.microsoft.com/office/drawing/2014/main" val="2657305894"/>
                    </a:ext>
                  </a:extLst>
                </a:gridCol>
              </a:tblGrid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Utilizatori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ZKP (RPS)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PKCE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Simple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Authlib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194965959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19,61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464,82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440,26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489,10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82306444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50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18,10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465,68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463,45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481,65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912908747"/>
                  </a:ext>
                </a:extLst>
              </a:tr>
              <a:tr h="437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100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17,47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458,06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467,56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</a:rPr>
                        <a:t>505,24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659811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213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EDBB77-0E30-4710-8BE3-5ED4FE4F2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Evaluare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  <a:r>
              <a:rPr lang="en-US" sz="4600" dirty="0" err="1">
                <a:latin typeface="The Serif Hand Black Mate" panose="03070902030502020204" pitchFamily="66" charset="0"/>
              </a:rPr>
              <a:t>performanta</a:t>
            </a:r>
            <a:r>
              <a:rPr lang="en-US" sz="4600" dirty="0">
                <a:latin typeface="The Serif Hand Black Mate" panose="03070902030502020204" pitchFamily="66" charset="0"/>
              </a:rPr>
              <a:t>  </a:t>
            </a:r>
            <a:r>
              <a:rPr lang="en-US" sz="4600" dirty="0" err="1">
                <a:latin typeface="The Serif Hand Black Mate" panose="03070902030502020204" pitchFamily="66" charset="0"/>
              </a:rPr>
              <a:t>oauth</a:t>
            </a:r>
            <a:r>
              <a:rPr lang="en-US" sz="4600" dirty="0">
                <a:latin typeface="The Serif Hand Black Mate" panose="03070902030502020204" pitchFamily="66" charset="0"/>
              </a:rPr>
              <a:t> vs </a:t>
            </a:r>
            <a:r>
              <a:rPr lang="en-US" sz="4600" dirty="0" err="1">
                <a:latin typeface="The Serif Hand Black Mate" panose="03070902030502020204" pitchFamily="66" charset="0"/>
              </a:rPr>
              <a:t>zkp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8189F-2E55-9406-98E1-C49021476ECA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o-RO" sz="2000" dirty="0"/>
              <a:t>10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D54101-B646-EA93-5F4A-B9708544C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7264651-8F2D-7F96-EF85-354B6FC98D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80080"/>
              </p:ext>
            </p:extLst>
          </p:nvPr>
        </p:nvGraphicFramePr>
        <p:xfrm>
          <a:off x="5594790" y="531731"/>
          <a:ext cx="6066789" cy="27774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2263">
                  <a:extLst>
                    <a:ext uri="{9D8B030D-6E8A-4147-A177-3AD203B41FA5}">
                      <a16:colId xmlns:a16="http://schemas.microsoft.com/office/drawing/2014/main" val="3811942319"/>
                    </a:ext>
                  </a:extLst>
                </a:gridCol>
                <a:gridCol w="2022263">
                  <a:extLst>
                    <a:ext uri="{9D8B030D-6E8A-4147-A177-3AD203B41FA5}">
                      <a16:colId xmlns:a16="http://schemas.microsoft.com/office/drawing/2014/main" val="1359465124"/>
                    </a:ext>
                  </a:extLst>
                </a:gridCol>
                <a:gridCol w="2022263">
                  <a:extLst>
                    <a:ext uri="{9D8B030D-6E8A-4147-A177-3AD203B41FA5}">
                      <a16:colId xmlns:a16="http://schemas.microsoft.com/office/drawing/2014/main" val="2856676649"/>
                    </a:ext>
                  </a:extLst>
                </a:gridCol>
              </a:tblGrid>
              <a:tr h="466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Metrică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ZKP Schnorr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OAuth 2.0 (Authlib)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779738494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Latență medie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64,76 ms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0,79 ms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84426498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Debit (100 users)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17,47 RPS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505,24 RPS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956951664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Raport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:67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02458135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Parolă în rețea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NU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49425133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Reziliență SNDL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</a:rPr>
                        <a:t>NU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437128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AB00E6D-2D3C-3A64-6C7E-386381C105F3}"/>
              </a:ext>
            </a:extLst>
          </p:cNvPr>
          <p:cNvSpPr txBox="1"/>
          <p:nvPr/>
        </p:nvSpPr>
        <p:spPr>
          <a:xfrm>
            <a:off x="515815" y="3768390"/>
            <a:ext cx="6096000" cy="711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Compromis justificat: eliminare completă risc exfiltrare parolă, debit ZKP stabil indiferent de concurență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02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1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34448F64-9992-DF05-31AB-532105935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Evaluare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  <a:r>
              <a:rPr lang="en-US" sz="4600" dirty="0" err="1">
                <a:latin typeface="The Serif Hand Black Mate" panose="03070902030502020204" pitchFamily="66" charset="0"/>
              </a:rPr>
              <a:t>performanta</a:t>
            </a:r>
            <a:r>
              <a:rPr lang="en-US" sz="4600" dirty="0">
                <a:latin typeface="The Serif Hand Black Mate" panose="03070902030502020204" pitchFamily="66" charset="0"/>
              </a:rPr>
              <a:t>  </a:t>
            </a:r>
            <a:r>
              <a:rPr lang="en-US" sz="4600" dirty="0" err="1">
                <a:latin typeface="The Serif Hand Black Mate" panose="03070902030502020204" pitchFamily="66" charset="0"/>
              </a:rPr>
              <a:t>srp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  <a:r>
              <a:rPr lang="en-US" sz="4600" dirty="0" err="1">
                <a:latin typeface="The Serif Hand Black Mate" panose="03070902030502020204" pitchFamily="66" charset="0"/>
              </a:rPr>
              <a:t>si</a:t>
            </a:r>
            <a:r>
              <a:rPr lang="en-US" sz="4600" dirty="0">
                <a:latin typeface="The Serif Hand Black Mate" panose="03070902030502020204" pitchFamily="66" charset="0"/>
              </a:rPr>
              <a:t> </a:t>
            </a:r>
            <a:r>
              <a:rPr lang="en-US" sz="4600" dirty="0" err="1">
                <a:latin typeface="The Serif Hand Black Mate" panose="03070902030502020204" pitchFamily="66" charset="0"/>
              </a:rPr>
              <a:t>zk</a:t>
            </a:r>
            <a:r>
              <a:rPr lang="en-US" sz="4600" dirty="0">
                <a:latin typeface="The Serif Hand Black Mate" panose="03070902030502020204" pitchFamily="66" charset="0"/>
              </a:rPr>
              <a:t>-snark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8ABD6D-25A0-88D4-6888-254C7D12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89C3E1-BBDD-8C9D-3405-5FE288F26BF5}"/>
              </a:ext>
            </a:extLst>
          </p:cNvPr>
          <p:cNvSpPr txBox="1"/>
          <p:nvPr/>
        </p:nvSpPr>
        <p:spPr>
          <a:xfrm>
            <a:off x="5067382" y="287428"/>
            <a:ext cx="6096000" cy="3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Latență (100 iterații)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53D487-3753-E7DE-A9C4-5F38D6D43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552833"/>
              </p:ext>
            </p:extLst>
          </p:nvPr>
        </p:nvGraphicFramePr>
        <p:xfrm>
          <a:off x="5825380" y="672172"/>
          <a:ext cx="6028056" cy="31074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07014">
                  <a:extLst>
                    <a:ext uri="{9D8B030D-6E8A-4147-A177-3AD203B41FA5}">
                      <a16:colId xmlns:a16="http://schemas.microsoft.com/office/drawing/2014/main" val="603809195"/>
                    </a:ext>
                  </a:extLst>
                </a:gridCol>
                <a:gridCol w="1507014">
                  <a:extLst>
                    <a:ext uri="{9D8B030D-6E8A-4147-A177-3AD203B41FA5}">
                      <a16:colId xmlns:a16="http://schemas.microsoft.com/office/drawing/2014/main" val="3257886713"/>
                    </a:ext>
                  </a:extLst>
                </a:gridCol>
                <a:gridCol w="1507014">
                  <a:extLst>
                    <a:ext uri="{9D8B030D-6E8A-4147-A177-3AD203B41FA5}">
                      <a16:colId xmlns:a16="http://schemas.microsoft.com/office/drawing/2014/main" val="695585944"/>
                    </a:ext>
                  </a:extLst>
                </a:gridCol>
                <a:gridCol w="1507014">
                  <a:extLst>
                    <a:ext uri="{9D8B030D-6E8A-4147-A177-3AD203B41FA5}">
                      <a16:colId xmlns:a16="http://schemas.microsoft.com/office/drawing/2014/main" val="3263260983"/>
                    </a:ext>
                  </a:extLst>
                </a:gridCol>
              </a:tblGrid>
              <a:tr h="5805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Protocol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Înreg. (ms)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Autentif. (ms)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Total (ms)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300694724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pysnark (zk-SNARK)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0,048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1,872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1,920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8442632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Schnorr-EC-C-Lib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0,071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9,447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9,510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651071118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Schnorr-EC (secp256r1)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4,005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34,093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38,090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941274567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SRP-6a (RFC 5054)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1,204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41,061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42,265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79945657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Schnorr-Pow (MODP 2048)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15,783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139,833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</a:rPr>
                        <a:t>155,911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9106417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DB80D1-DCB9-D829-4518-5D89A5A74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444408"/>
              </p:ext>
            </p:extLst>
          </p:nvPr>
        </p:nvGraphicFramePr>
        <p:xfrm>
          <a:off x="338564" y="3466351"/>
          <a:ext cx="6618604" cy="31541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4651">
                  <a:extLst>
                    <a:ext uri="{9D8B030D-6E8A-4147-A177-3AD203B41FA5}">
                      <a16:colId xmlns:a16="http://schemas.microsoft.com/office/drawing/2014/main" val="3686914682"/>
                    </a:ext>
                  </a:extLst>
                </a:gridCol>
                <a:gridCol w="1654651">
                  <a:extLst>
                    <a:ext uri="{9D8B030D-6E8A-4147-A177-3AD203B41FA5}">
                      <a16:colId xmlns:a16="http://schemas.microsoft.com/office/drawing/2014/main" val="2099199730"/>
                    </a:ext>
                  </a:extLst>
                </a:gridCol>
                <a:gridCol w="1654651">
                  <a:extLst>
                    <a:ext uri="{9D8B030D-6E8A-4147-A177-3AD203B41FA5}">
                      <a16:colId xmlns:a16="http://schemas.microsoft.com/office/drawing/2014/main" val="3102897773"/>
                    </a:ext>
                  </a:extLst>
                </a:gridCol>
                <a:gridCol w="1654651">
                  <a:extLst>
                    <a:ext uri="{9D8B030D-6E8A-4147-A177-3AD203B41FA5}">
                      <a16:colId xmlns:a16="http://schemas.microsoft.com/office/drawing/2014/main" val="4060959988"/>
                    </a:ext>
                  </a:extLst>
                </a:gridCol>
              </a:tblGrid>
              <a:tr h="2695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Proprietate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SRP-6a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 dirty="0">
                          <a:effectLst/>
                        </a:rPr>
                        <a:t>zk-SNARK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cap="all" spc="75">
                          <a:effectLst/>
                        </a:rPr>
                        <a:t>Schnorr-EC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799039198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Autentificare mutuală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NU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632585036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Parolă netransmisă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316243343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Rezistență breșe DB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N/A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NU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663890197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Securitate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~112 b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variabil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~128 b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504474114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Standardizat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RFC 5054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</a:rPr>
                        <a:t>NU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</a:rPr>
                        <a:t>NU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326847040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Trusted setup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</a:t>
                      </a:r>
                      <a:endParaRPr lang="ro-RO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o-RO" sz="1000" kern="0" dirty="0">
                          <a:effectLst/>
                          <a:latin typeface="Segoe UI" panose="020B0502040204020203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</a:t>
                      </a:r>
                      <a:endParaRPr lang="ro-RO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47390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353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D5A88-9811-2CF9-6FE3-DC923E5710AC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2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27397975-5C35-C63F-3452-BAE675907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" y="352298"/>
            <a:ext cx="4714954" cy="1568178"/>
          </a:xfrm>
        </p:spPr>
        <p:txBody>
          <a:bodyPr>
            <a:normAutofit/>
          </a:bodyPr>
          <a:lstStyle/>
          <a:p>
            <a:pPr algn="ctr"/>
            <a:r>
              <a:rPr lang="en-US" sz="4600" dirty="0" err="1">
                <a:latin typeface="The Serif Hand Black Mate" panose="03070902030502020204" pitchFamily="66" charset="0"/>
              </a:rPr>
              <a:t>Directii</a:t>
            </a:r>
            <a:r>
              <a:rPr lang="en-US" sz="4600" dirty="0">
                <a:latin typeface="The Serif Hand Black Mate" panose="03070902030502020204" pitchFamily="66" charset="0"/>
              </a:rPr>
              <a:t> de </a:t>
            </a:r>
            <a:r>
              <a:rPr lang="en-US" sz="4600" dirty="0" err="1">
                <a:latin typeface="The Serif Hand Black Mate" panose="03070902030502020204" pitchFamily="66" charset="0"/>
              </a:rPr>
              <a:t>dezvoltare</a:t>
            </a:r>
            <a:endParaRPr lang="en-US" sz="4600" dirty="0">
              <a:latin typeface="The Serif Hand Black Mate" panose="03070902030502020204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274E8F-E263-F969-2BFA-D4D6710201CC}"/>
              </a:ext>
            </a:extLst>
          </p:cNvPr>
          <p:cNvSpPr txBox="1"/>
          <p:nvPr/>
        </p:nvSpPr>
        <p:spPr>
          <a:xfrm>
            <a:off x="6341895" y="930554"/>
            <a:ext cx="4432948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ro-RO" dirty="0"/>
              <a:t>Derivare secrete: Argon2id / scrypt OWASP</a:t>
            </a:r>
          </a:p>
          <a:p>
            <a:pPr lvl="0"/>
            <a:r>
              <a:rPr lang="ro-RO" dirty="0"/>
              <a:t>Migrare curbe eliptice (secp256r1): latență redusă, 128 biți</a:t>
            </a:r>
          </a:p>
          <a:p>
            <a:pPr lvl="0"/>
            <a:r>
              <a:rPr lang="ro-RO" dirty="0"/>
              <a:t>Nucleu criptografic în Rust / C</a:t>
            </a:r>
          </a:p>
          <a:p>
            <a:pPr lvl="0"/>
            <a:r>
              <a:rPr lang="ro-RO" dirty="0"/>
              <a:t>Post-cuantic: Kyber, Dilithium (SNDL termen lung)</a:t>
            </a:r>
          </a:p>
          <a:p>
            <a:pPr lvl="0"/>
            <a:r>
              <a:rPr lang="ro-RO" dirty="0"/>
              <a:t>JWT asimetric: RS256 / ES256</a:t>
            </a:r>
          </a:p>
          <a:p>
            <a:pPr lvl="0"/>
            <a:r>
              <a:rPr lang="ro-RO" dirty="0"/>
              <a:t>Sesiuni externalizate: Redis (scalabilitate orizontală)</a:t>
            </a:r>
          </a:p>
          <a:p>
            <a:pPr lvl="0"/>
            <a:r>
              <a:rPr lang="ro-RO" dirty="0"/>
              <a:t>HTTPS/TLS obligatoriu, semnare parametri publici</a:t>
            </a:r>
          </a:p>
          <a:p>
            <a:pPr lvl="0"/>
            <a:r>
              <a:rPr lang="ro-RO" dirty="0"/>
              <a:t>Jetoane proof-of-possession</a:t>
            </a:r>
          </a:p>
          <a:p>
            <a:pPr lvl="0"/>
            <a:r>
              <a:rPr lang="ro-RO" dirty="0"/>
              <a:t>Augmented PAKE: rezistență compromitere DB</a:t>
            </a:r>
            <a:endParaRPr lang="en-US" dirty="0"/>
          </a:p>
          <a:p>
            <a:pPr lvl="0"/>
            <a:r>
              <a:rPr lang="en-US" dirty="0" err="1"/>
              <a:t>Implementare</a:t>
            </a:r>
            <a:r>
              <a:rPr lang="en-US" dirty="0"/>
              <a:t> </a:t>
            </a:r>
            <a:r>
              <a:rPr lang="en-US" dirty="0" err="1"/>
              <a:t>schnorr</a:t>
            </a:r>
            <a:r>
              <a:rPr lang="en-US" dirty="0"/>
              <a:t> interactive in </a:t>
            </a:r>
            <a:r>
              <a:rPr lang="en-US" dirty="0" err="1"/>
              <a:t>faza</a:t>
            </a:r>
            <a:r>
              <a:rPr lang="en-US" dirty="0"/>
              <a:t> de </a:t>
            </a:r>
            <a:r>
              <a:rPr lang="en-US" dirty="0" err="1"/>
              <a:t>inserare</a:t>
            </a:r>
            <a:r>
              <a:rPr lang="en-US" dirty="0"/>
              <a:t> </a:t>
            </a:r>
            <a:r>
              <a:rPr lang="en-US" dirty="0" err="1"/>
              <a:t>credentiale</a:t>
            </a:r>
            <a:r>
              <a:rPr lang="en-US" dirty="0"/>
              <a:t> in </a:t>
            </a:r>
            <a:r>
              <a:rPr lang="en-US" dirty="0" err="1"/>
              <a:t>protocolul</a:t>
            </a:r>
            <a:r>
              <a:rPr lang="en-US" dirty="0"/>
              <a:t> </a:t>
            </a:r>
            <a:r>
              <a:rPr lang="en-US" dirty="0" err="1"/>
              <a:t>Oatub</a:t>
            </a:r>
            <a:endParaRPr lang="en-US" dirty="0"/>
          </a:p>
          <a:p>
            <a:pPr lvl="0"/>
            <a:endParaRPr lang="ro-RO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CE3557-4D08-B81A-E35E-E4B0D7E30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440164" y="2225911"/>
            <a:ext cx="4627218" cy="36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903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BCDF373-B5D6-4F86-8E13-9DB22401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58" y="1154057"/>
            <a:ext cx="2966825" cy="113917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Concluzii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C936A-E0FD-2317-B6A8-2CE587363836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6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69713-AC63-CC26-1A62-CC91AE460347}"/>
              </a:ext>
            </a:extLst>
          </p:cNvPr>
          <p:cNvSpPr txBox="1"/>
          <p:nvPr/>
        </p:nvSpPr>
        <p:spPr>
          <a:xfrm>
            <a:off x="12349" y="2327601"/>
            <a:ext cx="6096000" cy="3721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18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poate</a:t>
            </a: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folosi</a:t>
            </a: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Schnorr </a:t>
            </a:r>
            <a:r>
              <a:rPr lang="en-US" sz="18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</a:t>
            </a: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-un protocol de tip Open Authorization</a:t>
            </a: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implementare</a:t>
            </a: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ZKP de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acest</a:t>
            </a: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tip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anuleaza</a:t>
            </a: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bresa</a:t>
            </a: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bazei</a:t>
            </a: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date,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sau</a:t>
            </a: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exfiltrare</a:t>
            </a:r>
            <a:r>
              <a:rPr lang="en-US" kern="0" dirty="0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</a:t>
            </a:r>
            <a:r>
              <a:rPr lang="en-US" kern="0" dirty="0" err="1">
                <a:latin typeface="Segoe UI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datelor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Audit trafic: exclusiv valori matematice efemere în rețea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Performanță intermediară față de PAKE consacrate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Potential de </a:t>
            </a:r>
            <a:r>
              <a:rPr lang="en-US" sz="18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optimizare</a:t>
            </a: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Schnorr-EC-C-Lib: </a:t>
            </a: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9,51 ms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Limitări:</a:t>
            </a: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viteza</a:t>
            </a: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kern="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verificare</a:t>
            </a:r>
            <a:r>
              <a:rPr lang="en-US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browser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o-RO" sz="18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Concluzie:</a:t>
            </a:r>
            <a:r>
              <a:rPr lang="ro-RO" sz="18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ZKP integrabil eficient în arhitectură web modernă, reducere semnificativă expunere credențiale</a:t>
            </a:r>
            <a:endParaRPr lang="ro-RO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06A598-61BD-07F7-5EA0-3BC0056AE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65165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47CC944-FBEB-3F58-4C77-C8D1261E59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06498" y="2075056"/>
            <a:ext cx="9844602" cy="3629596"/>
          </a:xfrm>
        </p:spPr>
        <p:txBody>
          <a:bodyPr>
            <a:noAutofit/>
          </a:bodyPr>
          <a:lstStyle/>
          <a:p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[9] S. Goldwasser, S. Micali, C. Rackoff, "The Knowledge Complexity of Interactive Proof Systems," SIAM J. Computing, 1989. 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[16] C.P. Schnorr, "Efficient Signature Generation by Smart Cards," J. Cryptology, 1991. 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o-RO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3C7EF69-23B0-E32D-AA1E-31F644DD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1" y="1164162"/>
            <a:ext cx="11814838" cy="529780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846D9FDF-6583-532D-FE1F-DF824EBC8CC5}"/>
              </a:ext>
            </a:extLst>
          </p:cNvPr>
          <p:cNvSpPr txBox="1">
            <a:spLocks/>
          </p:cNvSpPr>
          <p:nvPr/>
        </p:nvSpPr>
        <p:spPr>
          <a:xfrm>
            <a:off x="3967411" y="359694"/>
            <a:ext cx="3922776" cy="9108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90000"/>
              </a:lnSpc>
            </a:pPr>
            <a:r>
              <a:rPr lang="en-US" sz="4800" dirty="0" err="1">
                <a:latin typeface="The Serif Hand Black Mate" panose="03070902030502020204" pitchFamily="66" charset="0"/>
              </a:rPr>
              <a:t>Bibliografie</a:t>
            </a:r>
            <a:r>
              <a:rPr lang="en-US" sz="4800" dirty="0">
                <a:latin typeface="The Serif Hand Black Mate" panose="03070902030502020204" pitchFamily="66" charset="0"/>
              </a:rPr>
              <a:t> SELECTIV</a:t>
            </a:r>
            <a:r>
              <a:rPr lang="ro-RO" sz="4800" dirty="0">
                <a:latin typeface="The Serif Hand Black Mate" panose="03070902030502020204" pitchFamily="66" charset="0"/>
              </a:rPr>
              <a:t>Ă</a:t>
            </a:r>
            <a:endParaRPr lang="en-US" sz="4800" dirty="0">
              <a:latin typeface="The Serif Hand Black Mate" panose="03070902030502020204" pitchFamily="66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FCEC76-7450-08D8-0DE9-F9A94A786583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7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16953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5BB92-813C-4042-B316-05BBE4D46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1820" y="1016000"/>
            <a:ext cx="6060306" cy="2924048"/>
          </a:xfrm>
        </p:spPr>
        <p:txBody>
          <a:bodyPr/>
          <a:lstStyle/>
          <a:p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VĂ MULȚUMESC PENTRU ATENȚIE!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5E4E14-51FA-C07B-F210-196EE0ABA117}"/>
              </a:ext>
            </a:extLst>
          </p:cNvPr>
          <p:cNvSpPr txBox="1"/>
          <p:nvPr/>
        </p:nvSpPr>
        <p:spPr>
          <a:xfrm>
            <a:off x="9734309" y="6361030"/>
            <a:ext cx="2268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  <a:r>
              <a:rPr lang="ro-RO" sz="2000" dirty="0"/>
              <a:t>8</a:t>
            </a:r>
            <a:r>
              <a:rPr lang="en-US" sz="2000" dirty="0"/>
              <a:t>/1</a:t>
            </a:r>
            <a:r>
              <a:rPr lang="ro-RO" sz="2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5194224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A595FF-F2D2-434C-A89B-B6A4364C47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49B05-820E-4F16-BCC1-12B2E13002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AD9EFA-E074-4C2F-8F25-BF862B8AB68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Metadata/LabelInfo.xml><?xml version="1.0" encoding="utf-8"?>
<clbl:labelList xmlns:clbl="http://schemas.microsoft.com/office/2020/mipLabelMetadata">
  <clbl:label id="{7e753c2c-bb14-4786-921b-97c6a6fc424f}" enabled="1" method="Standard" siteId="{3bd97919-57c3-48d3-9e9a-8e4c01614a8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2015</Words>
  <Application>Microsoft Office PowerPoint</Application>
  <PresentationFormat>Widescreen</PresentationFormat>
  <Paragraphs>326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Arial</vt:lpstr>
      <vt:lpstr>Arial Black</vt:lpstr>
      <vt:lpstr>Calibri</vt:lpstr>
      <vt:lpstr>Cambria Math</vt:lpstr>
      <vt:lpstr>Segoe UI</vt:lpstr>
      <vt:lpstr>Symbol</vt:lpstr>
      <vt:lpstr>The Hand Black Mate</vt:lpstr>
      <vt:lpstr>The Serif Hand Black Mate</vt:lpstr>
      <vt:lpstr>Times New Roman</vt:lpstr>
      <vt:lpstr>SketchyVTI</vt:lpstr>
      <vt:lpstr>Protocol de autentificare OAuth cu Schnorr ZKP: Securitate fără partajare de secrete</vt:lpstr>
      <vt:lpstr>SUMAR</vt:lpstr>
      <vt:lpstr>INTRODUCERE</vt:lpstr>
      <vt:lpstr>TEHNOLOGII</vt:lpstr>
      <vt:lpstr>ARHITECTURA environment</vt:lpstr>
      <vt:lpstr>Schnorr interactive</vt:lpstr>
      <vt:lpstr>PowerPoint Presentation</vt:lpstr>
      <vt:lpstr>PowerPoint Presentation</vt:lpstr>
      <vt:lpstr>PowerPoint Presentation</vt:lpstr>
      <vt:lpstr>PowerPoint Presentation</vt:lpstr>
      <vt:lpstr>Proprietăți de securitate</vt:lpstr>
      <vt:lpstr>Validare si testare</vt:lpstr>
      <vt:lpstr>Evaluare performanta </vt:lpstr>
      <vt:lpstr>Evaluare performanta  oauth vs zkp</vt:lpstr>
      <vt:lpstr>Evaluare performanta  srp si zk-snark</vt:lpstr>
      <vt:lpstr>Directii de dezvoltare</vt:lpstr>
      <vt:lpstr>Concluzii</vt:lpstr>
      <vt:lpstr>PowerPoint Presentation</vt:lpstr>
      <vt:lpstr>VĂ MULȚUMESC PENTRU ATENȚIE!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</dc:title>
  <dc:creator>Matei .</dc:creator>
  <cp:lastModifiedBy>Matei, Rares02</cp:lastModifiedBy>
  <cp:revision>2143</cp:revision>
  <dcterms:created xsi:type="dcterms:W3CDTF">2024-05-16T18:10:47Z</dcterms:created>
  <dcterms:modified xsi:type="dcterms:W3CDTF">2026-06-19T15:23:40Z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ClassificationContentMarkingFooterLocations">
    <vt:lpwstr>SketchyVTI:8</vt:lpwstr>
  </property>
  <property fmtid="{D5CDD505-2E9C-101B-9397-08002B2CF9AE}" pid="4" name="ClassificationContentMarkingFooterText">
    <vt:lpwstr>Internal</vt:lpwstr>
  </property>
</Properties>
</file>