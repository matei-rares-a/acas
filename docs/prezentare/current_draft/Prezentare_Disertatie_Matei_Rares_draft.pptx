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UNIVERSITATEA TEHNICĂ "GHEORGHE ASACHI" DIN IAȘI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FACULTATEA DE AUTOMATICĂ ȘI CALCULATOARE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3864"/>
                </a:solidFill>
                <a:latin typeface="Calibri"/>
              </a:rPr>
              <a:t>MASTER: SECURITATEA SPAȚIULUI CIBERNETIC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3864"/>
                </a:solidFill>
                <a:latin typeface="Calibri"/>
              </a:rPr>
              <a:t>PROTOCOL DE AUTENTIFICARE OAUTH CU SCHNORR ZKP: SECURITATE FĂRĂ PARTAJARE DE SECRETE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Calibri"/>
              </a:rPr>
              <a:t>Autor: Matei Rareș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212080"/>
            <a:ext cx="94484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33333"/>
                </a:solidFill>
                <a:latin typeface="Calibri"/>
              </a:rPr>
              <a:t>Coordonator: Ș.l.dr.inf. Silviu Paval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SUMAR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Introducere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Schema Schnorr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Tehnologii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Arhitectură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Fluxul de înregistrare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Fluxul de autentificare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Proprietăți de securitate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Validare și teste de securitate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Evaluarea performanței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Comparație ZKP vs. OAuth 2.0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Comparație PAKE: SRP-6a și SPAKE2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Direcții de dezvoltare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Concluzii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Bibliografie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INTRODUCERE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Autentificarea web modernă se bazează pe transmiterea unui secret partajat către server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HTTPS reduce riscul interceptării, dar arhitectura clasică rămâne vulnerabilă: compromiterea bazelor de date, reutilizarea parolelor, atacuri replay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OAuth 2.0, adoptat pe scară largă, nu soluționează intrinsec expunerea credențialelor în faza de autentificare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Scopul: proiectarea unui protocol hibrid care îmbină schema Schnorr (ZKP) cu OAuth 2.0, astfel încât parola să nu părăsească niciodată dispozitivul clientului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Implementare de referință: trei fluxuri OAuth clasice + evaluare comparativă cu protocoalele PAKE (SRP-6a, SPAKE2)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SCHEMA DE IDENTIFICARE SCHNORR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  <a:latin typeface="Calibri"/>
              </a:rPr>
              <a:t>• Fundament: problema logaritmului discret în grupuri finite</a:t>
            </a:r>
          </a:p>
          <a:p>
            <a:r>
              <a:rPr sz="1400">
                <a:solidFill>
                  <a:srgbClr val="333333"/>
                </a:solidFill>
                <a:latin typeface="Calibri"/>
              </a:rPr>
              <a:t>• P = 2·Q + 1 (număr prim sigur), G = generator de ordin 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Etapele protocolului: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1. Generare chei: y = G^x mod P (cheia publică, stocată de server)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2. Angajament: t = G^r mod P (nonce aleatoriu r, transmis serverului)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3. Provocare: c ← aleatoriu din Z_Q (generat de server)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4. Răspuns: s = (r + c · x) mod Q (calculat de client)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5. Verificare: G^s ≡ t · y^c (mod 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1F3864"/>
                </a:solidFill>
                <a:latin typeface="Calibri"/>
              </a:rPr>
              <a:t>Corectitudine: G^s = G^(r+c·x) = G^r · G^(c·x) = t · y^c mod 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TEHNOLOGII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447" y="1371600"/>
            <a:ext cx="2468880" cy="2743200"/>
          </a:xfrm>
          <a:prstGeom prst="roundRect">
            <a:avLst/>
          </a:prstGeom>
          <a:solidFill>
            <a:srgbClr val="E8EDF4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447" y="1371600"/>
            <a:ext cx="24688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447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Python (Flask)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6607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Server de autentificare,
logică criptografică,
SQLAlchemy + SQLite, PyJWT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4087" y="1371600"/>
            <a:ext cx="2468880" cy="2743200"/>
          </a:xfrm>
          <a:prstGeom prst="roundRect">
            <a:avLst/>
          </a:prstGeom>
          <a:solidFill>
            <a:srgbClr val="E8EDF4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44087" y="1371600"/>
            <a:ext cx="24688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44087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1247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Calcule criptografice locale,
BigInt, Web Crypto,
fără cadre externe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371600"/>
            <a:ext cx="2468880" cy="2743200"/>
          </a:xfrm>
          <a:prstGeom prst="roundRect">
            <a:avLst/>
          </a:prstGeom>
          <a:solidFill>
            <a:srgbClr val="E8EDF4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78727" y="1371600"/>
            <a:ext cx="24688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8727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pytest și Locust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Teste funcționale,
vectori de atac,
evaluare performanță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13367" y="1371600"/>
            <a:ext cx="2468880" cy="2743200"/>
          </a:xfrm>
          <a:prstGeom prst="roundRect">
            <a:avLst/>
          </a:prstGeom>
          <a:solidFill>
            <a:srgbClr val="E8EDF4"/>
          </a:solidFill>
          <a:ln w="1905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13367" y="1371600"/>
            <a:ext cx="246888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13367" y="14173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Authlib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0527" y="2011680"/>
            <a:ext cx="21945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333333"/>
                </a:solidFill>
                <a:latin typeface="Calibri"/>
              </a:rPr>
              <a:t>Referință OAuth 2.0 PKCE,
analiză comparativă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333333"/>
                </a:solidFill>
                <a:latin typeface="Calibri"/>
              </a:rPr>
              <a:t>Biblioteci: cryptography, sympy, PyJWT, Flask-CORS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ARHITECTURĂ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Arhitectură pe trei niveluri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Nivel de prezentare: interfață web statică, calcule criptografice ZKP pe dispozitivul utilizatorului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Nivel de aplicație (Flask): logică criptografică, emitere jetoane JWT, module comparative OAuth 2.0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Nivel de date (SQLite): 3 tabele (User cu chei publice, AuthToken, PersoData)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Niciun secret privat stocat la nivelul bazei de 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5029200"/>
            <a:ext cx="5790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F3864"/>
                </a:solidFill>
                <a:latin typeface="Calibri"/>
              </a:rPr>
              <a:t>HTTP  ↔  Flask  ↔  SQLite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FLUXUL DE ÎNREGISTRARE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Clientul derivă local cheia privată x din parolă (scrypt KDF)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Calculează cheia publică: y = G^x mod 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Transmite către server exclusiv cheia publică y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Serverul stochează y și o asociază identității utilizatorului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Parola și cheia privată nu părăsesc niciodată dispozitivul clientului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Compromiterea bazei de date: valorile publice sunt inutile criptografic (problema logaritmului discret)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FLUXUL DE AUTENTIFICARE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1. </a:t>
            </a:r>
            <a:r>
              <a:rPr sz="1400">
                <a:solidFill>
                  <a:srgbClr val="333333"/>
                </a:solidFill>
                <a:latin typeface="Calibri"/>
              </a:rPr>
              <a:t>Client: generează nonce aleatoriu r, calculează t = G^r mod P → transmite t și client_id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2. </a:t>
            </a:r>
            <a:r>
              <a:rPr sz="1400">
                <a:solidFill>
                  <a:srgbClr val="333333"/>
                </a:solidFill>
                <a:latin typeface="Calibri"/>
              </a:rPr>
              <a:t>Server: creează sesiune temporară (TTL = 5 secunde), returnează provocarea aleatorie c și session_id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3. </a:t>
            </a:r>
            <a:r>
              <a:rPr sz="1400">
                <a:solidFill>
                  <a:srgbClr val="333333"/>
                </a:solidFill>
                <a:latin typeface="Calibri"/>
              </a:rPr>
              <a:t>Client: recalculează x din parolă, calculează s = (r + c · x) mod Q → transmite s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4. </a:t>
            </a:r>
            <a:r>
              <a:rPr sz="1400">
                <a:solidFill>
                  <a:srgbClr val="333333"/>
                </a:solidFill>
                <a:latin typeface="Calibri"/>
              </a:rPr>
              <a:t>Server: verifică G^s ≡ t · y^c (mod P) utilizând exclusiv cheia publică stocată</a:t>
            </a:r>
          </a:p>
          <a:p>
            <a:pPr>
              <a:spcBef>
                <a:spcPts val="400"/>
              </a:spcBef>
              <a:spcAft>
                <a:spcPts val="1200"/>
              </a:spcAft>
            </a:pPr>
            <a:r>
              <a:rPr sz="1600" b="1">
                <a:solidFill>
                  <a:srgbClr val="1F3864"/>
                </a:solidFill>
                <a:latin typeface="Calibri"/>
              </a:rPr>
              <a:t>5. </a:t>
            </a:r>
            <a:r>
              <a:rPr sz="1400">
                <a:solidFill>
                  <a:srgbClr val="333333"/>
                </a:solidFill>
                <a:latin typeface="Calibri"/>
              </a:rPr>
              <a:t>Succes: serverul emite jeton JWT ancorat de contextul sesiunii ZKP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PROPRIETĂȚI DE SECURITATE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Rezistență la interceptare (SNDL): transcrisul efemer {t, c, s} nu poate fi rezolvat fără nonce-ul r, care nu este transmis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Eliminarea secretului partajat: serverul stochează doar cheia publică y, neutralizând impactul breșelor de date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Prevenirea atacurilor replay: provocare unică c per sesiune, sesiune cu TTL de 5 secunde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Legare de canal (Session Binding): jetonul JWT este ancorat de contextul HTTP al sesiunii ZKP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Expirare JWT: atenuarea riscului de deturnare a sesiunii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Identitate auto-suverană: utilizatorul păstrează controlul absolut asupra secretelor sale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VALIDARE ȘI TESTE DE SECURITATE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Suită pytest: 48 de teste, rata de succes 100%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5 teste pozitive: parola nu este salvată (plain/hash), flux complet de înregistrare și autentificare, autentificare simultană a mai multor utilizatori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5 teste negative: autentificare cu parolă greșită (y furat, fără x), replay attack, expirare sesiune (DoS prevention), commit dublu, înregistrare duplicat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30 cazuri limită: valori în afara spațiului Z_Q pentru s, valori invalide pentru y în Z_P, încercări concurente de autentificare, tipuri de date neconforme pentru y/t/s, lipsa header-ului X-Auth-Session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300">
                <a:solidFill>
                  <a:srgbClr val="333333"/>
                </a:solidFill>
                <a:latin typeface="Calibri"/>
              </a:rPr>
              <a:t>• 8 teste de securitate: simulator Schnorr (commitment binding), forgery pe s fără cheia privată, off-by-one pe soluție, izolarea sesiunilor, unicitatea valorilor per sesiune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SIMULAREA ATACURILOR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Simulator attack: atacatorul construiește transcript valid (t_sim, c, s_forged), respins prin legarea la t_real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Replay attack: reutilizarea payload-ului de verificare, respins prin ștergerea sesiunii după consum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Session hijacking: commit dublu pentru același utilizator, sesiunea veche invalidată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Compromitere date: autentificare cu y furat, fără cunoașterea lui x, respinsă matematic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Coliziune challenge: 10.000 de atacuri fără coliziune pe challenge și session_id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Injectare parametri slabi: substituirea P și G cu valori triviale (P=23, G=4)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Audit Wireshark: niciun mesaj HTTP nu conține parola brută sau derivate directe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EVALUAREA PERFORMANȚEI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Calibri"/>
              </a:rPr>
              <a:t>Latență end-to-end (ms)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Flux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Medie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Min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Max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P95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ZKP complet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57,58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52,97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75,77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74,07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OAuth2 PKCE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2,17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OAuth2 Simple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1,01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0,85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2,71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1,59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Authlib PKCE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47472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3864"/>
                </a:solidFill>
                <a:latin typeface="Calibri"/>
              </a:rPr>
              <a:t>Debit (cereri/secundă)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840480"/>
          <a:ext cx="1051560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Utilizatori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ZKP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OAuth2 PKCE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OAuth2 Simple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Authlib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17,46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877,54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984,24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1081,14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17,49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968,14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966,80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1086,96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COMPARAȚIE ZKP VS. OAUTH 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ZKP Schnorr: secretul nu traversează niciodată rețeaua; server stochează doar cheia publică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OAuth2 PKCE, Simple, Authlib: parola este transmisă în faza de autentificare, chiar dacă restul fluxului este protejat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Costul ZKP: latență ~57 ms vs. ~1 ms (OAuth), debit ~17 RPS vs. ~1000 RPS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Compromisul este justificat: eliminarea completă a riscului de exfiltrare a parolei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ZKP oferă reziliență absolută la atacuri SNDL (Store Now, Decrypt Later)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COMPARAȚIE PAKE: SRP-6A ȘI SPAKE2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Latență pe 100 iterații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3716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Protocol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Înregistrare (ms)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Autentificare (ms)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 (ms)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vs. cel mai rapid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SRP-6a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1,204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41,061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42,265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3,12x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SPAKE2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N/A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13,550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13,550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1,00x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Schnorr-EC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4,005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34,093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38,090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2,81x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Schnorr-EC-C-Lib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0,055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10,600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10,655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0,79x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3375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F3864"/>
                </a:solidFill>
                <a:latin typeface="Calibri"/>
              </a:rPr>
              <a:t>Proprietăți comparative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3657600"/>
          <a:ext cx="1051560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/>
                <a:gridCol w="2628900"/>
                <a:gridCol w="2628900"/>
                <a:gridCol w="262890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Proprietate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SRP-6a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SPAKE2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Schnorr-EC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Autentificare mutuală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Parolă netransmisă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Rezistență breșe date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DA*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Nivel securitate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~112 biți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~128 biți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~128 biți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Standardizat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RFC 5054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Draft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Calibri"/>
                        </a:rPr>
                        <a:t>NU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DIRECȚII DE DEZVOLTARE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Maparea Schnorr peste OAuth 2.0: substituirea fazei de autentificare clasice (commit + verify) în momentul redirecționării către pagina de autentificare OAuth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Migrarea către curbe eliptice (secp256r1) pentru reducerea latenței și creșterea nivelului de securitate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Derivarea cheilor prin Argon2id în locul scrypt cu parametri de producție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Implementarea rezistenței la compromiterea bazei de date (augmented PAKE)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Utilizarea algoritmilor post-cuantici (ex. Kyber, Dilithium) pentru protecție SNDL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Externalizarea sesiunilor către Redis pentru scalabilitate orizontală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Semnături asimetrice (RS256) pentru jetoanele JWT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Implementarea obligatorie a HTTPS/TLS în producție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CONCLUZII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Implementarea demonstrează viabilitatea autentificării web fără transmiterea parolei către server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Protocolul satisface cerințele funcționale, de securitate și de performanță validate prin 48 de teste automate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Integrarea în ecosistemul OAuth confirmă compatibilitatea cu standardele existente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Evaluarea comparativă cu SRP-6a și SPAKE2 poziționează soluția într-o zonă intermediară de performanță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Schnorr-EC-C-Lib (10,655 ms) demonstrează competitivitatea cu protocoalele PAKE consacrate</a:t>
            </a:r>
          </a:p>
          <a:p>
            <a:pPr algn="l">
              <a:spcBef>
                <a:spcPts val="200"/>
              </a:spcBef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• Limitări actuale: parametri de prototip (G = 4, scrypt n = 2^11), absența rezistenței la compromiterea bazei de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3864"/>
                </a:solidFill>
                <a:latin typeface="Calibri"/>
              </a:rPr>
              <a:t>BIBLIOGRAFIE SELECTIVĂ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[11] S. Goldwasser, S. Micali, C. Rackoff, "The Knowledge Complexity of Interactive Proof Systems," SIAM Journal on Computing, vol. 18, no. 1, pp. 186-208, 1989.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[18] C.P. Schnorr, "Efficient Signature Generation by Smart Cards," Journal of Cryptology, vol. 4, no. 3, pp. 161-174, 1991.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[23] N. Sakimura et al., "Proof Key for Code Exchange by OAuth Public Clients," RFC 7636, IETF, 2015.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[8] D. Hardt, "The OAuth 2.0 Authorization Framework," RFC 6749, IETF, 2012.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[24] M. Jones, J. Bradley, N. Sakimura, "JSON Web Token (JWT)," RFC 7519, IETF, 2015.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864"/>
                </a:solidFill>
                <a:latin typeface="Calibri"/>
              </a:rPr>
              <a:t>VĂ MULȚUMESC PENTRU ATENȚIE!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25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6666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